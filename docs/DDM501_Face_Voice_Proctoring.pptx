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phút. Điền tên thật của nhóm trên slide nếu có. Giới thiệu batch API và portal công ty. Capability limits rõ ràng; không công bố production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1,5 phút. Chỉ tiêu kinh doanh là đề xuất pilot, chưa đo ở khách hàng. Gate 20% là demo và phải được thay bằng chính sách chấp nhận rủi ro khi có dữ liệu thật.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phút. Mỗi block liên kết với code/DAG/report. Enrollment tạo embeddings; Airflow orchestration dùng snapshot đã fingerprint; Registry điều khiển threshold. Grafana gom telemetry, không thay chức năng điều phối hoặc experiment tracking.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phút. Không đưa tenant khác vào training mặc định. Bộ bootstrap LFW/Speech Commands ghép tổng hợp, không phải một tập face+voice thật có consent từ cùng người.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1,5 phút. Mở evaluation/identity-disjoint.json và nested MLflow runs. CV bên trong phần calibration, fold 0 giữ ngoài tune. Đổi alias champion chỉ sau RAI audit và gate; không nới gate để có DAG xanh.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2,5 phút. Mở customer demo :18600 và portal :18501. Ghi danh, gọi batch check, kiểm tra webhook và bằng chứng, xuất PDF/CSV. Quyết định thi thuộc khách hàng. Browser camera/microphone cần người dùng chấp nhận quyền và test trên thiết bị thật.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phút. Mở /d/biometric-overview. Dùng tenant/project/service selector. Grafana là trang quan sát chính; Airflow/MLflow giữ chức năng điều khiển. Human và synthetic là hai nguồn riêng.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phút. Hiển thị bot ddm501_face_voice_proctoring_bot và bằng chứng delivery; không mở token. Restore drill không ghi đè DB thật. Rollback rehearsal gây đổi model ngắn trên demo rồi phục hồi model ban đầu.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1,5 phút. Quality slice là proxy vận hành, không chứng minh demographic fairness. Policy explanation không phải lời giải thích causal cho embedding. PAD/AASIST chưa có benchmark khách hàng; media đã enroll có score cao không chứng minh khả năng generalize.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phút. Dẫn đến reports JSON local và Actions URL. Coverage không bao gồm tất cả scripts CLI, frontend, weights hoặc Airflow; live integration bổ sung evidence. Nếu pending/failure, báo đúng trạng thái, không suy ra thành công từ workflow config.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phút. Sizing là mô hình để load test, không phải capacity đã chứng minh. Không dựng tên hay commit thành viên. Không có deployment cloud có phí trong phạm vi này.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Q&amp;A: Vì sao threshold calibration thay fine-tune? Vì base encoders pretrained và dữ liệu demo nhỏ. Vì sao identity split? Tránh cùng identity xuất hiện ở tune và test. Mất callback? Transactional outbox + retries + idempotency. Fairness? Insufficient human labels, không giả định đạt. Replay protocol khác spoof biometric. Chỉ partner backend có thể enforce quyền vào thi.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400">
                <a:solidFill>
                  <a:srgbClr val="3DD2B6"/>
                </a:solidFill>
                <a:latin typeface="Arial"/>
              </a:defRPr>
            </a:pPr>
            <a:r>
              <a:t>Face + Voice Proctoring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API xác minh nhân viên trong kỳ đánh giá ngoại ngữ</a:t>
            </a:r>
          </a:p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MLOps: từ dữ liệu tới serving, monitoring và vận hành</a:t>
            </a:r>
          </a:p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Demo Docker Desktop · Grafana · Telegram · GitHub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>
                <a:solidFill>
                  <a:srgbClr val="F2F6FC"/>
                </a:solidFill>
                <a:latin typeface="Arial"/>
              </a:defRPr>
            </a:pPr>
            <a:r>
              <a:t>DDM501  ·  Face Voice Proctoring                               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400">
                <a:solidFill>
                  <a:srgbClr val="3DD2B6"/>
                </a:solidFill>
                <a:latin typeface="Arial"/>
              </a:defRPr>
            </a:pPr>
            <a:r>
              <a:t>Vấn đề, người dùng và tiêu chí thành công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Công ty có phần mềm thi và chấm điểm riêng.</a:t>
            </a:r>
          </a:p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Dịch vụ nhận ảnh/WAV theo nhịp do khách hàng cấu hình.</a:t>
            </a:r>
          </a:p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API/webhook trả identity và integrity signals.</a:t>
            </a:r>
          </a:p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Admin công ty xem lịch sử, bằng chứng và PDF/CSV.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>
                <a:solidFill>
                  <a:srgbClr val="F2F6FC"/>
                </a:solidFill>
                <a:latin typeface="Arial"/>
              </a:defRPr>
            </a:pPr>
            <a:r>
              <a:t>DDM501  ·  Face Voice Proctoring  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400">
                <a:solidFill>
                  <a:srgbClr val="3DD2B6"/>
                </a:solidFill>
                <a:latin typeface="Arial"/>
              </a:defRPr>
            </a:pPr>
            <a:r>
              <a:t>Full pipeline và các ranh giới trách nhiệm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>
                <a:solidFill>
                  <a:srgbClr val="F2F6FC"/>
                </a:solidFill>
                <a:latin typeface="Arial"/>
              </a:defRPr>
            </a:pPr>
            <a:r>
              <a:t>DDM501  ·  Face Voice Proctoring                                    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1463040"/>
          </a:xfrm>
          <a:prstGeom prst="roundRect">
            <a:avLst/>
          </a:prstGeom>
          <a:solidFill>
            <a:srgbClr val="1A354D"/>
          </a:solidFill>
          <a:ln>
            <a:solidFill>
              <a:srgbClr val="3DD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>
                <a:solidFill>
                  <a:srgbClr val="3DD2B6"/>
                </a:solidFill>
                <a:latin typeface="Arial"/>
              </a:defRPr>
            </a:pPr>
            <a:r>
              <a:t>1.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2F6FC"/>
                </a:solidFill>
                <a:latin typeface="Arial"/>
              </a:defRPr>
            </a:pPr>
            <a:r>
              <a:t>Consent + enrollment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645920"/>
            <a:ext cx="3474720" cy="1463040"/>
          </a:xfrm>
          <a:prstGeom prst="roundRect">
            <a:avLst/>
          </a:prstGeom>
          <a:solidFill>
            <a:srgbClr val="1A354D"/>
          </a:solidFill>
          <a:ln>
            <a:solidFill>
              <a:srgbClr val="3DD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783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>
                <a:solidFill>
                  <a:srgbClr val="3DD2B6"/>
                </a:solidFill>
                <a:latin typeface="Arial"/>
              </a:defRPr>
            </a:pPr>
            <a:r>
              <a:t>2.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377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2F6FC"/>
                </a:solidFill>
                <a:latin typeface="Arial"/>
              </a:defRPr>
            </a:pPr>
            <a:r>
              <a:t>Snapshot → validate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645920"/>
            <a:ext cx="3474720" cy="1463040"/>
          </a:xfrm>
          <a:prstGeom prst="roundRect">
            <a:avLst/>
          </a:prstGeom>
          <a:solidFill>
            <a:srgbClr val="1A354D"/>
          </a:solidFill>
          <a:ln>
            <a:solidFill>
              <a:srgbClr val="3DD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1783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>
                <a:solidFill>
                  <a:srgbClr val="3DD2B6"/>
                </a:solidFill>
                <a:latin typeface="Arial"/>
              </a:defRPr>
            </a:pPr>
            <a:r>
              <a:t>3. Experiments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377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2F6FC"/>
                </a:solidFill>
                <a:latin typeface="Arial"/>
              </a:defRPr>
            </a:pPr>
            <a:r>
              <a:t>Identity CV + holdout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3474720" cy="1463040"/>
          </a:xfrm>
          <a:prstGeom prst="roundRect">
            <a:avLst/>
          </a:prstGeom>
          <a:solidFill>
            <a:srgbClr val="1A354D"/>
          </a:solidFill>
          <a:ln>
            <a:solidFill>
              <a:srgbClr val="3DD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86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>
                <a:solidFill>
                  <a:srgbClr val="3DD2B6"/>
                </a:solidFill>
                <a:latin typeface="Arial"/>
              </a:defRPr>
            </a:pPr>
            <a:r>
              <a:t>4. Registry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5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2F6FC"/>
                </a:solidFill>
                <a:latin typeface="Arial"/>
              </a:defRPr>
            </a:pPr>
            <a:r>
              <a:t>RAI → gate → champion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749039"/>
            <a:ext cx="3474720" cy="1463040"/>
          </a:xfrm>
          <a:prstGeom prst="roundRect">
            <a:avLst/>
          </a:prstGeom>
          <a:solidFill>
            <a:srgbClr val="1A354D"/>
          </a:solidFill>
          <a:ln>
            <a:solidFill>
              <a:srgbClr val="3DD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3886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>
                <a:solidFill>
                  <a:srgbClr val="3DD2B6"/>
                </a:solidFill>
                <a:latin typeface="Arial"/>
              </a:defRPr>
            </a:pPr>
            <a:r>
              <a:t>5. Serving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48055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2F6FC"/>
                </a:solidFill>
                <a:latin typeface="Arial"/>
              </a:defRPr>
            </a:pPr>
            <a:r>
              <a:t>Batch API + evidence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3749039"/>
            <a:ext cx="3474720" cy="1463040"/>
          </a:xfrm>
          <a:prstGeom prst="roundRect">
            <a:avLst/>
          </a:prstGeom>
          <a:solidFill>
            <a:srgbClr val="1A354D"/>
          </a:solidFill>
          <a:ln>
            <a:solidFill>
              <a:srgbClr val="3DD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3886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>
                <a:solidFill>
                  <a:srgbClr val="3DD2B6"/>
                </a:solidFill>
                <a:latin typeface="Arial"/>
              </a:defRPr>
            </a:pPr>
            <a:r>
              <a:t>6. Monitoring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448055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2F6FC"/>
                </a:solidFill>
                <a:latin typeface="Arial"/>
              </a:defRPr>
            </a:pPr>
            <a:r>
              <a:t>Grafana → Telegram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400">
                <a:solidFill>
                  <a:srgbClr val="3DD2B6"/>
                </a:solidFill>
                <a:latin typeface="Arial"/>
              </a:defRPr>
            </a:pPr>
            <a:r>
              <a:t>Dữ liệu, lineage và chất lượng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Snapshot bất biến theo DAG run; fingerprint SHA-256.</a:t>
            </a:r>
          </a:p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Training scope mặc định tenant demo.</a:t>
            </a:r>
          </a:p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Reject: invalid/zero vector, inconsistent dimension, duplicates.</a:t>
            </a:r>
          </a:p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MLflow lưu snapshot, validation, thresholds và evaluation folds.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>
                <a:solidFill>
                  <a:srgbClr val="F2F6FC"/>
                </a:solidFill>
                <a:latin typeface="Arial"/>
              </a:defRPr>
            </a:pPr>
            <a:r>
              <a:t>DDM501  ·  Face Voice Proctoring  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400">
                <a:solidFill>
                  <a:srgbClr val="3DD2B6"/>
                </a:solidFill>
                <a:latin typeface="Arial"/>
              </a:defRPr>
            </a:pPr>
            <a:r>
              <a:t>Calibration và lựa chọn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Max-template cosine giống cách serving so sánh.</a:t>
            </a:r>
          </a:p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Five-way identity split: holdout riêng + 4 folds CV nội bộ.</a:t>
            </a:r>
          </a:p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1.151 thresholds × 3 objectives × 2 modalities.</a:t>
            </a:r>
          </a:p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Gate kiểm tra calibration, CV, holdout FAR/FRR và sample counts.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>
                <a:solidFill>
                  <a:srgbClr val="F2F6FC"/>
                </a:solidFill>
                <a:latin typeface="Arial"/>
              </a:defRPr>
            </a:pPr>
            <a:r>
              <a:t>DDM501  ·  Face Voice Proctoring  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400">
                <a:solidFill>
                  <a:srgbClr val="3DD2B6"/>
                </a:solidFill>
                <a:latin typeface="Arial"/>
              </a:defRPr>
            </a:pPr>
            <a:r>
              <a:t>Batch serving và portal doanh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Tenant-scoped API keys; role operator / integration / platform.</a:t>
            </a:r>
          </a:p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Batch có consent, request_id và lịch sử bất biến.</a:t>
            </a:r>
          </a:p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Callback HMAC + outbox + retry + dedup.</a:t>
            </a:r>
          </a:p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Demo hai công ty: identity đúng/sai, evidence và export.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>
                <a:solidFill>
                  <a:srgbClr val="F2F6FC"/>
                </a:solidFill>
                <a:latin typeface="Arial"/>
              </a:defRPr>
            </a:pPr>
            <a:r>
              <a:t>DDM501  ·  Face Voice Proctoring   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400">
                <a:solidFill>
                  <a:srgbClr val="3DD2B6"/>
                </a:solidFill>
                <a:latin typeface="Arial"/>
              </a:defRPr>
            </a:pPr>
            <a:r>
              <a:t>Grafana là trung tâm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Service readiness · p50/p95 · errors · training quality</a:t>
            </a:r>
          </a:p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PSI/Evidently · Registry/CV/holdout · human/synthetic performance</a:t>
            </a:r>
          </a:p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Batch/detector/evidence · webhooks · Airflow/RAI · CPU/RAM/logs</a:t>
            </a:r>
          </a:p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Report cùng origin, yêu cầu đăng nhập Grafana.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>
                <a:solidFill>
                  <a:srgbClr val="F2F6FC"/>
                </a:solidFill>
                <a:latin typeface="Arial"/>
              </a:defRPr>
            </a:pPr>
            <a:r>
              <a:t>DDM501  ·  Face Voice Proctoring           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400">
                <a:solidFill>
                  <a:srgbClr val="3DD2B6"/>
                </a:solidFill>
                <a:latin typeface="Arial"/>
              </a:defRPr>
            </a:pPr>
            <a:r>
              <a:t>Cảnh báo và vận hành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Prometheus rules → Alertmanager → ops-monitor → Telegram.</a:t>
            </a:r>
          </a:p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Firing và resolved được gửi; lỗi transport dẫn tới retry.</a:t>
            </a:r>
          </a:p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Drift &gt;0,2; service/collector down; data invalid; webhook failed.</a:t>
            </a:r>
          </a:p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Backup restore vào DB riêng; rollback alias rồi khôi phục champion.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>
                <a:solidFill>
                  <a:srgbClr val="F2F6FC"/>
                </a:solidFill>
                <a:latin typeface="Arial"/>
              </a:defRPr>
            </a:pPr>
            <a:r>
              <a:t>DDM501  ·  Face Voice Proctoring                            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400">
                <a:solidFill>
                  <a:srgbClr val="3DD2B6"/>
                </a:solidFill>
                <a:latin typeface="Arial"/>
              </a:defRPr>
            </a:pPr>
            <a:r>
              <a:t>Responsible AI và explainability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Reason codes + score margins + threshold sensitivity.</a:t>
            </a:r>
          </a:p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Counterfactual thay một score, giữ quality và modality còn lại.</a:t>
            </a:r>
          </a:p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Human fairness cần ≥20 samples/slice và ≥5 mỗi class.</a:t>
            </a:r>
          </a:p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Wilson 95% CI; insufficient_data khi chưa có đủ nhãn.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>
                <a:solidFill>
                  <a:srgbClr val="F2F6FC"/>
                </a:solidFill>
                <a:latin typeface="Arial"/>
              </a:defRPr>
            </a:pPr>
            <a:r>
              <a:t>DDM501  ·  Face Voice Proctoring                               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400">
                <a:solidFill>
                  <a:srgbClr val="3DD2B6"/>
                </a:solidFill>
                <a:latin typeface="Arial"/>
              </a:defRPr>
            </a:pPr>
            <a:r>
              <a:t>Bằng chứng kiểm chứng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Coverage phạm vi API + monitoring + evaluation gates: 86.50%.</a:t>
            </a:r>
          </a:p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Full pipeline verification: pass.</a:t>
            </a:r>
          </a:p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Grafana queries / reports / alert delivery: pass.</a:t>
            </a:r>
          </a:p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Recovery drill: pass.</a:t>
            </a:r>
          </a:p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GitHub Actions gần nhất: completed / success.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>
                <a:solidFill>
                  <a:srgbClr val="F2F6FC"/>
                </a:solidFill>
                <a:latin typeface="Arial"/>
              </a:defRPr>
            </a:pPr>
            <a:r>
              <a:t>DDM501  ·  Face Voice Proctoring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400">
                <a:solidFill>
                  <a:srgbClr val="3DD2B6"/>
                </a:solidFill>
                <a:latin typeface="Arial"/>
              </a:defRPr>
            </a:pPr>
            <a:r>
              <a:t>Scalability, cost và các mục cần nhóm hoàn tất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Sizing: workers ≥ ceil(λ × CPU service time / 0,65).</a:t>
            </a:r>
          </a:p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Chi phí: compute + DB + suspicious evidence + egress.</a:t>
            </a:r>
          </a:p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Cần người thật: consented labels, camera/mic acceptance, team contribution.</a:t>
            </a:r>
          </a:p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PAD/AASIST có inference; cần benchmark và cloud/TLS/SSO.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>
                <a:solidFill>
                  <a:srgbClr val="F2F6FC"/>
                </a:solidFill>
                <a:latin typeface="Arial"/>
              </a:defRPr>
            </a:pPr>
            <a:r>
              <a:t>DDM501  ·  Face Voice Proctoring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400">
                <a:solidFill>
                  <a:srgbClr val="3DD2B6"/>
                </a:solidFill>
                <a:latin typeface="Arial"/>
              </a:defRPr>
            </a:pPr>
            <a:r>
              <a:t>Q&amp;A / demo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Grafana: localhost:13000/d/biometric-overview</a:t>
            </a:r>
          </a:p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Portal: :18501 · Legacy: :18600 · API docs: :18100/docs</a:t>
            </a:r>
          </a:p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Airflow: :18081 · MLflow: :15030</a:t>
            </a:r>
          </a:p>
          <a:p>
            <a:pPr>
              <a:spcAft>
                <a:spcPts val="1400"/>
              </a:spcAft>
              <a:defRPr sz="2400">
                <a:solidFill>
                  <a:srgbClr val="F2F6FC"/>
                </a:solidFill>
                <a:latin typeface="Arial"/>
              </a:defRPr>
            </a:pPr>
            <a:r>
              <a:t>GitHub: TrinhDucDuong/ddm501-face-voice-proctoring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>
                <a:solidFill>
                  <a:srgbClr val="F2F6FC"/>
                </a:solidFill>
                <a:latin typeface="Arial"/>
              </a:defRPr>
            </a:pPr>
            <a:r>
              <a:t>DDM501  ·  Face Voice Proctoring                                 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