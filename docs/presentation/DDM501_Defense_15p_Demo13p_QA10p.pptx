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DCDCDC"/>
    <a:srgbClr val="F0F0F0"/>
    <a:srgbClr val="E6E6E6"/>
    <a:srgbClr val="C8C8C8"/>
    <a:srgbClr val="FAFAFA"/>
    <a:srgbClr val="BEBEB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78" autoAdjust="0"/>
    <p:restoredTop sz="94660"/>
  </p:normalViewPr>
  <p:slideViewPr>
    <p:cSldViewPr snapToGrid="0" showGuides="1">
      <p:cViewPr varScale="1">
        <p:scale>
          <a:sx n="99" d="100"/>
          <a:sy n="99" d="100"/>
        </p:scale>
        <p:origin x="84" y="582"/>
      </p:cViewPr>
      <p:guideLst>
        <p:guide orient="horz" pos="2160"/>
        <p:guide pos="3840"/>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9" Type="http://schemas.openxmlformats.org/officeDocument/2006/relationships/tableStyles" Target="tableStyles.xml"/><Relationship Id="rId38" Type="http://schemas.openxmlformats.org/officeDocument/2006/relationships/viewProps" Target="viewProps.xml"/><Relationship Id="rId37" Type="http://schemas.openxmlformats.org/officeDocument/2006/relationships/presProps" Target="presProps.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Trịnh Đức Dương</a:t>
            </a:r>
            <a:endParaRPr lang="vi-VN"/>
          </a:p>
          <a:p>
            <a:r>
              <a:rPr lang="vi-VN"/>
              <a:t>Thoi luong: 25 giay</a:t>
            </a:r>
            <a:endParaRPr lang="vi-VN"/>
          </a:p>
          <a:p>
            <a:endParaRPr lang="vi-VN"/>
          </a:p>
          <a:p>
            <a:r>
              <a:rPr lang="vi-VN"/>
              <a:t>Kính chào thầy cô và các bạn. Nhóm em trình bày dự án Face + Voice Integrity. Điểm xuất phát của dự án là một câu hỏi rất gần với các kỳ đánh giá trực tuyến: người đang làm bài có đúng là nhân viên đã đăng ký hay không? Trong phần trình bày, nhóm sẽ đi từ tình huống kinh doanh tới cách xác minh, sau đó demo vòng đời MLOps khi dữ liệu thay đổi và khi một bản cập nhật cần bị thu hồi.</a:t>
            </a:r>
            <a:endParaRPr lang="vi-VN"/>
          </a:p>
          <a:p>
            <a:endParaRPr lang="vi-VN"/>
          </a:p>
          <a:p>
            <a:r>
              <a:rPr lang="vi-VN"/>
              <a:t>THAO TAC: Mở slide ở chế độ trình chiếu. Chưa mở dashboard hoặc nói tên các công cụ.</a:t>
            </a:r>
            <a:endParaRPr lang="vi-VN"/>
          </a:p>
          <a:p>
            <a:endParaRPr lang="vi-VN"/>
          </a:p>
          <a:p>
            <a:r>
              <a:rPr lang="vi-VN"/>
              <a:t>NGUON:</a:t>
            </a:r>
            <a:endParaRPr lang="vi-VN"/>
          </a:p>
          <a:p>
            <a:r>
              <a:rPr lang="vi-VN"/>
              <a:t>README.md</a:t>
            </a:r>
            <a:endParaRPr lang="vi-VN"/>
          </a:p>
          <a:p>
            <a:r>
              <a:rPr lang="vi-VN"/>
              <a:t>PROJECT_REQUIREMENTS.md</a:t>
            </a:r>
            <a:endParaRPr lang="vi-V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Trịnh Đức Dương</a:t>
            </a:r>
            <a:endParaRPr lang="vi-VN"/>
          </a:p>
          <a:p>
            <a:r>
              <a:rPr lang="vi-VN"/>
              <a:t>Thoi luong: 75 giay</a:t>
            </a:r>
            <a:endParaRPr lang="vi-VN"/>
          </a:p>
          <a:p>
            <a:endParaRPr lang="vi-VN"/>
          </a:p>
          <a:p>
            <a:r>
              <a:rPr lang="vi-VN"/>
              <a:t>Xin mời thầy cô hình dung một doanh nghiệp tổ chức đánh giá ngoại ngữ thường niên. Lúc 8 giờ 55, một nhân viên đăng nhập bằng đúng tài khoản của mình. Hệ thống xác nhận tài khoản hợp lệ. Đến phần nói, một người khác có năng lực tốt hơn có thể hỗ trợ hoặc thực hiện thay. Khi kết thúc, hệ thống vẫn nhận được một bài làm gắn với đúng tài khoản. Nếu kết quả ấy được dùng để lập kế hoạch đào tạo hoặc phân công công việc, sai lệch danh tính sẽ làm sai lệch quyết định phía sau. Đến lúc có nghi vấn, HR lại thiếu bằng chứng tại thời điểm cần kiểm tra. Đây là tình huống giả định mà nhóm dùng để đặt yêu cầu thiết kế, không phải một vụ gian lận đã được nhóm xác minh. Từ đó, nhóm đặt vấn đề: làm sao bổ sung bằng chứng danh tính vào phần mềm thi đang có?</a:t>
            </a:r>
            <a:endParaRPr lang="vi-VN"/>
          </a:p>
          <a:p>
            <a:endParaRPr lang="vi-VN"/>
          </a:p>
          <a:p>
            <a:r>
              <a:rPr lang="vi-VN"/>
              <a:t>THAO TAC: Chỉ theo ba mốc thời gian. Dừng ngắn sau câu 'hệ thống vẫn nhận được một bài làm gắn với đúng tài khoản'.</a:t>
            </a:r>
            <a:endParaRPr lang="vi-VN"/>
          </a:p>
          <a:p>
            <a:endParaRPr lang="vi-VN"/>
          </a:p>
          <a:p>
            <a:r>
              <a:rPr lang="vi-VN"/>
              <a:t>NGUON:</a:t>
            </a:r>
            <a:endParaRPr lang="vi-VN"/>
          </a:p>
          <a:p>
            <a:r>
              <a:rPr lang="vi-VN"/>
              <a:t>PROJECT_REPORT.md: Câu chuyện business</a:t>
            </a:r>
            <a:endParaRPr lang="vi-VN"/>
          </a:p>
          <a:p>
            <a:r>
              <a:rPr lang="vi-VN"/>
              <a:t>SAAS_INTEGRATION.md</a:t>
            </a:r>
            <a:endParaRPr lang="vi-V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Trịnh Đức Dương</a:t>
            </a:r>
            <a:endParaRPr lang="vi-VN"/>
          </a:p>
          <a:p>
            <a:r>
              <a:rPr lang="vi-VN"/>
              <a:t>Thoi luong: 45 giay</a:t>
            </a:r>
            <a:endParaRPr lang="vi-VN"/>
          </a:p>
          <a:p>
            <a:endParaRPr lang="vi-VN"/>
          </a:p>
          <a:p>
            <a:r>
              <a:rPr lang="vi-VN"/>
              <a:t>Nhóm nhìn thấy ba khó khăn liên quan với nhau. Thứ nhất là độ tin cậy của kết quả khi danh tính người làm bài có thể thay đổi. Thứ hai là khối lượng rà soát: có video hay audio chưa chắc đã giúp HR nhanh chóng tìm đúng thời điểm cần xem. Thứ ba là nguy cơ kết luận nhầm. Một nhân viên làm bài trung thực vẫn có thể bị điểm tương đồng thấp vì camera tối, microphone khác hoặc mẫu ghi danh đã cũ. Vì vậy, mục tiêu không chỉ là phát hiện thêm nghi vấn. Hệ thống còn phải trả được lý do, giữ được bằng chứng phù hợp và có cơ chế xử lý khi chính mô hình không còn hoạt động như trước. Nhóm chưa đo được mức giảm gian lận hay số giờ tiết kiệm tại doanh nghiệp thật.</a:t>
            </a:r>
            <a:endParaRPr lang="vi-VN"/>
          </a:p>
          <a:p>
            <a:endParaRPr lang="vi-VN"/>
          </a:p>
          <a:p>
            <a:r>
              <a:rPr lang="vi-VN"/>
              <a:t>THAO TAC: Nhấn vào khó khăn thứ ba để chuẩn bị cho câu chuyện drift ở phần sau.</a:t>
            </a:r>
            <a:endParaRPr lang="vi-VN"/>
          </a:p>
          <a:p>
            <a:endParaRPr lang="vi-VN"/>
          </a:p>
          <a:p>
            <a:r>
              <a:rPr lang="vi-VN"/>
              <a:t>NGUON:</a:t>
            </a:r>
            <a:endParaRPr lang="vi-VN"/>
          </a:p>
          <a:p>
            <a:r>
              <a:rPr lang="vi-VN"/>
              <a:t>PROJECT_REQUIREMENTS.md</a:t>
            </a:r>
            <a:endParaRPr lang="vi-VN"/>
          </a:p>
          <a:p>
            <a:r>
              <a:rPr lang="vi-VN"/>
              <a:t>ARCHITECTURE.md</a:t>
            </a:r>
            <a:endParaRPr lang="vi-VN"/>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Trịnh Đức Dương</a:t>
            </a:r>
            <a:endParaRPr lang="vi-VN"/>
          </a:p>
          <a:p>
            <a:r>
              <a:rPr lang="vi-VN"/>
              <a:t>Thoi luong: 45 giay</a:t>
            </a:r>
            <a:endParaRPr lang="vi-VN"/>
          </a:p>
          <a:p>
            <a:endParaRPr lang="vi-VN"/>
          </a:p>
          <a:p>
            <a:r>
              <a:rPr lang="vi-VN"/>
              <a:t>Nhóm giới hạn bài toán vào danh tính và tính toàn vẹn của capture. Đối với thi hộ hoặc thay người, hệ thống so khớp khuôn mặt và giọng nói với mẫu của nhân viên đã ghi danh. Các detector bổ sung tìm dấu hiệu ảnh giả, âm thanh tổng hợp, nhiều khuôn mặt hoặc thay đổi người nói. Một tín hiệu khác là tái sử dụng chính xác media trong cùng phiên. Tuy nhiên, nhóm không xem những detector này là lời bảo đảm phát hiện mọi hành vi gian lận. Chúng chưa giải quyết đầy đủ đọc tài liệu ngoài màn hình, nhờ người gợi ý hoặc mọi loại deepfake. Vì thế, kết quả suspicious phải đi kèm lý do và được đặt vào quy trình xem xét của khách hàng, không biến thành quyết định kỷ luật tự động.</a:t>
            </a:r>
            <a:endParaRPr lang="vi-VN"/>
          </a:p>
          <a:p>
            <a:endParaRPr lang="vi-VN"/>
          </a:p>
          <a:p>
            <a:r>
              <a:rPr lang="vi-VN"/>
              <a:t>THAO TAC: Không gọi hệ thống là phần mềm chống gian lận toàn diện.</a:t>
            </a:r>
            <a:endParaRPr lang="vi-VN"/>
          </a:p>
          <a:p>
            <a:endParaRPr lang="vi-VN"/>
          </a:p>
          <a:p>
            <a:r>
              <a:rPr lang="vi-VN"/>
              <a:t>NGUON:</a:t>
            </a:r>
            <a:endParaRPr lang="vi-VN"/>
          </a:p>
          <a:p>
            <a:r>
              <a:rPr lang="vi-VN"/>
              <a:t>README.md</a:t>
            </a:r>
            <a:endParaRPr lang="vi-VN"/>
          </a:p>
          <a:p>
            <a:r>
              <a:rPr lang="vi-VN"/>
              <a:t>ARCHITECTURE.md</a:t>
            </a:r>
            <a:endParaRPr lang="vi-VN"/>
          </a:p>
          <a:p>
            <a:r>
              <a:rPr lang="vi-VN"/>
              <a:t>RESPONSIBLE_AI.md</a:t>
            </a:r>
            <a:endParaRPr lang="vi-VN"/>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Trịnh Đức Dương</a:t>
            </a:r>
            <a:endParaRPr lang="vi-VN"/>
          </a:p>
          <a:p>
            <a:r>
              <a:rPr lang="vi-VN"/>
              <a:t>Thoi luong: 40 giay</a:t>
            </a:r>
            <a:endParaRPr lang="vi-VN"/>
          </a:p>
          <a:p>
            <a:endParaRPr lang="vi-VN"/>
          </a:p>
          <a:p>
            <a:r>
              <a:rPr lang="vi-VN"/>
              <a:t>Doanh nghiệp thường đã có phần mềm thi và không muốn thay toàn bộ hệ thống. Vì vậy, nhóm chọn cách cung cấp một dịch vụ tích hợp. Khách hàng giữ bài thi, tài khoản, lịch capture, điểm và quyền quyết định. Dịch vụ của nhóm nhận ảnh và WAV, thực hiện kiểm tra rồi trả kết quả ngay qua API và gửi webhook. Portal giúp quản trị công ty xem lịch sử và bằng chứng. Nhịp gửi dữ liệu do khách hàng chọn, không phải hệ thống của nhóm liên tục stream toàn bộ phiên thi. Quy mô khoảng năm mươi nghìn nhân viên là mục tiêu để định hướng thiết kế dữ liệu và vận hành, chưa phải kết quả đo tải. Tiếp theo, Hải sẽ giải thích luồng tích hợp và cách hệ thống triển khai.</a:t>
            </a:r>
            <a:endParaRPr lang="vi-VN"/>
          </a:p>
          <a:p>
            <a:endParaRPr lang="vi-VN"/>
          </a:p>
          <a:p>
            <a:r>
              <a:rPr lang="vi-VN"/>
              <a:t>THAO TAC: Chuyển lời: 'Mời Hải trình bày hành trình một lượt kiểm tra'.</a:t>
            </a:r>
            <a:endParaRPr lang="vi-VN"/>
          </a:p>
          <a:p>
            <a:endParaRPr lang="vi-VN"/>
          </a:p>
          <a:p>
            <a:r>
              <a:rPr lang="vi-VN"/>
              <a:t>NGUON:</a:t>
            </a:r>
            <a:endParaRPr lang="vi-VN"/>
          </a:p>
          <a:p>
            <a:r>
              <a:rPr lang="vi-VN"/>
              <a:t>SAAS_INTEGRATION.md</a:t>
            </a:r>
            <a:endParaRPr lang="vi-VN"/>
          </a:p>
          <a:p>
            <a:r>
              <a:rPr lang="vi-VN"/>
              <a:t>README.md</a:t>
            </a:r>
            <a:endParaRPr lang="vi-VN"/>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To Thanh Hai</a:t>
            </a:r>
            <a:endParaRPr lang="vi-VN"/>
          </a:p>
          <a:p>
            <a:r>
              <a:rPr lang="vi-VN"/>
              <a:t>Thoi luong: 45 giay</a:t>
            </a:r>
            <a:endParaRPr lang="vi-VN"/>
          </a:p>
          <a:p>
            <a:endParaRPr lang="vi-VN"/>
          </a:p>
          <a:p>
            <a:r>
              <a:rPr lang="vi-VN"/>
              <a:t>Một lượt kiểm tra bắt đầu từ mẫu ghi danh đã được nhân viên cung cấp với sự đồng ý. Backend của công ty gửi capture cùng định danh nhân viên, phiên và request. Dịch vụ thực hiện kiểm tra identity và các tín hiệu integrity, lưu kết quả rồi trả lại qua API. Webhook có chữ ký HMAC giúp khách hàng xác minh nguồn gửi, nhưng receiver vẫn phải chống xử lý trùng vì cơ chế retry có thể giao một thông báo nhiều lần. Khi cần xem xét, quản trị công ty có lịch sử, lý do và evidence theo đúng tenant. Idempotency là chi tiết quan trọng: gửi lại cùng request và cùng payload không được tạo thêm một quyết định khác.</a:t>
            </a:r>
            <a:endParaRPr lang="vi-VN"/>
          </a:p>
          <a:p>
            <a:endParaRPr lang="vi-VN"/>
          </a:p>
          <a:p>
            <a:r>
              <a:rPr lang="vi-VN"/>
              <a:t>THAO TAC: Đi từ trái sang phải. Có thể nhắc verified, suspicious và inconclusive bằng lời.</a:t>
            </a:r>
            <a:endParaRPr lang="vi-VN"/>
          </a:p>
          <a:p>
            <a:endParaRPr lang="vi-VN"/>
          </a:p>
          <a:p>
            <a:r>
              <a:rPr lang="vi-VN"/>
              <a:t>NGUON:</a:t>
            </a:r>
            <a:endParaRPr lang="vi-VN"/>
          </a:p>
          <a:p>
            <a:r>
              <a:rPr lang="vi-VN"/>
              <a:t>api/app/checks.py</a:t>
            </a:r>
            <a:endParaRPr lang="vi-VN"/>
          </a:p>
          <a:p>
            <a:r>
              <a:rPr lang="vi-VN"/>
              <a:t>api/app/webhooks.py</a:t>
            </a:r>
            <a:endParaRPr lang="vi-VN"/>
          </a:p>
          <a:p>
            <a:r>
              <a:rPr lang="vi-VN"/>
              <a:t>SAAS_INTEGRATION.md</a:t>
            </a:r>
            <a:endParaRPr lang="vi-VN"/>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To Thanh Hai</a:t>
            </a:r>
            <a:endParaRPr lang="vi-VN"/>
          </a:p>
          <a:p>
            <a:r>
              <a:rPr lang="vi-VN"/>
              <a:t>Thoi luong: 55 giay</a:t>
            </a:r>
            <a:endParaRPr lang="vi-VN"/>
          </a:p>
          <a:p>
            <a:endParaRPr lang="vi-VN"/>
          </a:p>
          <a:p>
            <a:r>
              <a:rPr lang="vi-VN"/>
              <a:t>Đầu vào của nhánh Face là ảnh. YuNet định vị khuôn mặt và SFace tạo embedding. Đầu vào của nhánh Voice là WAV, ECAPA tạo embedding giọng nói. Các vector được chuẩn hóa rồi so với tập template của đúng người được khai báo bằng cosine similarity. Hệ thống lấy mức tương đồng tốt nhất với tập template và áp dụng ngưỡng riêng cho từng modality. Vì đây là so khớp một người với mẫu của chính họ, nó là xác minh một-một, không phải tìm người giống nhất trong toàn bộ nhân viên. Trong dự án, model được huấn luyện lại là policy ngưỡng. Nhóm không tuyên bố fine-tune lại SFace hoặc ECAPA. Điều này cũng giải thích vì sao champion và challenger có thể dùng chung score nhưng trả quyết định khác nhau.</a:t>
            </a:r>
            <a:endParaRPr lang="vi-VN"/>
          </a:p>
          <a:p>
            <a:endParaRPr lang="vi-VN"/>
          </a:p>
          <a:p>
            <a:r>
              <a:rPr lang="vi-VN"/>
              <a:t>THAO TAC: Nhấn rõ chữ 'threshold policy' để tránh hiểu nhầm retrain encoder.</a:t>
            </a:r>
            <a:endParaRPr lang="vi-VN"/>
          </a:p>
          <a:p>
            <a:endParaRPr lang="vi-VN"/>
          </a:p>
          <a:p>
            <a:r>
              <a:rPr lang="vi-VN"/>
              <a:t>NGUON:</a:t>
            </a:r>
            <a:endParaRPr lang="vi-VN"/>
          </a:p>
          <a:p>
            <a:r>
              <a:rPr lang="vi-VN"/>
              <a:t>api/app/biometrics.py</a:t>
            </a:r>
            <a:endParaRPr lang="vi-VN"/>
          </a:p>
          <a:p>
            <a:r>
              <a:rPr lang="vi-VN"/>
              <a:t>pipeline/modality_training.py</a:t>
            </a:r>
            <a:endParaRPr lang="vi-VN"/>
          </a:p>
          <a:p>
            <a:r>
              <a:rPr lang="vi-VN"/>
              <a:t>docs/MODALITY_LIFECYCLE.md</a:t>
            </a:r>
            <a:endParaRPr lang="vi-VN"/>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To Thanh Hai</a:t>
            </a:r>
            <a:endParaRPr lang="vi-VN"/>
          </a:p>
          <a:p>
            <a:r>
              <a:rPr lang="vi-VN"/>
              <a:t>Thoi luong: 60 giay</a:t>
            </a:r>
            <a:endParaRPr lang="vi-VN"/>
          </a:p>
          <a:p>
            <a:endParaRPr lang="vi-VN"/>
          </a:p>
          <a:p>
            <a:r>
              <a:rPr lang="vi-VN"/>
              <a:t>Kiến trúc có ba luồng chính. Serving xử lý request của khách hàng và ghi kết quả vào PostgreSQL, lưu media nghi vấn vào MinIO khi cần. Luồng MLOps do Airflow điều phối, lấy snapshot có phiên bản, tạo policy và lưu thông tin đánh giá trong MLflow. Luồng monitoring thu các chỉ số dịch vụ và model để hiển thị trong Grafana, đồng thời định tuyến cảnh báo. Registry quản lý phiên bản model, còn database lưu trạng thái triển khai và routing. Chúng có vai trò khác nhau. Hệ thống hiện chạy trên một máy bằng Docker Compose. Riêng simulation có vùng dữ liệu và MLflow riêng để có thể minh họa lỗi mà không đổi policy production. Host và scheduler vẫn dùng chung nên nhóm không gọi đây là cách ly tài nguyên tuyệt đối.</a:t>
            </a:r>
            <a:endParaRPr lang="vi-VN"/>
          </a:p>
          <a:p>
            <a:endParaRPr lang="vi-VN"/>
          </a:p>
          <a:p>
            <a:r>
              <a:rPr lang="vi-VN"/>
              <a:t>THAO TAC: Chỉ ra vòng feedback giữa PostgreSQL và Airflow, không đọc danh sách công cụ liên tục.</a:t>
            </a:r>
            <a:endParaRPr lang="vi-VN"/>
          </a:p>
          <a:p>
            <a:endParaRPr lang="vi-VN"/>
          </a:p>
          <a:p>
            <a:r>
              <a:rPr lang="vi-VN"/>
              <a:t>NGUON:</a:t>
            </a:r>
            <a:endParaRPr lang="vi-VN"/>
          </a:p>
          <a:p>
            <a:r>
              <a:rPr lang="vi-VN"/>
              <a:t>ARCHITECTURE.md</a:t>
            </a:r>
            <a:endParaRPr lang="vi-VN"/>
          </a:p>
          <a:p>
            <a:r>
              <a:rPr lang="vi-VN"/>
              <a:t>docker-compose.yml</a:t>
            </a:r>
            <a:endParaRPr lang="vi-VN"/>
          </a:p>
          <a:p>
            <a:r>
              <a:rPr lang="vi-VN"/>
              <a:t>docs/SIMULATION.md</a:t>
            </a:r>
            <a:endParaRPr lang="vi-VN"/>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To Thanh Hai</a:t>
            </a:r>
            <a:endParaRPr lang="vi-VN"/>
          </a:p>
          <a:p>
            <a:r>
              <a:rPr lang="vi-VN"/>
              <a:t>Thoi luong: 40 giay</a:t>
            </a:r>
            <a:endParaRPr lang="vi-VN"/>
          </a:p>
          <a:p>
            <a:endParaRPr lang="vi-VN"/>
          </a:p>
          <a:p>
            <a:r>
              <a:rPr lang="vi-VN"/>
              <a:t>Dữ liệu được lưu theo mục đích. PostgreSQL chứa embedding JSON, phiên bản template, các lượt kiểm tra và audit. MinIO chứa artifact cùng evidence media nghi vấn. Project hiện không dùng embedding database chuyên dụng như một vector search engine, vì đường serving là truy xuất template theo định danh đã biết. Các lượt đọc lịch sử và tải evidence được ràng buộc tenant, nên một công ty không thể đọc dữ liệu của công ty khác. Raw enrollment không được giữ mặc định. Query embeddings phục vụ monitoring cũng có cơ chế opt-in và thời hạn lưu. Đổi lại, nếu không giữ vector hoặc không có đủ nhãn tin cậy, hệ thống phải chấp nhận chưa đủ dữ liệu để kết luận drift. Sau đây Hiệp trình bày cách kiểm chứng điều đó.</a:t>
            </a:r>
            <a:endParaRPr lang="vi-VN"/>
          </a:p>
          <a:p>
            <a:endParaRPr lang="vi-VN"/>
          </a:p>
          <a:p>
            <a:r>
              <a:rPr lang="vi-VN"/>
              <a:t>THAO TAC: Chuyển lời: 'Mời Hiệp giải thích vì sao score giảm chưa đủ để retrain'.</a:t>
            </a:r>
            <a:endParaRPr lang="vi-VN"/>
          </a:p>
          <a:p>
            <a:endParaRPr lang="vi-VN"/>
          </a:p>
          <a:p>
            <a:r>
              <a:rPr lang="vi-VN"/>
              <a:t>NGUON:</a:t>
            </a:r>
            <a:endParaRPr lang="vi-VN"/>
          </a:p>
          <a:p>
            <a:r>
              <a:rPr lang="vi-VN"/>
              <a:t>ARCHITECTURE.md</a:t>
            </a:r>
            <a:endParaRPr lang="vi-VN"/>
          </a:p>
          <a:p>
            <a:r>
              <a:rPr lang="vi-VN"/>
              <a:t>docs/MODALITY_LIFECYCLE.md</a:t>
            </a:r>
            <a:endParaRPr lang="vi-VN"/>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Do Quang Hiep</a:t>
            </a:r>
            <a:endParaRPr lang="vi-VN"/>
          </a:p>
          <a:p>
            <a:r>
              <a:rPr lang="vi-VN"/>
              <a:t>Thoi luong: 50 giay</a:t>
            </a:r>
            <a:endParaRPr lang="vi-VN"/>
          </a:p>
          <a:p>
            <a:endParaRPr lang="vi-VN"/>
          </a:p>
          <a:p>
            <a:r>
              <a:rPr lang="vi-VN"/>
              <a:t>Quay lại tình huống một nhân viên trung thực bị từ chối nhiều hơn. Nếu chỉ nhìn score giảm và lập tức retrain, chúng ta có thể sửa sai chỗ. Camera mới thiếu sáng hoặc mic kém cần xử lý capture. Nếu chỉ những người có mẫu ghi danh rất cũ gặp vấn đề, cập nhật template có thể phù hợp hơn. Chỉ khi bằng chứng cho thấy policy thực sự suy giảm trên dữ liệu được review và nhiều cohort thì retrain mới đáng cân nhắc. Vì vậy, project không để một kiểm định thống kê duy nhất điều khiển pipeline. Drift engine tổng hợp nhiều lớp tín hiệu để chọn hành động phù hợp, đồng thời giữ trạng thái chưa đủ bằng chứng khi dữ liệu còn thiếu.</a:t>
            </a:r>
            <a:endParaRPr lang="vi-VN"/>
          </a:p>
          <a:p>
            <a:endParaRPr lang="vi-VN"/>
          </a:p>
          <a:p>
            <a:r>
              <a:rPr lang="vi-VN"/>
              <a:t>THAO TAC: Dùng ví dụ 'đổi microphone' để giải thích input drift thay vì đọc định nghĩa thống kê.</a:t>
            </a:r>
            <a:endParaRPr lang="vi-VN"/>
          </a:p>
          <a:p>
            <a:endParaRPr lang="vi-VN"/>
          </a:p>
          <a:p>
            <a:r>
              <a:rPr lang="vi-VN"/>
              <a:t>NGUON:</a:t>
            </a:r>
            <a:endParaRPr lang="vi-VN"/>
          </a:p>
          <a:p>
            <a:r>
              <a:rPr lang="vi-VN"/>
              <a:t>pipeline/drift_decision.py</a:t>
            </a:r>
            <a:endParaRPr lang="vi-VN"/>
          </a:p>
          <a:p>
            <a:r>
              <a:rPr lang="vi-VN"/>
              <a:t>docs/MODALITY_LIFECYCLE.md</a:t>
            </a:r>
            <a:endParaRPr lang="vi-VN"/>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Do Quang Hiep</a:t>
            </a:r>
            <a:endParaRPr lang="vi-VN"/>
          </a:p>
          <a:p>
            <a:r>
              <a:rPr lang="vi-VN"/>
              <a:t>Thoi luong: 65 giay</a:t>
            </a:r>
            <a:endParaRPr lang="vi-VN"/>
          </a:p>
          <a:p>
            <a:endParaRPr lang="vi-VN"/>
          </a:p>
          <a:p>
            <a:r>
              <a:rPr lang="vi-VN"/>
              <a:t>Lớp đầu là chất lượng input, ví dụ độ sáng và blur của ảnh hoặc RMS và tỷ lệ im lặng của audio. Project dùng PSI để so sánh phân phối. Lớp thứ hai là embedding drift, dùng RBF MMD bình phương trên vector đa chiều, không kiểm từng chiều một cách độc lập. Lớp thứ ba là score drift, tách genuine và impostor khi có nhãn tin cậy để theo dõi hướng dịch chuyển và khoảng cách tới ngưỡng. Lớp thứ tư đo performance thật trên reviewed samples, bao gồm chấp nhận sai và từ chối sai. Cuối cùng là phân tích theo tuổi template. Mỗi modality có báo cáo riêng. Các feature như SNR hoặc góc quay đầu chưa được đo trong implementation thì nhóm không đưa vào như thể đã có. Công thức và ngưỡng chi tiết nằm ở phụ lục để phục vụ câu hỏi sâu.</a:t>
            </a:r>
            <a:endParaRPr lang="vi-VN"/>
          </a:p>
          <a:p>
            <a:endParaRPr lang="vi-VN"/>
          </a:p>
          <a:p>
            <a:r>
              <a:rPr lang="vi-VN"/>
              <a:t>THAO TAC: Giải thích FMR là chấp nhận sai người và FNMR là từ chối nhầm người thật.</a:t>
            </a:r>
            <a:endParaRPr lang="vi-VN"/>
          </a:p>
          <a:p>
            <a:endParaRPr lang="vi-VN"/>
          </a:p>
          <a:p>
            <a:r>
              <a:rPr lang="vi-VN"/>
              <a:t>NGUON:</a:t>
            </a:r>
            <a:endParaRPr lang="vi-VN"/>
          </a:p>
          <a:p>
            <a:r>
              <a:rPr lang="vi-VN"/>
              <a:t>pipeline/drift_decision.py</a:t>
            </a:r>
            <a:endParaRPr lang="vi-VN"/>
          </a:p>
          <a:p>
            <a:r>
              <a:rPr lang="vi-VN"/>
              <a:t>api/app/biometrics.py</a:t>
            </a:r>
            <a:endParaRPr lang="vi-VN"/>
          </a:p>
          <a:p>
            <a:r>
              <a:rPr lang="vi-VN"/>
              <a:t>pipeline/lifecycle_config.json</a:t>
            </a:r>
            <a:endParaRPr lang="vi-VN"/>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Do Quang Hiep</a:t>
            </a:r>
            <a:endParaRPr lang="vi-VN"/>
          </a:p>
          <a:p>
            <a:r>
              <a:rPr lang="vi-VN"/>
              <a:t>Thoi luong: 65 giay</a:t>
            </a:r>
            <a:endParaRPr lang="vi-VN"/>
          </a:p>
          <a:p>
            <a:endParaRPr lang="vi-VN"/>
          </a:p>
          <a:p>
            <a:r>
              <a:rPr lang="vi-VN"/>
              <a:t>Bảng này thể hiện quyết định vận hành. Chất lượng capture thay đổi thì điều tra input. Embedding hoặc score drift nhưng performance vẫn ổn thì theo dõi. Template cũ suy giảm riêng thì đi sang workflow template. Retrain yêu cầu embedding và score drift kéo dài, performance có nhãn review suy giảm trên nhiều nhóm tuổi, cùng điều kiện dữ liệu mới và cooldown. Mặc định cần ba cửa sổ mới đủ điều kiện, không phải refresh cùng một cửa sổ ba lần. Một điểm quan trọng là trạng thái insufficient data. Nó không có nghĩa hệ thống khỏe và cũng không có nghĩa đang drift. Nó nói rằng bằng chứng hiện tại chưa cho phép tự động hành động. Nguyên tắc này giúp hạn chế việc pipeline chạy đẹp nhưng dựa trên nhãn do chính model tự suy ra.</a:t>
            </a:r>
            <a:endParaRPr lang="vi-VN"/>
          </a:p>
          <a:p>
            <a:endParaRPr lang="vi-VN"/>
          </a:p>
          <a:p>
            <a:r>
              <a:rPr lang="vi-VN"/>
              <a:t>THAO TAC: Không mô tả các quy tắc là chứng minh quan hệ nhân quả tuyệt đối.</a:t>
            </a:r>
            <a:endParaRPr lang="vi-VN"/>
          </a:p>
          <a:p>
            <a:endParaRPr lang="vi-VN"/>
          </a:p>
          <a:p>
            <a:r>
              <a:rPr lang="vi-VN"/>
              <a:t>NGUON:</a:t>
            </a:r>
            <a:endParaRPr lang="vi-VN"/>
          </a:p>
          <a:p>
            <a:r>
              <a:rPr lang="vi-VN"/>
              <a:t>pipeline/drift_decision.py</a:t>
            </a:r>
            <a:endParaRPr lang="vi-VN"/>
          </a:p>
          <a:p>
            <a:r>
              <a:rPr lang="vi-VN"/>
              <a:t>api/app/lifecycle_service.py</a:t>
            </a:r>
            <a:endParaRPr lang="vi-VN"/>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Do Quang Hiep</a:t>
            </a:r>
            <a:endParaRPr lang="vi-VN"/>
          </a:p>
          <a:p>
            <a:r>
              <a:rPr lang="vi-VN"/>
              <a:t>Thoi luong: 45 giay</a:t>
            </a:r>
            <a:endParaRPr lang="vi-VN"/>
          </a:p>
          <a:p>
            <a:endParaRPr lang="vi-VN"/>
          </a:p>
          <a:p>
            <a:r>
              <a:rPr lang="vi-VN"/>
              <a:t>Với template update, nguy cơ lớn là template poisoning. Nếu cứ chấp nhận một lần xác minh thành công rồi thay mẫu bằng capture vừa gửi, một sai sót có thể bị khuếch đại. Vì vậy, workflow yêu cầu nhiều quan sát trusted, capture đủ chất lượng, margin lớn, nhất quán và không xung đột danh tính. Candidate template được đánh giá trên holdout riêng trước khi đổi con trỏ active, đồng thời giữ phiên bản trước để rollback. Với retrain, monitoring không tự train ngay trong request. Nó tạo intent để Airflow điều phối theo từng modality. Snapshot có phiên bản, CV tách theo identity và holdout không dùng để chọn ngưỡng. Hai đường này cùng nhằm tránh biến một thay đổi thiếu bằng chứng thành thay đổi production. Dương sẽ tiếp tục với quy trình challenger và canary.</a:t>
            </a:r>
            <a:endParaRPr lang="vi-VN"/>
          </a:p>
          <a:p>
            <a:endParaRPr lang="vi-VN"/>
          </a:p>
          <a:p>
            <a:r>
              <a:rPr lang="vi-VN"/>
              <a:t>THAO TAC: Chuyển lời sang Dương, nhấn rằng dữ liệu mới không đồng nghĩa được quyền đưa vào training.</a:t>
            </a:r>
            <a:endParaRPr lang="vi-VN"/>
          </a:p>
          <a:p>
            <a:endParaRPr lang="vi-VN"/>
          </a:p>
          <a:p>
            <a:r>
              <a:rPr lang="vi-VN"/>
              <a:t>NGUON:</a:t>
            </a:r>
            <a:endParaRPr lang="vi-VN"/>
          </a:p>
          <a:p>
            <a:r>
              <a:rPr lang="vi-VN"/>
              <a:t>api/app/template_lifecycle.py</a:t>
            </a:r>
            <a:endParaRPr lang="vi-VN"/>
          </a:p>
          <a:p>
            <a:r>
              <a:rPr lang="vi-VN"/>
              <a:t>pipeline/modality_training.py</a:t>
            </a:r>
            <a:endParaRPr lang="vi-VN"/>
          </a:p>
          <a:p>
            <a:r>
              <a:rPr lang="vi-VN"/>
              <a:t>airflow/dags/biometric_ml_pipeline.py</a:t>
            </a:r>
            <a:endParaRPr lang="vi-VN"/>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Trịnh Đức Dương</a:t>
            </a:r>
            <a:endParaRPr lang="vi-VN"/>
          </a:p>
          <a:p>
            <a:r>
              <a:rPr lang="vi-VN"/>
              <a:t>Thoi luong: 65 giay</a:t>
            </a:r>
            <a:endParaRPr lang="vi-VN"/>
          </a:p>
          <a:p>
            <a:endParaRPr lang="vi-VN"/>
          </a:p>
          <a:p>
            <a:r>
              <a:rPr lang="vi-VN"/>
              <a:t>Sau training, policy mới chỉ là candidate. Offline gate so sánh candidate với champion trên đúng cùng một holdout. Nếu đạt, candidate trở thành challenger và được thử ở shadow. Trong shadow, request vẫn nhận quyết định của champion, nhưng hệ thống ghi lại quyết định của cả hai policy. Sau đó mới tới canary, nơi một phần traffic thực sự dùng threshold của challenger. Chỉ khi tất cả stage đạt điều kiện thì challenger mới trở thành champion. Nếu không đạt, phiên bản đó được giữ lại cùng lý do rejection để audit. Alias champion do đó có ý nghĩa phiên bản được chọn để phục vụ, không chỉ là tên môi trường. Với hai modality, Face có thể giữ champion cũ trong khi Voice đang rollout phiên bản khác.</a:t>
            </a:r>
            <a:endParaRPr lang="vi-VN"/>
          </a:p>
          <a:p>
            <a:endParaRPr lang="vi-VN"/>
          </a:p>
          <a:p>
            <a:r>
              <a:rPr lang="vi-VN"/>
              <a:t>THAO TAC: Chỉ nhánh thất bại trong sơ đồ. Làm rõ score dùng chung còn threshold và decision có thể khác.</a:t>
            </a:r>
            <a:endParaRPr lang="vi-VN"/>
          </a:p>
          <a:p>
            <a:endParaRPr lang="vi-VN"/>
          </a:p>
          <a:p>
            <a:r>
              <a:rPr lang="vi-VN"/>
              <a:t>NGUON:</a:t>
            </a:r>
            <a:endParaRPr lang="vi-VN"/>
          </a:p>
          <a:p>
            <a:r>
              <a:rPr lang="vi-VN"/>
              <a:t>api/app/model_lifecycle.py</a:t>
            </a:r>
            <a:endParaRPr lang="vi-VN"/>
          </a:p>
          <a:p>
            <a:r>
              <a:rPr lang="vi-VN"/>
              <a:t>api/app/lifecycle_api.py</a:t>
            </a:r>
            <a:endParaRPr lang="vi-VN"/>
          </a:p>
          <a:p>
            <a:r>
              <a:rPr lang="vi-VN"/>
              <a:t>docs/MODALITY_LIFECYCLE.md</a:t>
            </a:r>
            <a:endParaRPr lang="vi-VN"/>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Trịnh Đức Dương</a:t>
            </a:r>
            <a:endParaRPr lang="vi-VN"/>
          </a:p>
          <a:p>
            <a:r>
              <a:rPr lang="vi-VN"/>
              <a:t>Thoi luong: 45 giay</a:t>
            </a:r>
            <a:endParaRPr lang="vi-VN"/>
          </a:p>
          <a:p>
            <a:endParaRPr lang="vi-VN"/>
          </a:p>
          <a:p>
            <a:r>
              <a:rPr lang="vi-VN"/>
              <a:t>Canary không chỉ là một thanh phần trăm đẹp trên dashboard. Request được phân tuyến ổn định theo cohort. Mỗi stage phải có đủ quan sát, thời gian và nhãn tin cậy, rồi kiểm tra cả security lẫn chất lượng. FMR là điều kiện nhạy cảm: không cho phép tăng so với champion và còn phải nằm trong budget tuyệt đối. FNMR có mức hồi quy nhỏ được cấu hình. Ngoài ra còn có latency policy, disagreement và cohort chất lượng. Nếu nhãn chưa về đủ thì stage chờ, không tự thông qua vì chưa thấy lỗi. Nếu gate thất bại, challenger traffic về không. Nhãn đến muộn được đánh giá theo tick hàng giờ nên nhóm không gọi đó là phản ứng tức thời trong mọi tình huống.</a:t>
            </a:r>
            <a:endParaRPr lang="vi-VN"/>
          </a:p>
          <a:p>
            <a:endParaRPr lang="vi-VN"/>
          </a:p>
          <a:p>
            <a:r>
              <a:rPr lang="vi-VN"/>
              <a:t>THAO TAC: Phân biệt ngưỡng pilot này với demo 200 request/stage và 5 giây tối thiểu.</a:t>
            </a:r>
            <a:endParaRPr lang="vi-VN"/>
          </a:p>
          <a:p>
            <a:endParaRPr lang="vi-VN"/>
          </a:p>
          <a:p>
            <a:r>
              <a:rPr lang="vi-VN"/>
              <a:t>NGUON:</a:t>
            </a:r>
            <a:endParaRPr lang="vi-VN"/>
          </a:p>
          <a:p>
            <a:r>
              <a:rPr lang="vi-VN"/>
              <a:t>pipeline/lifecycle_config.json</a:t>
            </a:r>
            <a:endParaRPr lang="vi-VN"/>
          </a:p>
          <a:p>
            <a:r>
              <a:rPr lang="vi-VN"/>
              <a:t>api/app/model_lifecycle.py</a:t>
            </a:r>
            <a:endParaRPr lang="vi-VN"/>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To Thanh Hai</a:t>
            </a:r>
            <a:endParaRPr lang="vi-VN"/>
          </a:p>
          <a:p>
            <a:r>
              <a:rPr lang="vi-VN"/>
              <a:t>Thoi luong: 55 giay</a:t>
            </a:r>
            <a:endParaRPr lang="vi-VN"/>
          </a:p>
          <a:p>
            <a:endParaRPr lang="vi-VN"/>
          </a:p>
          <a:p>
            <a:r>
              <a:rPr lang="vi-VN"/>
              <a:t>Ở đây có hai kiểu triển khai cần phân biệt. Code ứng dụng đi qua GitHub Actions: quality trên Ubuntu, preflight trên Windows, build images rồi runner Linux trong WSL gọi PowerShell để triển khai bằng Docker Desktop. Phần này là thay container bằng Compose trên một host. Nó chưa phải canary của nhiều replica ứng dụng. Còn policy Face và Voice được thay đổi qua trạng thái lifecycle trong PostgreSQL và alias MLflow, có shadow, canary và rollback như vừa trình bày. Prometheus và Grafana quan sát cả hai lớp. Hai test preflight Windows phải thực thi và không skip, vì quality job xanh trên Ubuntu một mình không đủ chứng minh chúng đã chạy.</a:t>
            </a:r>
            <a:endParaRPr lang="vi-VN"/>
          </a:p>
          <a:p>
            <a:endParaRPr lang="vi-VN"/>
          </a:p>
          <a:p>
            <a:r>
              <a:rPr lang="vi-VN"/>
              <a:t>THAO TAC: Chuyển sang Đức để trình bày bằng chứng và điều phối demo.</a:t>
            </a:r>
            <a:endParaRPr lang="vi-VN"/>
          </a:p>
          <a:p>
            <a:endParaRPr lang="vi-VN"/>
          </a:p>
          <a:p>
            <a:r>
              <a:rPr lang="vi-VN"/>
              <a:t>NGUON:</a:t>
            </a:r>
            <a:endParaRPr lang="vi-VN"/>
          </a:p>
          <a:p>
            <a:r>
              <a:rPr lang="vi-VN"/>
              <a:t>.github/workflows/ci.yml</a:t>
            </a:r>
            <a:endParaRPr lang="vi-VN"/>
          </a:p>
          <a:p>
            <a:r>
              <a:rPr lang="vi-VN"/>
              <a:t>DEPLOYMENT.md</a:t>
            </a:r>
            <a:endParaRPr lang="vi-VN"/>
          </a:p>
          <a:p>
            <a:r>
              <a:rPr lang="vi-VN"/>
              <a:t>OPERATIONS.md</a:t>
            </a:r>
            <a:endParaRPr lang="vi-VN"/>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Ngo Anh Duc</a:t>
            </a:r>
            <a:endParaRPr lang="vi-VN"/>
          </a:p>
          <a:p>
            <a:r>
              <a:rPr lang="vi-VN"/>
              <a:t>Thoi luong: 55 giay</a:t>
            </a:r>
            <a:endParaRPr lang="vi-VN"/>
          </a:p>
          <a:p>
            <a:endParaRPr lang="vi-VN"/>
          </a:p>
          <a:p>
            <a:r>
              <a:rPr lang="vi-VN"/>
              <a:t>Để đưa tới doanh nghiệp, còn ba nhóm việc phải làm. Nhóm đầu là dữ liệu thật có sự đồng ý và nhãn review đủ tin cậy để đo FMR, FNMR và fairness trên cohort phù hợp. Nhóm thứ hai là tải và vận hành: năm mươi nghìn nhân viên không đồng nghĩa năm mươi nghìn request đồng thời, nên phải đo theo lịch sử dụng thực tế và bổ sung các điều kiện triển khai. Nhóm thứ ba là những điểm chưa khép kín trong code hiện tại: lifecycle mới tạo báo cáo RAI nhưng chưa áp dụng cờ fairness legacy làm gate, và registry mới chưa có quy trình tự tạo champion production đã đánh giá. Nhóm ghi rõ những giới hạn đó để phân biệt một demo MLOps có kiểm chứng với một sản phẩm đã sẵn sàng triển khai đại trà.</a:t>
            </a:r>
            <a:endParaRPr lang="vi-VN"/>
          </a:p>
          <a:p>
            <a:endParaRPr lang="vi-VN"/>
          </a:p>
          <a:p>
            <a:r>
              <a:rPr lang="vi-VN"/>
              <a:t>THAO TAC: Nêu giới hạn dứt khoát, sau đó chuyển sang trách nhiệm hoàn thiện của nhóm.</a:t>
            </a:r>
            <a:endParaRPr lang="vi-VN"/>
          </a:p>
          <a:p>
            <a:endParaRPr lang="vi-VN"/>
          </a:p>
          <a:p>
            <a:r>
              <a:rPr lang="vi-VN"/>
              <a:t>NGUON:</a:t>
            </a:r>
            <a:endParaRPr lang="vi-VN"/>
          </a:p>
          <a:p>
            <a:r>
              <a:rPr lang="vi-VN"/>
              <a:t>ARCHITECTURE.md</a:t>
            </a:r>
            <a:endParaRPr lang="vi-VN"/>
          </a:p>
          <a:p>
            <a:r>
              <a:rPr lang="vi-VN"/>
              <a:t>README.md</a:t>
            </a:r>
            <a:endParaRPr lang="vi-VN"/>
          </a:p>
          <a:p>
            <a:r>
              <a:rPr lang="vi-VN"/>
              <a:t>SCALABILITY_COST.md</a:t>
            </a:r>
            <a:endParaRPr lang="vi-VN"/>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Ngo Anh Duc</a:t>
            </a:r>
            <a:endParaRPr lang="vi-VN"/>
          </a:p>
          <a:p>
            <a:r>
              <a:rPr lang="vi-VN"/>
              <a:t>Thoi luong: 25 giay</a:t>
            </a:r>
            <a:endParaRPr lang="vi-VN"/>
          </a:p>
          <a:p>
            <a:endParaRPr lang="vi-VN"/>
          </a:p>
          <a:p>
            <a:r>
              <a:rPr lang="vi-VN"/>
              <a:t>Phần trình bày vừa rồi nối bài toán thi hộ với cách xác minh danh tính và kiểm soát thay đổi của model. Dịch vụ trả tín hiệu và bằng chứng để doanh nghiệp xem xét, còn model mới phải qua các gate trước khi phục vụ. Sau đây nhóm dành khoảng mười ba phút để đi trọn luồng sản phẩm, monitoring và hai kịch bản simulation. Hải điều khiển máy, Đức dẫn demo, Dương và Hiệp giải thích các điểm kỹ thuật khi cần.</a:t>
            </a:r>
            <a:endParaRPr lang="vi-VN"/>
          </a:p>
          <a:p>
            <a:endParaRPr lang="vi-VN"/>
          </a:p>
          <a:p>
            <a:r>
              <a:rPr lang="vi-VN"/>
              <a:t>THAO TAC: Chuyển sang phần demo. Khởi động đồng hồ demo riêng.</a:t>
            </a:r>
            <a:endParaRPr lang="vi-VN"/>
          </a:p>
          <a:p>
            <a:endParaRPr lang="vi-VN"/>
          </a:p>
          <a:p>
            <a:r>
              <a:rPr lang="vi-VN"/>
              <a:t>NGUON:</a:t>
            </a:r>
            <a:endParaRPr lang="vi-VN"/>
          </a:p>
          <a:p>
            <a:r>
              <a:rPr lang="vi-VN"/>
              <a:t>README.md</a:t>
            </a:r>
            <a:endParaRPr lang="vi-VN"/>
          </a:p>
          <a:p>
            <a:r>
              <a:rPr lang="vi-VN"/>
              <a:t>docs/MODALITY_LIFECYCLE.md</a:t>
            </a:r>
            <a:endParaRPr lang="vi-VN"/>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Ngo Anh Duc dẫn, To Thanh Hai thao tác</a:t>
            </a:r>
            <a:endParaRPr lang="vi-VN"/>
          </a:p>
          <a:p>
            <a:r>
              <a:rPr lang="vi-VN"/>
              <a:t>Thoi luong: 120 giay</a:t>
            </a:r>
            <a:endParaRPr lang="vi-VN"/>
          </a:p>
          <a:p>
            <a:endParaRPr lang="vi-VN"/>
          </a:p>
          <a:p>
            <a:r>
              <a:rPr lang="vi-VN"/>
              <a:t>Đầu tiên nhóm vào không gian công ty A bằng operator session đã đăng nhập trước. Hải tạo một nhân viên có mã riêng cho buổi demo rồi mở trang ghi danh. Nhóm dùng hai ảnh và hai WAV được phép sử dụng. Sau khi ghi danh, trạng thái nhân viên phải là đủ mẫu. Nếu muốn minh họa self-enrollment, có thể dùng lời mời một lần trong 24 giờ, nhưng chỉ chọn một đường ghi danh trong buổi bảo vệ. Việc ghi danh là bắt đầu của luồng, chưa chứng minh danh tính pháp lý của người đăng ký. Mẫu đã chuẩn bị giúp tập trung vào cơ chế, còn capture camera và microphone cần được kiểm thử trước trên chính trình duyệt này.</a:t>
            </a:r>
            <a:endParaRPr lang="vi-VN"/>
          </a:p>
          <a:p>
            <a:endParaRPr lang="vi-VN"/>
          </a:p>
          <a:p>
            <a:r>
              <a:rPr lang="vi-VN"/>
              <a:t>THAO TAC: Demo 00:00–02:00. Không đăng ký công ty hoặc cấp key mới trên màn chiếu. Nếu inference chậm, dùng nhân viên dự phòng đã ghi danh và nói rõ.</a:t>
            </a:r>
            <a:endParaRPr lang="vi-VN"/>
          </a:p>
          <a:p>
            <a:endParaRPr lang="vi-VN"/>
          </a:p>
          <a:p>
            <a:r>
              <a:rPr lang="vi-VN"/>
              <a:t>NGUON:</a:t>
            </a:r>
            <a:endParaRPr lang="vi-VN"/>
          </a:p>
          <a:p>
            <a:r>
              <a:rPr lang="vi-VN"/>
              <a:t>ui/app.py</a:t>
            </a:r>
            <a:endParaRPr lang="vi-VN"/>
          </a:p>
          <a:p>
            <a:r>
              <a:rPr lang="vi-VN"/>
              <a:t>docs/EMPLOYEE_DEMO.md</a:t>
            </a:r>
            <a:endParaRPr lang="vi-VN"/>
          </a:p>
          <a:p>
            <a:r>
              <a:rPr lang="vi-VN"/>
              <a:t>docs/SIMULATION.md</a:t>
            </a:r>
            <a:endParaRPr lang="vi-VN"/>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Ngo Anh Duc dẫn, To Thanh Hai thao tác</a:t>
            </a:r>
            <a:endParaRPr lang="vi-VN"/>
          </a:p>
          <a:p>
            <a:r>
              <a:rPr lang="vi-VN"/>
              <a:t>Thoi luong: 180 giay</a:t>
            </a:r>
            <a:endParaRPr lang="vi-VN"/>
          </a:p>
          <a:p>
            <a:endParaRPr lang="vi-VN"/>
          </a:p>
          <a:p>
            <a:r>
              <a:rPr lang="vi-VN"/>
              <a:t>Ở trang Kiểm tra tích hợp, nhóm chọn người A và gửi ảnh cùng giọng nói mới của A. Chúng ta đọc kết quả thực tế, gồm scores, match, capability và reason. Nếu detector trả suspicious hoặc inconclusive vì capture không phù hợp, nhóm giải thích đúng trạng thái đó. Tiếp theo vẫn khai báo người A nhưng gửi media của B đã được phép sử dụng. Kịch bản này kiểm tra identity mismatch. Nhóm mở Lịch sử và báo cáo, chọn đúng phiên demo và check vừa tạo để xem lý do và evidence. Ở API và Webhook, nhóm kiểm tra delivery của check đó. Công ty B chỉ thấy roster của B. Nếu cần chứng minh chặn truy cập trực tiếp, dùng request cross-tenant đã chuẩn bị và xem HTTP 404. Các check của phần này được lưu vào tenant demo của ứng dụng chính, khác với vùng dữ liệu cách ly của simulation.</a:t>
            </a:r>
            <a:endParaRPr lang="vi-VN"/>
          </a:p>
          <a:p>
            <a:endParaRPr lang="vi-VN"/>
          </a:p>
          <a:p>
            <a:r>
              <a:rPr lang="vi-VN"/>
              <a:t>THAO TAC: Demo 02:00–05:00. Tránh gửi lại cùng media nhiều lần trong một phiên rồi gọi capture_reused là model lỗi. Không lưu human labels cho dữ liệu tổng hợp.</a:t>
            </a:r>
            <a:endParaRPr lang="vi-VN"/>
          </a:p>
          <a:p>
            <a:endParaRPr lang="vi-VN"/>
          </a:p>
          <a:p>
            <a:r>
              <a:rPr lang="vi-VN"/>
              <a:t>NGUON:</a:t>
            </a:r>
            <a:endParaRPr lang="vi-VN"/>
          </a:p>
          <a:p>
            <a:r>
              <a:rPr lang="vi-VN"/>
              <a:t>ui/app.py</a:t>
            </a:r>
            <a:endParaRPr lang="vi-VN"/>
          </a:p>
          <a:p>
            <a:r>
              <a:rPr lang="vi-VN"/>
              <a:t>docs/EMPLOYEE_DEMO.md</a:t>
            </a:r>
            <a:endParaRPr lang="vi-VN"/>
          </a:p>
          <a:p>
            <a:r>
              <a:rPr lang="vi-VN"/>
              <a:t>docs/SIMULATION.md</a:t>
            </a:r>
            <a:endParaRPr lang="vi-VN"/>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Ngo Anh Duc dẫn, To Thanh Hai thao tác</a:t>
            </a:r>
            <a:endParaRPr lang="vi-VN"/>
          </a:p>
          <a:p>
            <a:r>
              <a:rPr lang="vi-VN"/>
              <a:t>Thoi luong: 60 giay</a:t>
            </a:r>
            <a:endParaRPr lang="vi-VN"/>
          </a:p>
          <a:p>
            <a:endParaRPr lang="vi-VN"/>
          </a:p>
          <a:p>
            <a:r>
              <a:rPr lang="vi-VN"/>
              <a:t>Nhóm chuyển từ không gian công ty sang monitoring của nền tảng. Grafana thể hiện hoạt động dịch vụ và độ mới của các collector. Thiếu human labels có thể tạo trạng thái chờ. No data không có nghĩa là không có drift. Sau đó mở tab platform riêng, chọn Voice trong Simulation MLOps và bắt đầu kịch bản promotion. Đây là điểm chuyển ranh giới dữ liệu: từ đây, các vector và nhãn là synthetic, được lưu trong database và MLflow riêng. Airflow cần thời gian nhận job, nên nhóm dùng khoảng chờ để chỉ run ID và đường đi của alert.</a:t>
            </a:r>
            <a:endParaRPr lang="vi-VN"/>
          </a:p>
          <a:p>
            <a:endParaRPr lang="vi-VN"/>
          </a:p>
          <a:p>
            <a:r>
              <a:rPr lang="vi-VN"/>
              <a:t>THAO TAC: Demo 05:00–06:00. Dùng tab/browser profile riêng đã đăng nhập platform để giữ phiên operator.</a:t>
            </a:r>
            <a:endParaRPr lang="vi-VN"/>
          </a:p>
          <a:p>
            <a:endParaRPr lang="vi-VN"/>
          </a:p>
          <a:p>
            <a:r>
              <a:rPr lang="vi-VN"/>
              <a:t>NGUON:</a:t>
            </a:r>
            <a:endParaRPr lang="vi-VN"/>
          </a:p>
          <a:p>
            <a:r>
              <a:rPr lang="vi-VN"/>
              <a:t>ui/app.py</a:t>
            </a:r>
            <a:endParaRPr lang="vi-VN"/>
          </a:p>
          <a:p>
            <a:r>
              <a:rPr lang="vi-VN"/>
              <a:t>docs/EMPLOYEE_DEMO.md</a:t>
            </a:r>
            <a:endParaRPr lang="vi-VN"/>
          </a:p>
          <a:p>
            <a:r>
              <a:rPr lang="vi-VN"/>
              <a:t>docs/SIMULATION.md</a:t>
            </a:r>
            <a:endParaRPr lang="vi-VN"/>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Ngo Anh Duc, thao tác: To Thanh Hai</a:t>
            </a:r>
            <a:endParaRPr lang="vi-VN"/>
          </a:p>
          <a:p>
            <a:r>
              <a:rPr lang="vi-VN"/>
              <a:t>Thoi luong: 180 giay</a:t>
            </a:r>
            <a:endParaRPr lang="vi-VN"/>
          </a:p>
          <a:p>
            <a:endParaRPr lang="vi-VN"/>
          </a:p>
          <a:p>
            <a:r>
              <a:rPr lang="vi-VN"/>
              <a:t>Run promotion đã bắt đầu ở bước trước. Bây giờ nhóm theo dõi receipt của alert qua Prometheus và Alertmanager trước training. Tiếp theo mở phần offline để thấy candidate và champion được so trên cùng holdout. Shadow phải giữ champion làm câu trả lời, còn canary có số request dùng challenger tăng qua các stage. Trên MLflow simulation, kiểm tra model name có tiền tố simulation và version đang được alias champion trỏ tới. Kết thúc cần đọc kết quả của đúng run đang chiếu. Nếu chưa hoàn tất sau khung chờ, nhóm nói rõ và dùng slide evidence lịch sử tiếp theo để giữ thời gian. Những request trong simulation đi qua HTTP endpoint embedding, không phải ảnh hoặc WAV từ nhân viên thật.</a:t>
            </a:r>
            <a:endParaRPr lang="vi-VN"/>
          </a:p>
          <a:p>
            <a:endParaRPr lang="vi-VN"/>
          </a:p>
          <a:p>
            <a:r>
              <a:rPr lang="vi-VN"/>
              <a:t>THAO TAC: Demo 06:00–09:00. Run đã được tạo ở slide trước, không bấm nút 1 lần nữa. Xem alert receipt, offline, shadow, canary và version. Nếu chậm, dùng evidence lịch sử có ghi ngày.</a:t>
            </a:r>
            <a:endParaRPr lang="vi-VN"/>
          </a:p>
          <a:p>
            <a:endParaRPr lang="vi-VN"/>
          </a:p>
          <a:p>
            <a:r>
              <a:rPr lang="vi-VN"/>
              <a:t>NGUON:</a:t>
            </a:r>
            <a:endParaRPr lang="vi-VN"/>
          </a:p>
          <a:p>
            <a:r>
              <a:rPr lang="vi-VN"/>
              <a:t>ui/simulation.py</a:t>
            </a:r>
            <a:endParaRPr lang="vi-VN"/>
          </a:p>
          <a:p>
            <a:r>
              <a:rPr lang="vi-VN"/>
              <a:t>docs/SIMULATION.md</a:t>
            </a:r>
            <a:endParaRPr lang="vi-VN"/>
          </a:p>
          <a:p>
            <a:r>
              <a:rPr lang="vi-VN"/>
              <a:t>VERIFICATION.md</a:t>
            </a:r>
            <a:endParaRPr lang="vi-VN"/>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Ngo Anh Duc</a:t>
            </a:r>
            <a:endParaRPr lang="vi-VN"/>
          </a:p>
          <a:p>
            <a:r>
              <a:rPr lang="vi-VN"/>
              <a:t>Thoi luong: 30 giay</a:t>
            </a:r>
            <a:endParaRPr lang="vi-VN"/>
          </a:p>
          <a:p>
            <a:endParaRPr lang="vi-VN"/>
          </a:p>
          <a:p>
            <a:r>
              <a:rPr lang="vi-VN"/>
              <a:t>Đây là lượt promotion đã được lưu ngày 3 tháng 10, không phải số đếm được bịa để minh họa. Với 200 request mỗi stage, số request dùng challenger tăng theo rollout. Tỷ lệ thực tế ở stage nhỏ không nhất thiết đúng tuyệt đối 5 hay 10 phần trăm vì đây là mẫu hữu hạn được phân tuyến bằng hash. Shadow có không request nào dùng challenger để trả kết quả. Sau promotion, 200 probe đều dùng version 2. Đây là HTTP traffic tới endpoint embedding của simulation, không phải 200 nhân viên đã thực hiện capture thật.</a:t>
            </a:r>
            <a:endParaRPr lang="vi-VN"/>
          </a:p>
          <a:p>
            <a:endParaRPr lang="vi-VN"/>
          </a:p>
          <a:p>
            <a:r>
              <a:rPr lang="vi-VN"/>
              <a:t>THAO TAC: Demo 09:00–09:30. Nếu run live đã xong, ưu tiên số của run live. Bảng trên slide là evidence lịch sử ngày 03/10, không thay thế kết quả của run mới.</a:t>
            </a:r>
            <a:endParaRPr lang="vi-VN"/>
          </a:p>
          <a:p>
            <a:endParaRPr lang="vi-VN"/>
          </a:p>
          <a:p>
            <a:r>
              <a:rPr lang="vi-VN"/>
              <a:t>NGUON:</a:t>
            </a:r>
            <a:endParaRPr lang="vi-VN"/>
          </a:p>
          <a:p>
            <a:r>
              <a:rPr lang="vi-VN"/>
              <a:t>VERIFICATION.md: Simulation cách ly 03/10/2026</a:t>
            </a:r>
            <a:endParaRPr lang="vi-VN"/>
          </a:p>
          <a:p>
            <a:r>
              <a:rPr lang="vi-VN"/>
              <a:t>reports/simulation-promotion.json</a:t>
            </a:r>
            <a:endParaRPr lang="vi-VN"/>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Ngo Anh Duc, thao tác: To Thanh Hai</a:t>
            </a:r>
            <a:endParaRPr lang="vi-VN"/>
          </a:p>
          <a:p>
            <a:r>
              <a:rPr lang="vi-VN"/>
              <a:t>Thoi luong: 150 giay</a:t>
            </a:r>
            <a:endParaRPr lang="vi-VN"/>
          </a:p>
          <a:p>
            <a:endParaRPr lang="vi-VN"/>
          </a:p>
          <a:p>
            <a:r>
              <a:rPr lang="vi-VN"/>
              <a:t>Trước kịch bản thứ hai, nhóm khôi phục baseline demo. Việc reset chỉ áp dụng trong vùng simulation, không xóa dữ liệu production hoặc lịch sử audit. Lần này chọn Face và bấm Canary lỗi, rollback. Candidate vẫn đi qua calibration, offline và shadow. Điểm khác là tại canary 25 phần trăm, kịch bản đưa vào impostor có score cao để làm FMR vượt điều kiện an toàn. Điều nhóm cần chứng minh không phải job lúc nào cũng xanh theo nghĩa model được promote. Điều cần chứng minh là gate dừng rollout, traffic quay lại champion và nguyên nhân thất bại được lưu. Trạng thái FAILED_CANARY ở đây là kết quả đúng của kịch bản. Nếu đang chờ scheduler, nhóm chuyển sang evidence đã lưu ở slide tiếp theo, nói rõ đây là bằng chứng lịch sử. Sau khi kiểm tra, khôi phục baseline một lần nữa để kết thúc demo.</a:t>
            </a:r>
            <a:endParaRPr lang="vi-VN"/>
          </a:p>
          <a:p>
            <a:endParaRPr lang="vi-VN"/>
          </a:p>
          <a:p>
            <a:r>
              <a:rPr lang="vi-VN"/>
              <a:t>THAO TAC: Demo 09:30–12:00. Reset baseline, chọn Face, bấm nút 2 một lần. Kiểm tra failure tại 25% và traffic quay về champion. Nếu hạ tầng chậm, chuyển sang evidence lịch sử.</a:t>
            </a:r>
            <a:endParaRPr lang="vi-VN"/>
          </a:p>
          <a:p>
            <a:endParaRPr lang="vi-VN"/>
          </a:p>
          <a:p>
            <a:r>
              <a:rPr lang="vi-VN"/>
              <a:t>NGUON:</a:t>
            </a:r>
            <a:endParaRPr lang="vi-VN"/>
          </a:p>
          <a:p>
            <a:r>
              <a:rPr lang="vi-VN"/>
              <a:t>docs/SIMULATION.md</a:t>
            </a:r>
            <a:endParaRPr lang="vi-VN"/>
          </a:p>
          <a:p>
            <a:r>
              <a:rPr lang="vi-VN"/>
              <a:t>ui/simulation.py</a:t>
            </a:r>
            <a:endParaRPr lang="vi-VN"/>
          </a:p>
          <a:p>
            <a:r>
              <a:rPr lang="vi-VN"/>
              <a:t>reports/simulation-rollback.json</a:t>
            </a:r>
            <a:endParaRPr lang="vi-VN"/>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Ngo Anh Duc</a:t>
            </a:r>
            <a:endParaRPr lang="vi-VN"/>
          </a:p>
          <a:p>
            <a:r>
              <a:rPr lang="vi-VN"/>
              <a:t>Thoi luong: 30 giay</a:t>
            </a:r>
            <a:endParaRPr lang="vi-VN"/>
          </a:p>
          <a:p>
            <a:endParaRPr lang="vi-VN"/>
          </a:p>
          <a:p>
            <a:r>
              <a:rPr lang="vi-VN"/>
              <a:t>Trong lượt rollback đã ghi nhận, failure xảy ra tại canary 25 phần trăm. Các mẫu impostor được tiêm làm FMR challenger vượt mức không hồi quy của champion. Sau khi dừng rollout, cả 200 probe đều dùng version 1. Model thất bại không bị xóa, vì nhóm vẫn cần lý do, stage, metric và phiên bản để điều tra. Báo cáo đối chiếu cũng xác nhận policy production không thay đổi qua hai kịch bản simulation. Đây là điều kiện để demo lỗi trên lớp mà vẫn giữ môi trường vận hành ổn định.</a:t>
            </a:r>
            <a:endParaRPr lang="vi-VN"/>
          </a:p>
          <a:p>
            <a:endParaRPr lang="vi-VN"/>
          </a:p>
          <a:p>
            <a:r>
              <a:rPr lang="vi-VN"/>
              <a:t>THAO TAC: Demo 12:00–12:30. Đối chiếu probe và failed metric trong run live. Bảng tóm tắt trên slide là lượt lịch sử.</a:t>
            </a:r>
            <a:endParaRPr lang="vi-VN"/>
          </a:p>
          <a:p>
            <a:endParaRPr lang="vi-VN"/>
          </a:p>
          <a:p>
            <a:r>
              <a:rPr lang="vi-VN"/>
              <a:t>NGUON:</a:t>
            </a:r>
            <a:endParaRPr lang="vi-VN"/>
          </a:p>
          <a:p>
            <a:r>
              <a:rPr lang="vi-VN"/>
              <a:t>reports/simulation-verification.json</a:t>
            </a:r>
            <a:endParaRPr lang="vi-VN"/>
          </a:p>
          <a:p>
            <a:r>
              <a:rPr lang="vi-VN"/>
              <a:t>VERIFICATION.md: Simulation cách ly 03/10/2026</a:t>
            </a:r>
            <a:endParaRPr lang="vi-VN"/>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Ngo Anh Duc dẫn, To Thanh Hai thao tác</a:t>
            </a:r>
            <a:endParaRPr lang="vi-VN"/>
          </a:p>
          <a:p>
            <a:r>
              <a:rPr lang="vi-VN"/>
              <a:t>Thoi luong: 30 giay</a:t>
            </a:r>
            <a:endParaRPr lang="vi-VN"/>
          </a:p>
          <a:p>
            <a:endParaRPr lang="vi-VN"/>
          </a:p>
          <a:p>
            <a:r>
              <a:rPr lang="vi-VN"/>
              <a:t>Nhóm kết thúc bằng nút khôi phục baseline demo và xác nhận trạng thái reset. Lịch sử cùng evidence vẫn được giữ để người khác kiểm tra. Nếu có snapshot production policy trước và sau, nhóm đối chiếu champion, traffic và lifecycle state để chứng minh hai simulation không thay đổi chúng. Các check của phần demo sản phẩm vẫn là dữ liệu đã thêm vào tenant demo, không bị xóa bởi nút reset simulation. Nhóm đã trình diễn cả đường thành công, đường lỗi và cách đưa môi trường demo về trạng thái ban đầu. Phần còn lại là mười phút trao đổi với thầy cô và các bạn.</a:t>
            </a:r>
            <a:endParaRPr lang="vi-VN"/>
          </a:p>
          <a:p>
            <a:endParaRPr lang="vi-VN"/>
          </a:p>
          <a:p>
            <a:r>
              <a:rPr lang="vi-VN"/>
              <a:t>THAO TAC: Demo 12:30–13:00. Dừng thao tác tạo dữ liệu, chuyển slide Q&amp;A. Nếu cancel còn chờ thì nói rõ, không báo đã reset thành công.</a:t>
            </a:r>
            <a:endParaRPr lang="vi-VN"/>
          </a:p>
          <a:p>
            <a:endParaRPr lang="vi-VN"/>
          </a:p>
          <a:p>
            <a:r>
              <a:rPr lang="vi-VN"/>
              <a:t>NGUON:</a:t>
            </a:r>
            <a:endParaRPr lang="vi-VN"/>
          </a:p>
          <a:p>
            <a:r>
              <a:rPr lang="vi-VN"/>
              <a:t>ui/app.py</a:t>
            </a:r>
            <a:endParaRPr lang="vi-VN"/>
          </a:p>
          <a:p>
            <a:r>
              <a:rPr lang="vi-VN"/>
              <a:t>docs/EMPLOYEE_DEMO.md</a:t>
            </a:r>
            <a:endParaRPr lang="vi-VN"/>
          </a:p>
          <a:p>
            <a:r>
              <a:rPr lang="vi-VN"/>
              <a:t>docs/SIMULATION.md</a:t>
            </a:r>
            <a:endParaRPr lang="vi-VN"/>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Cả nhóm, Trịnh Đức Dương điều phối</a:t>
            </a:r>
            <a:endParaRPr lang="vi-VN"/>
          </a:p>
          <a:p>
            <a:r>
              <a:rPr lang="vi-VN"/>
              <a:t>Thoi luong: 600 giay</a:t>
            </a:r>
            <a:endParaRPr lang="vi-VN"/>
          </a:p>
          <a:p>
            <a:endParaRPr lang="vi-VN"/>
          </a:p>
          <a:p>
            <a:r>
              <a:rPr lang="vi-VN"/>
              <a:t>Mời thầy cô và các bạn đặt câu hỏi. Dương nhắc lại câu hỏi ngắn gọn, chuyển cho người phụ trách rồi bổ sung nếu cần. Hiệp trả lời drift, evaluation và nhãn. Hải trả lời tích hợp, CI/CD và vận hành. Đức mở đúng slide phụ lục hoặc evidence. Mỗi câu hỏi thường trả lời trong khoảng một phút đến một phút rưỡi để dành thời gian cho câu hỏi tiếp theo. Nếu chưa có câu hỏi, dùng câu hỏi dự phòng trong QA_GUIDE.md, không tự hỏi và đọc hết cả danh sách.</a:t>
            </a:r>
            <a:endParaRPr lang="vi-VN"/>
          </a:p>
          <a:p>
            <a:endParaRPr lang="vi-VN"/>
          </a:p>
          <a:p>
            <a:r>
              <a:rPr lang="vi-VN"/>
              <a:t>THAO TAC: Bắt đầu đồng hồ Q&amp;A riêng. Khi còn một phút, nhận câu cuối và kết luận.</a:t>
            </a:r>
            <a:endParaRPr lang="vi-VN"/>
          </a:p>
          <a:p>
            <a:endParaRPr lang="vi-VN"/>
          </a:p>
          <a:p>
            <a:r>
              <a:rPr lang="vi-VN"/>
              <a:t>NGUON:</a:t>
            </a:r>
            <a:endParaRPr lang="vi-VN"/>
          </a:p>
          <a:p>
            <a:r>
              <a:rPr lang="vi-VN"/>
              <a:t>CONTRIBUTING.md</a:t>
            </a:r>
            <a:endParaRPr lang="vi-VN"/>
          </a:p>
          <a:p>
            <a:r>
              <a:rPr lang="vi-VN"/>
              <a:t>ARCHITECTURE.md</a:t>
            </a:r>
            <a:endParaRPr lang="vi-VN"/>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Do Quang Hiep</a:t>
            </a:r>
            <a:endParaRPr lang="vi-VN"/>
          </a:p>
          <a:p>
            <a:r>
              <a:rPr lang="vi-VN"/>
              <a:t>Thoi luong: 0 giay</a:t>
            </a:r>
            <a:endParaRPr lang="vi-VN"/>
          </a:p>
          <a:p>
            <a:endParaRPr lang="vi-VN"/>
          </a:p>
          <a:p>
            <a:r>
              <a:rPr lang="vi-VN"/>
              <a:t>PSI so sánh tỷ lệ quan sát trong các bin đã xác định từ reference. Nó được dùng cho feature chất lượng và score scalar. MMD sử dụng khoảng cách giữa các vector chuẩn hóa thông qua kernel RBF để đánh giá phân phối đa chiều. FMR và FNMR chỉ lấy nhãn reviewed đáng tin cậy, không lấy quyết định model làm nhãn. EER là ước lượng từ điểm giao ROC thực nghiệm, còn TAR tại FAR là TAR tốt nhất thỏa budget trên tập quan sát. Mẫu hữu hạn không đủ để suy ra bảo đảm FAR cho toàn bộ dân số.</a:t>
            </a:r>
            <a:endParaRPr lang="vi-VN"/>
          </a:p>
          <a:p>
            <a:endParaRPr lang="vi-VN"/>
          </a:p>
          <a:p>
            <a:r>
              <a:rPr lang="vi-VN"/>
              <a:t>THAO TAC: Chỉ mở khi cần giải thích phương pháp check drift hoặc input/output.</a:t>
            </a:r>
            <a:endParaRPr lang="vi-VN"/>
          </a:p>
          <a:p>
            <a:endParaRPr lang="vi-VN"/>
          </a:p>
          <a:p>
            <a:r>
              <a:rPr lang="vi-VN"/>
              <a:t>NGUON:</a:t>
            </a:r>
            <a:endParaRPr lang="vi-VN"/>
          </a:p>
          <a:p>
            <a:r>
              <a:rPr lang="vi-VN"/>
              <a:t>pipeline/drift_decision.py</a:t>
            </a:r>
            <a:endParaRPr lang="vi-VN"/>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Do Quang Hiep</a:t>
            </a:r>
            <a:endParaRPr lang="vi-VN"/>
          </a:p>
          <a:p>
            <a:r>
              <a:rPr lang="vi-VN"/>
              <a:t>Thoi luong: 0 giay</a:t>
            </a:r>
            <a:endParaRPr lang="vi-VN"/>
          </a:p>
          <a:p>
            <a:endParaRPr lang="vi-VN"/>
          </a:p>
          <a:p>
            <a:r>
              <a:rPr lang="vi-VN"/>
              <a:t>Simulation rút ngắn thời gian và số mẫu để phù hợp demo trên lớp, đồng thời cho phép mức disagreement cao hơn vì kịch bản hiệu chỉnh ngưỡng được dựng khá lớn. Nó không sửa file cấu hình production. Các stage traffic vẫn là 5, 10, 25, 50 và 100 phần trăm. Những giá trị mặc định production trong bảng cũng là pilot settings cần hiệu chỉnh bằng dữ liệu khách hàng, không phải tiêu chuẩn an toàn đã được chứng minh cho mọi tổ chức.</a:t>
            </a:r>
            <a:endParaRPr lang="vi-VN"/>
          </a:p>
          <a:p>
            <a:endParaRPr lang="vi-VN"/>
          </a:p>
          <a:p>
            <a:r>
              <a:rPr lang="vi-VN"/>
              <a:t>THAO TAC: Dùng để trả lời vì sao demo chỉ chạy vài phút trong khi stage thật cần một giờ.</a:t>
            </a:r>
            <a:endParaRPr lang="vi-VN"/>
          </a:p>
          <a:p>
            <a:endParaRPr lang="vi-VN"/>
          </a:p>
          <a:p>
            <a:r>
              <a:rPr lang="vi-VN"/>
              <a:t>NGUON:</a:t>
            </a:r>
            <a:endParaRPr lang="vi-VN"/>
          </a:p>
          <a:p>
            <a:r>
              <a:rPr lang="vi-VN"/>
              <a:t>pipeline/lifecycle_config.json</a:t>
            </a:r>
            <a:endParaRPr lang="vi-VN"/>
          </a:p>
          <a:p>
            <a:r>
              <a:rPr lang="vi-VN"/>
              <a:t>docs/SIMULATION.md</a:t>
            </a:r>
            <a:endParaRPr lang="vi-VN"/>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Trịnh Đức Dương</a:t>
            </a:r>
            <a:endParaRPr lang="vi-VN"/>
          </a:p>
          <a:p>
            <a:r>
              <a:rPr lang="vi-VN"/>
              <a:t>Thoi luong: 0 giay</a:t>
            </a:r>
            <a:endParaRPr lang="vi-VN"/>
          </a:p>
          <a:p>
            <a:endParaRPr lang="vi-VN"/>
          </a:p>
          <a:p>
            <a:r>
              <a:rPr lang="vi-VN"/>
              <a:t>Khi trả lời, luôn nêu đúng đối tượng. Từ model trong lifecycle này chỉ threshold policy, không phải mọi thành phần pretrained. Từ canary chỉ policy routing trong API, không phải nhiều phiên bản container. Từ simulation nói tới dữ liệu tổng hợp nhưng có các thao tác HTTP, alert và Registry thực trong môi trường riêng. Một lần demo thành công chỉ chứng minh luồng đó chạy với dữ liệu đó. Nếu được hỏi model tốt nhất, giải thích champion là policy được chấp nhận theo gate và bằng chứng hiện có, không phải tối ưu tuyệt đối cho mọi phân phối tương lai.</a:t>
            </a:r>
            <a:endParaRPr lang="vi-VN"/>
          </a:p>
          <a:p>
            <a:endParaRPr lang="vi-VN"/>
          </a:p>
          <a:p>
            <a:r>
              <a:rPr lang="vi-VN"/>
              <a:t>THAO TAC: Có thể dùng trang này như tờ nhắc trước khi bảo vệ.</a:t>
            </a:r>
            <a:endParaRPr lang="vi-VN"/>
          </a:p>
          <a:p>
            <a:endParaRPr lang="vi-VN"/>
          </a:p>
          <a:p>
            <a:r>
              <a:rPr lang="vi-VN"/>
              <a:t>NGUON:</a:t>
            </a:r>
            <a:endParaRPr lang="vi-VN"/>
          </a:p>
          <a:p>
            <a:r>
              <a:rPr lang="vi-VN"/>
              <a:t>ARCHITECTURE.md</a:t>
            </a:r>
            <a:endParaRPr lang="vi-VN"/>
          </a:p>
          <a:p>
            <a:r>
              <a:rPr lang="vi-VN"/>
              <a:t>docs/SIMULATION.md</a:t>
            </a:r>
            <a:endParaRPr lang="vi-VN"/>
          </a:p>
          <a:p>
            <a:r>
              <a:rPr lang="vi-VN"/>
              <a:t>docs/MODALITY_LIFECYCLE.md</a:t>
            </a:r>
            <a:endParaRPr lang="vi-VN"/>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Ngo Anh Duc</a:t>
            </a:r>
            <a:endParaRPr lang="vi-VN"/>
          </a:p>
          <a:p>
            <a:r>
              <a:rPr lang="vi-VN"/>
              <a:t>Thoi luong: 0 giay</a:t>
            </a:r>
            <a:endParaRPr lang="vi-VN"/>
          </a:p>
          <a:p>
            <a:endParaRPr lang="vi-VN"/>
          </a:p>
          <a:p>
            <a:r>
              <a:rPr lang="vi-VN"/>
              <a:t>Nhóm phân loại bằng chứng thay vì gộp tất cả thành một con số accuracy. Lần kiểm chứng local được ghi nhận ngày 3 tháng 10 có 153 test pass, không skip, với coverage 82 phẩy 03 phần trăm trong phạm vi khai báo. Ngoài unit test, hai kịch bản simulation đã chạy qua Airflow, nhận alert thật, dùng HTTP traffic và cập nhật MLflow riêng. Những bằng chứng này cho thấy cơ chế vận hành và các gate có thể được kiểm tra. Chúng không chứng minh tỷ lệ phát hiện gian lận trên nhân viên thật. Tiếp theo nhóm sẽ minh họa đúng hai kịch bản đó, với dữ liệu được gắn nhãn tổng hợp rõ ràng.</a:t>
            </a:r>
            <a:endParaRPr lang="vi-VN"/>
          </a:p>
          <a:p>
            <a:endParaRPr lang="vi-VN"/>
          </a:p>
          <a:p>
            <a:r>
              <a:rPr lang="vi-VN"/>
              <a:t>THAO TAC: Nếu được hỏi CI mới nhất, mở đúng run thực tế; không suy từ số test local thành trạng thái CI hiện tại.</a:t>
            </a:r>
            <a:endParaRPr lang="vi-VN"/>
          </a:p>
          <a:p>
            <a:endParaRPr lang="vi-VN"/>
          </a:p>
          <a:p>
            <a:r>
              <a:rPr lang="vi-VN"/>
              <a:t>NGUON:</a:t>
            </a:r>
            <a:endParaRPr lang="vi-VN"/>
          </a:p>
          <a:p>
            <a:r>
              <a:rPr lang="vi-VN"/>
              <a:t>VERIFICATION.md: Simulation cách ly 03/10/2026</a:t>
            </a:r>
            <a:endParaRPr lang="vi-VN"/>
          </a:p>
          <a:p>
            <a:r>
              <a:rPr lang="vi-VN"/>
              <a:t>reports/simulation-verification.json</a:t>
            </a:r>
            <a:endParaRPr lang="vi-VN"/>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Ngo Anh Duc</a:t>
            </a:r>
            <a:endParaRPr lang="vi-VN"/>
          </a:p>
          <a:p>
            <a:r>
              <a:rPr lang="vi-VN"/>
              <a:t>Thoi luong: 0 giay</a:t>
            </a:r>
            <a:endParaRPr lang="vi-VN"/>
          </a:p>
          <a:p>
            <a:endParaRPr lang="vi-VN"/>
          </a:p>
          <a:p>
            <a:r>
              <a:rPr lang="vi-VN"/>
              <a:t>Đây là phân công trách nhiệm để nhóm duy trì và bàn giao dự án. Dương phụ trách core service và vòng đời model. Hiệp phụ trách kiểm chứng chất lượng, evaluation và evidence. Hải phụ trách container, runner và triển khai. Đức phụ trách báo cáo, sơ đồ, slide và tổ chức demo. Việc phân công này cần được chứng minh bằng phần việc và review thực tế; nhóm không dùng riêng metadata Git để thay thế bằng chứng đóng góp. Khi bảo vệ, mỗi thành viên cần giải thích được phần mình và mối nối với toàn bộ hệ thống.</a:t>
            </a:r>
            <a:endParaRPr lang="vi-VN"/>
          </a:p>
          <a:p>
            <a:endParaRPr lang="vi-VN"/>
          </a:p>
          <a:p>
            <a:r>
              <a:rPr lang="vi-VN"/>
              <a:t>THAO TAC: Không đọc email hoặc đưa lịch sử rewrite Git lên slide trình bày chính.</a:t>
            </a:r>
            <a:endParaRPr lang="vi-VN"/>
          </a:p>
          <a:p>
            <a:endParaRPr lang="vi-VN"/>
          </a:p>
          <a:p>
            <a:r>
              <a:rPr lang="vi-VN"/>
              <a:t>NGUON:</a:t>
            </a:r>
            <a:endParaRPr lang="vi-VN"/>
          </a:p>
          <a:p>
            <a:r>
              <a:rPr lang="vi-VN"/>
              <a:t>CONTRIBUTING.md</a:t>
            </a:r>
            <a:endParaRPr lang="vi-VN"/>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vi-VN"/>
              <a:t>Nguoi trinh bay: Ngo Anh Duc</a:t>
            </a:r>
            <a:endParaRPr lang="vi-VN"/>
          </a:p>
          <a:p>
            <a:r>
              <a:rPr lang="vi-VN"/>
              <a:t>Thoi luong: 0 giay</a:t>
            </a:r>
            <a:endParaRPr lang="vi-VN"/>
          </a:p>
          <a:p>
            <a:endParaRPr lang="vi-VN"/>
          </a:p>
          <a:p>
            <a:r>
              <a:rPr lang="vi-VN"/>
              <a:t>Nguồn của bộ slide là implementation và tài liệu hiện có trong repository. Evidence simulation được đối chiếu với báo cáo đã lưu, nhưng bản thuyết trình chỉ đưa số liệu tổng hợp, không chứa credentials hoặc biometric media. Các số liệu có ngày kiểm chứng để tránh nhầm với trạng thái runtime hiện tại. Nếu cần công bố accuracy hoặc tác động giảm gian lận, nhóm phải thực hiện nghiên cứu riêng trên dữ liệu được phép sử dụng. Không có tuyên bố đó trong bộ slide này.</a:t>
            </a:r>
            <a:endParaRPr lang="vi-VN"/>
          </a:p>
          <a:p>
            <a:endParaRPr lang="vi-VN"/>
          </a:p>
          <a:p>
            <a:r>
              <a:rPr lang="vi-VN"/>
              <a:t>THAO TAC: Repo công khai: https://github.com/FSB-MSA36HN/DDM501-face-voice-proctoring</a:t>
            </a:r>
            <a:endParaRPr lang="vi-VN"/>
          </a:p>
          <a:p>
            <a:endParaRPr lang="vi-VN"/>
          </a:p>
          <a:p>
            <a:r>
              <a:rPr lang="vi-VN"/>
              <a:t>NGUON:</a:t>
            </a:r>
            <a:endParaRPr lang="vi-VN"/>
          </a:p>
          <a:p>
            <a:r>
              <a:rPr lang="vi-VN"/>
              <a:t>https://github.com/FSB-MSA36HN/DDM501-face-voice-proctoring</a:t>
            </a:r>
            <a:endParaRPr lang="vi-VN"/>
          </a:p>
          <a:p>
            <a:r>
              <a:rPr lang="vi-VN"/>
              <a:t>VERIFICATION.md</a:t>
            </a:r>
            <a:endParaRPr lang="vi-VN"/>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7" Type="http://schemas.openxmlformats.org/officeDocument/2006/relationships/tags" Target="../tags/tag21.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5" Type="http://schemas.openxmlformats.org/officeDocument/2006/relationships/tags" Target="../tags/tag33.xml"/><Relationship Id="rId4" Type="http://schemas.openxmlformats.org/officeDocument/2006/relationships/tags" Target="../tags/tag32.xml"/><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7" Type="http://schemas.openxmlformats.org/officeDocument/2006/relationships/tags" Target="../tags/tag42.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47.xml"/><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custDataLst>
              <p:tags r:id="rId2"/>
            </p:custDataLst>
          </p:nvPr>
        </p:nvSpPr>
        <p:spPr>
          <a:xfrm>
            <a:off x="1198800" y="914400"/>
            <a:ext cx="9799200" cy="2570400"/>
          </a:xfrm>
        </p:spPr>
        <p:txBody>
          <a:bodyPr lIns="90000" tIns="46800" rIns="90000" bIns="46800" anchor="b" anchorCtr="0">
            <a:normAutofit/>
          </a:bodyPr>
          <a:lstStyle>
            <a:lvl1pPr algn="ctr">
              <a:defRPr sz="6000"/>
            </a:lvl1pPr>
          </a:lstStyle>
          <a:p>
            <a:r>
              <a:rPr lang="en-US" dirty="0"/>
              <a:t>Click to edit Master title style</a:t>
            </a:r>
            <a:endParaRPr lang="en-US" dirty="0"/>
          </a:p>
        </p:txBody>
      </p:sp>
      <p:sp>
        <p:nvSpPr>
          <p:cNvPr id="3" name="Subtitle 2"/>
          <p:cNvSpPr>
            <a:spLocks noGrp="1"/>
          </p:cNvSpPr>
          <p:nvPr>
            <p:ph type="subTitle" idx="1"/>
            <p:custDataLst>
              <p:tags r:id="rId3"/>
            </p:custDataLst>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US" dirty="0"/>
          </a:p>
        </p:txBody>
      </p:sp>
      <p:sp>
        <p:nvSpPr>
          <p:cNvPr id="16" name="Date Placeholder 15"/>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17" name="Footer Placeholder 16"/>
          <p:cNvSpPr>
            <a:spLocks noGrp="1"/>
          </p:cNvSpPr>
          <p:nvPr>
            <p:ph type="ftr" sz="quarter" idx="11"/>
            <p:custDataLst>
              <p:tags r:id="rId5"/>
            </p:custDataLst>
          </p:nvPr>
        </p:nvSpPr>
        <p:spPr/>
        <p:txBody>
          <a:bodyPr/>
          <a:lstStyle/>
          <a:p>
            <a:endParaRPr lang="en-US" dirty="0"/>
          </a:p>
        </p:txBody>
      </p:sp>
      <p:sp>
        <p:nvSpPr>
          <p:cNvPr id="18" name="Slide Number Placeholder 17"/>
          <p:cNvSpPr>
            <a:spLocks noGrp="1"/>
          </p:cNvSpPr>
          <p:nvPr>
            <p:ph type="sldNum" sz="quarter" idx="12"/>
            <p:custDataLst>
              <p:tags r:id="rId6"/>
            </p:custDataLst>
          </p:nvPr>
        </p:nvSpPr>
        <p:spPr/>
        <p:txBody>
          <a:bodyPr/>
          <a:lstStyle/>
          <a:p>
            <a:fld id="{49AE70B2-8BF9-45C0-BB95-33D1B9D3A854}" type="slidenum">
              <a:rPr lang="en-US" smtClean="0"/>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Content Placeholder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a:lvl1pPr>
          </a:lstStyle>
          <a:p>
            <a:r>
              <a:rPr lang="en-US" dirty="0"/>
              <a:t>Click to edit title</a:t>
            </a:r>
            <a:endParaRPr lang="en-US" dirty="0"/>
          </a:p>
        </p:txBody>
      </p:sp>
      <p:sp>
        <p:nvSpPr>
          <p:cNvPr id="3" name="Text Placeholder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text</a:t>
            </a:r>
            <a:endParaRPr lang="en-US" dirty="0"/>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Content Placeholder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5" name="Date Placeholder 4"/>
          <p:cNvSpPr>
            <a:spLocks noGrp="1"/>
          </p:cNvSpPr>
          <p:nvPr>
            <p:ph type="dt" sz="half" idx="10"/>
            <p:custDataLst>
              <p:tags r:id="rId5"/>
            </p:custDataLst>
          </p:nvPr>
        </p:nvSpPr>
        <p:spPr/>
        <p:txBody>
          <a:bodyPr/>
          <a:lstStyle/>
          <a:p>
            <a:fld id="{760FBDFE-C587-4B4C-A407-44438C67B59E}" type="datetimeFigureOut">
              <a:rPr lang="en-US" smtClean="0"/>
            </a:fld>
            <a:endParaRPr lang="en-US"/>
          </a:p>
        </p:txBody>
      </p:sp>
      <p:sp>
        <p:nvSpPr>
          <p:cNvPr id="6" name="Footer Placeholder 5"/>
          <p:cNvSpPr>
            <a:spLocks noGrp="1"/>
          </p:cNvSpPr>
          <p:nvPr>
            <p:ph type="ftr" sz="quarter" idx="11"/>
            <p:custDataLst>
              <p:tags r:id="rId6"/>
            </p:custDataLst>
          </p:nvPr>
        </p:nvSpPr>
        <p:spPr/>
        <p:txBody>
          <a:bodyPr/>
          <a:lstStyle/>
          <a:p>
            <a:endParaRPr lang="en-US"/>
          </a:p>
        </p:txBody>
      </p:sp>
      <p:sp>
        <p:nvSpPr>
          <p:cNvPr id="7" name="Slide Number Placeholder 6"/>
          <p:cNvSpPr>
            <a:spLocks noGrp="1"/>
          </p:cNvSpPr>
          <p:nvPr>
            <p:ph type="sldNum" sz="quarter" idx="12"/>
            <p:custDataLst>
              <p:tags r:id="rId7"/>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Text Placeholder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text</a:t>
            </a:r>
            <a:endParaRPr lang="en-US" dirty="0"/>
          </a:p>
        </p:txBody>
      </p:sp>
      <p:sp>
        <p:nvSpPr>
          <p:cNvPr id="4" name="Content Placeholder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text</a:t>
            </a:r>
            <a:endParaRPr lang="en-US"/>
          </a:p>
        </p:txBody>
      </p:sp>
      <p:sp>
        <p:nvSpPr>
          <p:cNvPr id="6" name="Content Placeholder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custDataLst>
              <p:tags r:id="rId7"/>
            </p:custDataLst>
          </p:nvPr>
        </p:nvSpPr>
        <p:spPr/>
        <p:txBody>
          <a:bodyPr/>
          <a:lstStyle/>
          <a:p>
            <a:fld id="{760FBDFE-C587-4B4C-A407-44438C67B59E}" type="datetimeFigureOut">
              <a:rPr lang="en-US" smtClean="0"/>
            </a:fld>
            <a:endParaRPr lang="en-US"/>
          </a:p>
        </p:txBody>
      </p:sp>
      <p:sp>
        <p:nvSpPr>
          <p:cNvPr id="8" name="Footer Placeholder 7"/>
          <p:cNvSpPr>
            <a:spLocks noGrp="1"/>
          </p:cNvSpPr>
          <p:nvPr>
            <p:ph type="ftr" sz="quarter" idx="11"/>
            <p:custDataLst>
              <p:tags r:id="rId8"/>
            </p:custDataLst>
          </p:nvPr>
        </p:nvSpPr>
        <p:spPr/>
        <p:txBody>
          <a:bodyPr/>
          <a:lstStyle/>
          <a:p>
            <a:endParaRPr lang="en-US"/>
          </a:p>
        </p:txBody>
      </p:sp>
      <p:sp>
        <p:nvSpPr>
          <p:cNvPr id="9" name="Slide Number Placeholder 8"/>
          <p:cNvSpPr>
            <a:spLocks noGrp="1"/>
          </p:cNvSpPr>
          <p:nvPr>
            <p:ph type="sldNum" sz="quarter" idx="12"/>
            <p:custDataLst>
              <p:tags r:id="rId9"/>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en-US" smtClean="0"/>
              <a:t>Click to edit Master title style</a:t>
            </a:r>
            <a:endParaRPr lang="en-US"/>
          </a:p>
        </p:txBody>
      </p:sp>
      <p:sp>
        <p:nvSpPr>
          <p:cNvPr id="3" name="Date Placeholder 2"/>
          <p:cNvSpPr>
            <a:spLocks noGrp="1"/>
          </p:cNvSpPr>
          <p:nvPr>
            <p:ph type="dt" sz="half" idx="10"/>
            <p:custDataLst>
              <p:tags r:id="rId3"/>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4"/>
            </p:custDataLst>
          </p:nvPr>
        </p:nvSpPr>
        <p:spPr/>
        <p:txBody>
          <a:bodyPr/>
          <a:lstStyle/>
          <a:p>
            <a:endParaRPr lang="en-US"/>
          </a:p>
        </p:txBody>
      </p:sp>
      <p:sp>
        <p:nvSpPr>
          <p:cNvPr id="5" name="Slide Number Placeholder 4"/>
          <p:cNvSpPr>
            <a:spLocks noGrp="1"/>
          </p:cNvSpPr>
          <p:nvPr>
            <p:ph type="sldNum" sz="quarter" idx="12"/>
            <p:custDataLst>
              <p:tags r:id="rId5"/>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3" name="Footer Placeholder 2"/>
          <p:cNvSpPr>
            <a:spLocks noGrp="1"/>
          </p:cNvSpPr>
          <p:nvPr>
            <p:ph type="ftr" sz="quarter" idx="11"/>
            <p:custDataLst>
              <p:tags r:id="rId3"/>
            </p:custDataLst>
          </p:nvPr>
        </p:nvSpPr>
        <p:spPr/>
        <p:txBody>
          <a:bodyPr/>
          <a:lstStyle/>
          <a:p>
            <a:endParaRPr lang="en-US"/>
          </a:p>
        </p:txBody>
      </p:sp>
      <p:sp>
        <p:nvSpPr>
          <p:cNvPr id="4" name="Slide Number Placeholder 3"/>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en-US"/>
          </a:p>
        </p:txBody>
      </p:sp>
      <p:sp>
        <p:nvSpPr>
          <p:cNvPr id="4" name="Text Placeholder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en-US" smtClean="0"/>
              <a:t>Click to edit Master text styles</a:t>
            </a:r>
            <a:endParaRPr lang="en-US"/>
          </a:p>
        </p:txBody>
      </p:sp>
      <p:sp>
        <p:nvSpPr>
          <p:cNvPr id="5" name="Date Placeholder 4"/>
          <p:cNvSpPr>
            <a:spLocks noGrp="1"/>
          </p:cNvSpPr>
          <p:nvPr>
            <p:ph type="dt" sz="half" idx="10"/>
            <p:custDataLst>
              <p:tags r:id="rId4"/>
            </p:custDataLst>
          </p:nvPr>
        </p:nvSpPr>
        <p:spPr/>
        <p:txBody>
          <a:bodyPr/>
          <a:lstStyle/>
          <a:p>
            <a:fld id="{9EFD9D74-47D9-4702-A33C-335B63B48DBF}" type="datetimeFigureOut">
              <a:rPr lang="en-US" smtClean="0"/>
            </a:fld>
            <a:endParaRPr lang="en-US" dirty="0"/>
          </a:p>
        </p:txBody>
      </p:sp>
      <p:sp>
        <p:nvSpPr>
          <p:cNvPr id="6" name="Footer Placeholder 5"/>
          <p:cNvSpPr>
            <a:spLocks noGrp="1"/>
          </p:cNvSpPr>
          <p:nvPr>
            <p:ph type="ftr" sz="quarter" idx="11"/>
            <p:custDataLst>
              <p:tags r:id="rId5"/>
            </p:custDataLst>
          </p:nvPr>
        </p:nvSpPr>
        <p:spPr/>
        <p:txBody>
          <a:bodyPr/>
          <a:lstStyle/>
          <a:p>
            <a:endParaRPr lang="en-US" dirty="0"/>
          </a:p>
        </p:txBody>
      </p:sp>
      <p:sp>
        <p:nvSpPr>
          <p:cNvPr id="7" name="Slide Number Placeholder 6"/>
          <p:cNvSpPr>
            <a:spLocks noGrp="1"/>
          </p:cNvSpPr>
          <p:nvPr>
            <p:ph type="sldNum" sz="quarter" idx="12"/>
            <p:custDataLst>
              <p:tags r:id="rId6"/>
            </p:custDataLst>
          </p:nvPr>
        </p:nvSpPr>
        <p:spPr/>
        <p:txBody>
          <a:bodyPr/>
          <a:lstStyle/>
          <a:p>
            <a:fld id="{FABC47A4-756D-490B-A52F-7D9E2C9FC05F}" type="slidenum">
              <a:rPr lang="en-US" smtClean="0"/>
            </a:fld>
            <a:endParaRPr lang="en-US"/>
          </a:p>
        </p:txBody>
      </p:sp>
      <p:sp>
        <p:nvSpPr>
          <p:cNvPr id="9" name="Title 8"/>
          <p:cNvSpPr>
            <a:spLocks noGrp="1"/>
          </p:cNvSpPr>
          <p:nvPr>
            <p:ph type="title"/>
            <p:custDataLst>
              <p:tags r:id="rId7"/>
            </p:custDataLst>
          </p:nvPr>
        </p:nvSpPr>
        <p:spPr/>
        <p:txBody>
          <a:bodyPr/>
          <a:p>
            <a:r>
              <a:rPr lang="en-US"/>
              <a:t>Click to edit Master title style</a:t>
            </a:r>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a:buNone/>
              <a:defRPr sz="2800"/>
            </a:lvl1pPr>
          </a:lstStyle>
          <a:p>
            <a:pPr lvl="0"/>
            <a:r>
              <a:rPr lang="en-US" smtClean="0"/>
              <a:t>Click to edit title</a:t>
            </a:r>
            <a:endParaRPr lang="en-US"/>
          </a:p>
        </p:txBody>
      </p:sp>
      <p:sp>
        <p:nvSpPr>
          <p:cNvPr id="3" name="Vertical Text Placeholder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10"/>
            <p:custDataLst>
              <p:tags r:id="rId4"/>
            </p:custDataLst>
          </p:nvPr>
        </p:nvSpPr>
        <p:spPr/>
        <p:txBody>
          <a:bodyPr/>
          <a:lstStyle/>
          <a:p>
            <a:fld id="{760FBDFE-C587-4B4C-A407-44438C67B59E}" type="datetimeFigureOut">
              <a:rPr lang="en-US" smtClean="0"/>
            </a:fld>
            <a:endParaRPr lang="en-US"/>
          </a:p>
        </p:txBody>
      </p:sp>
      <p:sp>
        <p:nvSpPr>
          <p:cNvPr id="5" name="Footer Placeholder 4"/>
          <p:cNvSpPr>
            <a:spLocks noGrp="1"/>
          </p:cNvSpPr>
          <p:nvPr>
            <p:ph type="ftr" sz="quarter" idx="11"/>
            <p:custDataLst>
              <p:tags r:id="rId5"/>
            </p:custDataLst>
          </p:nvPr>
        </p:nvSpPr>
        <p:spPr/>
        <p:txBody>
          <a:bodyPr/>
          <a:lstStyle/>
          <a:p>
            <a:endParaRPr lang="en-US"/>
          </a:p>
        </p:txBody>
      </p:sp>
      <p:sp>
        <p:nvSpPr>
          <p:cNvPr id="6" name="Slide Number Placeholder 5"/>
          <p:cNvSpPr>
            <a:spLocks noGrp="1"/>
          </p:cNvSpPr>
          <p:nvPr>
            <p:ph type="sldNum" sz="quarter" idx="12"/>
            <p:custDataLst>
              <p:tags r:id="rId6"/>
            </p:custDataLst>
          </p:nvPr>
        </p:nvSpPr>
        <p:spPr/>
        <p:txBody>
          <a:bodyPr/>
          <a:lstStyle/>
          <a:p>
            <a:fld id="{49AE70B2-8BF9-45C0-BB95-33D1B9D3A854}"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Date Placeholder 2"/>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3"/>
            </p:custDataLst>
          </p:nvPr>
        </p:nvSpPr>
        <p:spPr/>
        <p:txBody>
          <a:bodyPr/>
          <a:lstStyle/>
          <a:p>
            <a:endParaRPr lang="en-US"/>
          </a:p>
        </p:txBody>
      </p:sp>
      <p:sp>
        <p:nvSpPr>
          <p:cNvPr id="5" name="Slide Number Placeholder 4"/>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
        <p:nvSpPr>
          <p:cNvPr id="7" name="Content Placeholder 6"/>
          <p:cNvSpPr>
            <a:spLocks noGrp="1"/>
          </p:cNvSpPr>
          <p:nvPr>
            <p:ph sz="quarter" idx="13"/>
            <p:custDataLst>
              <p:tags r:id="rId5"/>
            </p:custDataLst>
          </p:nvPr>
        </p:nvSpPr>
        <p:spPr>
          <a:xfrm>
            <a:off x="608400" y="774000"/>
            <a:ext cx="10972800" cy="5482800"/>
          </a:xfrm>
        </p:spPr>
        <p:txBody>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ast Slide">
    <p:spTree>
      <p:nvGrpSpPr>
        <p:cNvPr id="1" name=""/>
        <p:cNvGrpSpPr/>
        <p:nvPr/>
      </p:nvGrpSpPr>
      <p:grpSpPr>
        <a:xfrm>
          <a:off x="0" y="0"/>
          <a:ext cx="0" cy="0"/>
          <a:chOff x="0" y="0"/>
          <a:chExt cx="0" cy="0"/>
        </a:xfrm>
      </p:grpSpPr>
      <p:sp>
        <p:nvSpPr>
          <p:cNvPr id="3" name="Date Placeholder 2"/>
          <p:cNvSpPr>
            <a:spLocks noGrp="1"/>
          </p:cNvSpPr>
          <p:nvPr>
            <p:ph type="dt" sz="half" idx="10"/>
            <p:custDataLst>
              <p:tags r:id="rId2"/>
            </p:custDataLst>
          </p:nvPr>
        </p:nvSpPr>
        <p:spPr/>
        <p:txBody>
          <a:bodyPr/>
          <a:lstStyle/>
          <a:p>
            <a:fld id="{760FBDFE-C587-4B4C-A407-44438C67B59E}" type="datetimeFigureOut">
              <a:rPr lang="en-US" smtClean="0"/>
            </a:fld>
            <a:endParaRPr lang="en-US"/>
          </a:p>
        </p:txBody>
      </p:sp>
      <p:sp>
        <p:nvSpPr>
          <p:cNvPr id="4" name="Footer Placeholder 3"/>
          <p:cNvSpPr>
            <a:spLocks noGrp="1"/>
          </p:cNvSpPr>
          <p:nvPr>
            <p:ph type="ftr" sz="quarter" idx="11"/>
            <p:custDataLst>
              <p:tags r:id="rId3"/>
            </p:custDataLst>
          </p:nvPr>
        </p:nvSpPr>
        <p:spPr/>
        <p:txBody>
          <a:bodyPr/>
          <a:lstStyle/>
          <a:p>
            <a:endParaRPr lang="en-US"/>
          </a:p>
        </p:txBody>
      </p:sp>
      <p:sp>
        <p:nvSpPr>
          <p:cNvPr id="5" name="Slide Number Placeholder 4"/>
          <p:cNvSpPr>
            <a:spLocks noGrp="1"/>
          </p:cNvSpPr>
          <p:nvPr>
            <p:ph type="sldNum" sz="quarter" idx="12"/>
            <p:custDataLst>
              <p:tags r:id="rId4"/>
            </p:custDataLst>
          </p:nvPr>
        </p:nvSpPr>
        <p:spPr/>
        <p:txBody>
          <a:bodyPr/>
          <a:lstStyle/>
          <a:p>
            <a:fld id="{49AE70B2-8BF9-45C0-BB95-33D1B9D3A854}" type="slidenum">
              <a:rPr lang="en-US" smtClean="0"/>
            </a:fld>
            <a:endParaRPr lang="en-US"/>
          </a:p>
        </p:txBody>
      </p:sp>
      <p:sp>
        <p:nvSpPr>
          <p:cNvPr id="2" name="Title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algn="ctr">
              <a:defRPr sz="6000"/>
            </a:lvl1pPr>
          </a:lstStyle>
          <a:p>
            <a:pPr lvl="0"/>
            <a:r>
              <a:rPr lang="en-US" smtClean="0"/>
              <a:t>Click to edit title</a:t>
            </a:r>
            <a:endParaRPr lang="en-US"/>
          </a:p>
        </p:txBody>
      </p:sp>
      <p:sp>
        <p:nvSpPr>
          <p:cNvPr id="7" name="Text Placeholder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a:r>
              <a:rPr lang="en-US" dirty="0"/>
              <a:t>Click to edit Master text styles</a:t>
            </a: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8" Type="http://schemas.openxmlformats.org/officeDocument/2006/relationships/theme" Target="../theme/theme1.xml"/><Relationship Id="rId17" Type="http://schemas.openxmlformats.org/officeDocument/2006/relationships/tags" Target="../tags/tag62.xml"/><Relationship Id="rId16" Type="http://schemas.openxmlformats.org/officeDocument/2006/relationships/tags" Target="../tags/tag61.xml"/><Relationship Id="rId15" Type="http://schemas.openxmlformats.org/officeDocument/2006/relationships/tags" Target="../tags/tag60.xml"/><Relationship Id="rId14" Type="http://schemas.openxmlformats.org/officeDocument/2006/relationships/tags" Target="../tags/tag59.xml"/><Relationship Id="rId13" Type="http://schemas.openxmlformats.org/officeDocument/2006/relationships/tags" Target="../tags/tag58.xml"/><Relationship Id="rId12" Type="http://schemas.openxmlformats.org/officeDocument/2006/relationships/tags" Target="../tags/tag57.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en-US" dirty="0"/>
              <a:t>Click to edit Master title style</a:t>
            </a:r>
            <a:endParaRPr lang="en-US" dirty="0"/>
          </a:p>
        </p:txBody>
      </p:sp>
      <p:sp>
        <p:nvSpPr>
          <p:cNvPr id="3" name="Text Placeholder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en-US" dirty="0"/>
              <a:t>Click to edit Master text styles</a:t>
            </a:r>
            <a:endParaRPr lang="en-US" dirty="0"/>
          </a:p>
          <a:p>
            <a:pPr lvl="1"/>
            <a:r>
              <a:rPr lang="en-US" dirty="0"/>
              <a:t>Second level</a:t>
            </a:r>
            <a:endParaRPr lang="en-US" dirty="0"/>
          </a:p>
          <a:p>
            <a:pPr lvl="2"/>
            <a:r>
              <a:rPr lang="en-US" dirty="0"/>
              <a:t>Third level</a:t>
            </a:r>
            <a:endParaRPr lang="en-US" dirty="0"/>
          </a:p>
          <a:p>
            <a:pPr lvl="3"/>
            <a:r>
              <a:rPr lang="en-US" dirty="0"/>
              <a:t>Fourth level</a:t>
            </a:r>
            <a:endParaRPr lang="en-US" dirty="0"/>
          </a:p>
          <a:p>
            <a:pPr lvl="4"/>
            <a:r>
              <a:rPr lang="en-US" dirty="0"/>
              <a:t>Fifth level</a:t>
            </a:r>
            <a:endParaRPr lang="en-US" dirty="0"/>
          </a:p>
        </p:txBody>
      </p:sp>
      <p:sp>
        <p:nvSpPr>
          <p:cNvPr id="4" name="Date Placeholder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760FBDFE-C587-4B4C-A407-44438C67B59E}" type="datetimeFigureOut">
              <a:rPr lang="en-US" smtClean="0"/>
            </a:fld>
            <a:endParaRPr lang="en-US"/>
          </a:p>
        </p:txBody>
      </p:sp>
      <p:sp>
        <p:nvSpPr>
          <p:cNvPr id="5" name="Footer Placeholder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en-US" dirty="0"/>
          </a:p>
        </p:txBody>
      </p:sp>
      <p:sp>
        <p:nvSpPr>
          <p:cNvPr id="6" name="Slide Number Placeholder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en-US" smtClean="0"/>
            </a:fld>
            <a:endParaRPr lang="en-US" dirty="0"/>
          </a:p>
        </p:txBody>
      </p:sp>
    </p:spTree>
    <p:custDataLst>
      <p:tags r:id="rId1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fontAlgn="auto" latinLnBrk="0" hangingPunct="1">
        <a:lnSpc>
          <a:spcPct val="100000"/>
        </a:lnSpc>
        <a:spcBef>
          <a:spcPct val="0"/>
        </a:spcBef>
        <a:buNone/>
        <a:defRPr sz="3600" b="0"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1</a:t>
            </a:r>
            <a:endParaRPr lang="vi-VN" sz="1000">
              <a:solidFill>
                <a:srgbClr val="526673"/>
              </a:solidFill>
              <a:latin typeface="Segoe UI" panose="020B0502040204020203" charset="0"/>
              <a:cs typeface="Segoe UI" panose="020B0502040204020203" charset="0"/>
            </a:endParaRPr>
          </a:p>
        </p:txBody>
      </p:sp>
      <p:sp>
        <p:nvSpPr>
          <p:cNvPr id="4" name="Text Box 3"/>
          <p:cNvSpPr txBox="1"/>
          <p:nvPr/>
        </p:nvSpPr>
        <p:spPr>
          <a:xfrm>
            <a:off x="584200" y="927100"/>
            <a:ext cx="7747000" cy="276860"/>
          </a:xfrm>
          <a:prstGeom prst="rect">
            <a:avLst/>
          </a:prstGeom>
          <a:noFill/>
        </p:spPr>
        <p:txBody>
          <a:bodyPr wrap="square" lIns="0" tIns="0" rIns="0" bIns="0" rtlCol="0" anchor="t">
            <a:noAutofit/>
          </a:bodyPr>
          <a:p>
            <a:pPr indent="0">
              <a:spcAft>
                <a:spcPts val="700"/>
              </a:spcAft>
              <a:buNone/>
            </a:pPr>
            <a:r>
              <a:rPr lang="vi-VN" sz="5400" b="1">
                <a:solidFill>
                  <a:srgbClr val="172F3C"/>
                </a:solidFill>
                <a:latin typeface="Segoe UI" panose="020B0502040204020203" charset="0"/>
                <a:cs typeface="Segoe UI" panose="020B0502040204020203" charset="0"/>
              </a:rPr>
              <a:t>Ai thực sự đang làm bài?</a:t>
            </a:r>
            <a:endParaRPr lang="vi-VN" sz="5400" b="1">
              <a:solidFill>
                <a:srgbClr val="172F3C"/>
              </a:solidFill>
              <a:latin typeface="Segoe UI" panose="020B0502040204020203" charset="0"/>
              <a:cs typeface="Segoe UI" panose="020B0502040204020203" charset="0"/>
            </a:endParaRPr>
          </a:p>
        </p:txBody>
      </p:sp>
      <p:sp>
        <p:nvSpPr>
          <p:cNvPr id="5" name="Text Box 4"/>
          <p:cNvSpPr txBox="1"/>
          <p:nvPr/>
        </p:nvSpPr>
        <p:spPr>
          <a:xfrm>
            <a:off x="609600" y="3429000"/>
            <a:ext cx="7620000" cy="276860"/>
          </a:xfrm>
          <a:prstGeom prst="rect">
            <a:avLst/>
          </a:prstGeom>
          <a:noFill/>
        </p:spPr>
        <p:txBody>
          <a:bodyPr wrap="square" lIns="0" tIns="0" rIns="0" bIns="0" rtlCol="0" anchor="t">
            <a:noAutofit/>
          </a:bodyPr>
          <a:p>
            <a:pPr indent="0">
              <a:spcAft>
                <a:spcPts val="700"/>
              </a:spcAft>
              <a:buNone/>
            </a:pPr>
            <a:r>
              <a:rPr lang="vi-VN" sz="3000" b="1">
                <a:solidFill>
                  <a:srgbClr val="176E68"/>
                </a:solidFill>
                <a:latin typeface="Segoe UI" panose="020B0502040204020203" charset="0"/>
                <a:cs typeface="Segoe UI" panose="020B0502040204020203" charset="0"/>
              </a:rPr>
              <a:t>Face + Voice Integrity</a:t>
            </a:r>
            <a:endParaRPr lang="vi-VN" sz="3000" b="1">
              <a:solidFill>
                <a:srgbClr val="176E68"/>
              </a:solidFill>
              <a:latin typeface="Segoe UI" panose="020B0502040204020203" charset="0"/>
              <a:cs typeface="Segoe UI" panose="020B0502040204020203" charset="0"/>
            </a:endParaRPr>
          </a:p>
        </p:txBody>
      </p:sp>
      <p:sp>
        <p:nvSpPr>
          <p:cNvPr id="6" name="Text Box 5"/>
          <p:cNvSpPr txBox="1"/>
          <p:nvPr/>
        </p:nvSpPr>
        <p:spPr>
          <a:xfrm>
            <a:off x="609600" y="4140200"/>
            <a:ext cx="7239000" cy="276860"/>
          </a:xfrm>
          <a:prstGeom prst="rect">
            <a:avLst/>
          </a:prstGeom>
          <a:noFill/>
        </p:spPr>
        <p:txBody>
          <a:bodyPr wrap="square" lIns="0" tIns="0" rIns="0" bIns="0" rtlCol="0" anchor="t">
            <a:noAutofit/>
          </a:bodyPr>
          <a:p>
            <a:pPr indent="0">
              <a:spcAft>
                <a:spcPts val="700"/>
              </a:spcAft>
              <a:buNone/>
            </a:pPr>
            <a:r>
              <a:rPr lang="vi-VN" sz="2400">
                <a:solidFill>
                  <a:srgbClr val="172F3C"/>
                </a:solidFill>
                <a:latin typeface="Segoe UI" panose="020B0502040204020203" charset="0"/>
                <a:cs typeface="Segoe UI" panose="020B0502040204020203" charset="0"/>
              </a:rPr>
              <a:t>Xác minh danh tính cho kỳ đánh giá ngoại ngữ doanh nghiệp</a:t>
            </a:r>
            <a:endParaRPr lang="vi-VN" sz="2400">
              <a:solidFill>
                <a:srgbClr val="172F3C"/>
              </a:solidFill>
              <a:latin typeface="Segoe UI" panose="020B0502040204020203" charset="0"/>
              <a:cs typeface="Segoe UI" panose="020B0502040204020203" charset="0"/>
            </a:endParaRPr>
          </a:p>
        </p:txBody>
      </p:sp>
      <p:sp>
        <p:nvSpPr>
          <p:cNvPr id="7" name="Text Box 6"/>
          <p:cNvSpPr txBox="1"/>
          <p:nvPr/>
        </p:nvSpPr>
        <p:spPr>
          <a:xfrm>
            <a:off x="609600" y="5727700"/>
            <a:ext cx="10414000" cy="276860"/>
          </a:xfrm>
          <a:prstGeom prst="rect">
            <a:avLst/>
          </a:prstGeom>
          <a:noFill/>
        </p:spPr>
        <p:txBody>
          <a:bodyPr wrap="square" lIns="0" tIns="0" rIns="0" bIns="0" rtlCol="0" anchor="t">
            <a:noAutofit/>
          </a:bodyPr>
          <a:p>
            <a:pPr indent="0">
              <a:spcAft>
                <a:spcPts val="700"/>
              </a:spcAft>
              <a:buNone/>
            </a:pPr>
            <a:r>
              <a:rPr lang="vi-VN" sz="1600">
                <a:solidFill>
                  <a:srgbClr val="172F3C"/>
                </a:solidFill>
                <a:latin typeface="Segoe UI" panose="020B0502040204020203" charset="0"/>
                <a:cs typeface="Segoe UI" panose="020B0502040204020203" charset="0"/>
              </a:rPr>
              <a:t>Trịnh Đức Dương    Do Quang Hiep    To Thanh Hai    Ngo Anh Duc</a:t>
            </a:r>
            <a:endParaRPr lang="vi-VN" sz="1600">
              <a:solidFill>
                <a:srgbClr val="172F3C"/>
              </a:solidFill>
              <a:latin typeface="Segoe UI" panose="020B0502040204020203" charset="0"/>
              <a:cs typeface="Segoe UI" panose="020B0502040204020203" charset="0"/>
            </a:endParaRPr>
          </a:p>
        </p:txBody>
      </p:sp>
      <p:sp>
        <p:nvSpPr>
          <p:cNvPr id="8" name="Text Box 7"/>
          <p:cNvSpPr txBox="1"/>
          <p:nvPr/>
        </p:nvSpPr>
        <p:spPr>
          <a:xfrm>
            <a:off x="609600" y="6184900"/>
            <a:ext cx="6985000" cy="276860"/>
          </a:xfrm>
          <a:prstGeom prst="rect">
            <a:avLst/>
          </a:prstGeom>
          <a:noFill/>
        </p:spPr>
        <p:txBody>
          <a:bodyPr wrap="square" lIns="0" tIns="0" rIns="0" bIns="0" rtlCol="0" anchor="t">
            <a:noAutofit/>
          </a:bodyPr>
          <a:p>
            <a:pPr indent="0">
              <a:spcAft>
                <a:spcPts val="700"/>
              </a:spcAft>
              <a:buNone/>
            </a:pPr>
            <a:r>
              <a:rPr lang="vi-VN" sz="1300">
                <a:solidFill>
                  <a:srgbClr val="526673"/>
                </a:solidFill>
                <a:latin typeface="Segoe UI" panose="020B0502040204020203" charset="0"/>
                <a:cs typeface="Segoe UI" panose="020B0502040204020203" charset="0"/>
              </a:rPr>
              <a:t>DDM501 · FSB-MSA36HN</a:t>
            </a:r>
            <a:endParaRPr lang="vi-VN" sz="1300">
              <a:solidFill>
                <a:srgbClr val="526673"/>
              </a:solidFill>
              <a:latin typeface="Segoe UI" panose="020B0502040204020203" charset="0"/>
              <a:cs typeface="Segoe UI" panose="020B0502040204020203" charset="0"/>
            </a:endParaRPr>
          </a:p>
        </p:txBody>
      </p:sp>
      <p:sp>
        <p:nvSpPr>
          <p:cNvPr id="9" name="Oval 8"/>
          <p:cNvSpPr/>
          <p:nvPr/>
        </p:nvSpPr>
        <p:spPr>
          <a:xfrm>
            <a:off x="9042400" y="1333500"/>
            <a:ext cx="1651000" cy="1651000"/>
          </a:xfrm>
          <a:prstGeom prst="ellipse">
            <a:avLst/>
          </a:prstGeom>
          <a:solidFill>
            <a:srgbClr val="F2DFD1"/>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Oval 9"/>
          <p:cNvSpPr/>
          <p:nvPr/>
        </p:nvSpPr>
        <p:spPr>
          <a:xfrm>
            <a:off x="9588500" y="1739900"/>
            <a:ext cx="558800" cy="558800"/>
          </a:xfrm>
          <a:prstGeom prst="ellipse">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1" name="Oval 10"/>
          <p:cNvSpPr/>
          <p:nvPr/>
        </p:nvSpPr>
        <p:spPr>
          <a:xfrm>
            <a:off x="9309100" y="2413000"/>
            <a:ext cx="1117600" cy="330200"/>
          </a:xfrm>
          <a:prstGeom prst="ellipse">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2" name="Rectangle 11"/>
          <p:cNvSpPr/>
          <p:nvPr/>
        </p:nvSpPr>
        <p:spPr>
          <a:xfrm>
            <a:off x="8750300" y="3911600"/>
            <a:ext cx="88900" cy="254000"/>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3" name="Rectangle 12"/>
          <p:cNvSpPr/>
          <p:nvPr/>
        </p:nvSpPr>
        <p:spPr>
          <a:xfrm>
            <a:off x="8966200" y="3598545"/>
            <a:ext cx="88900" cy="879475"/>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Rectangle 13"/>
          <p:cNvSpPr/>
          <p:nvPr/>
        </p:nvSpPr>
        <p:spPr>
          <a:xfrm>
            <a:off x="9182100" y="3655695"/>
            <a:ext cx="88900" cy="765175"/>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 14"/>
          <p:cNvSpPr/>
          <p:nvPr/>
        </p:nvSpPr>
        <p:spPr>
          <a:xfrm>
            <a:off x="9398000" y="3807460"/>
            <a:ext cx="88900" cy="461645"/>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Rectangle 15"/>
          <p:cNvSpPr/>
          <p:nvPr/>
        </p:nvSpPr>
        <p:spPr>
          <a:xfrm>
            <a:off x="9613900" y="3570605"/>
            <a:ext cx="88900" cy="935355"/>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7" name="Rectangle 16"/>
          <p:cNvSpPr/>
          <p:nvPr/>
        </p:nvSpPr>
        <p:spPr>
          <a:xfrm>
            <a:off x="9829800" y="3736975"/>
            <a:ext cx="88900" cy="602615"/>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8" name="Rectangle 17"/>
          <p:cNvSpPr/>
          <p:nvPr/>
        </p:nvSpPr>
        <p:spPr>
          <a:xfrm>
            <a:off x="10045700" y="3712845"/>
            <a:ext cx="88900" cy="650875"/>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9" name="Rectangle 18"/>
          <p:cNvSpPr/>
          <p:nvPr/>
        </p:nvSpPr>
        <p:spPr>
          <a:xfrm>
            <a:off x="10261600" y="3575050"/>
            <a:ext cx="88900" cy="926465"/>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0" name="Rectangle 19"/>
          <p:cNvSpPr/>
          <p:nvPr/>
        </p:nvSpPr>
        <p:spPr>
          <a:xfrm>
            <a:off x="10477500" y="3834765"/>
            <a:ext cx="88900" cy="407035"/>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1" name="Rectangle 20"/>
          <p:cNvSpPr/>
          <p:nvPr/>
        </p:nvSpPr>
        <p:spPr>
          <a:xfrm>
            <a:off x="10693400" y="3637280"/>
            <a:ext cx="88900" cy="802005"/>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2" name="Rectangle 21"/>
          <p:cNvSpPr/>
          <p:nvPr/>
        </p:nvSpPr>
        <p:spPr>
          <a:xfrm>
            <a:off x="10909300" y="3611245"/>
            <a:ext cx="88900" cy="854075"/>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Một tài khoản đúng, một người làm bài khác</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2</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Tình huống giả định để mô tả bài toán, không phải sự cố đã ghi nhận tại một doanh nghiệp</a:t>
            </a:r>
            <a:endParaRPr lang="vi-VN" sz="1200">
              <a:solidFill>
                <a:srgbClr val="526673"/>
              </a:solidFill>
              <a:latin typeface="Segoe UI" panose="020B0502040204020203" charset="0"/>
              <a:cs typeface="Segoe UI" panose="020B0502040204020203" charset="0"/>
            </a:endParaRPr>
          </a:p>
        </p:txBody>
      </p:sp>
      <p:cxnSp>
        <p:nvCxnSpPr>
          <p:cNvPr id="6" name="Straight Connector 5"/>
          <p:cNvCxnSpPr/>
          <p:nvPr/>
        </p:nvCxnSpPr>
        <p:spPr>
          <a:xfrm>
            <a:off x="990600" y="2730500"/>
            <a:ext cx="10109200" cy="635"/>
          </a:xfrm>
          <a:prstGeom prst="line">
            <a:avLst/>
          </a:prstGeom>
          <a:ln w="38100">
            <a:solidFill>
              <a:srgbClr val="BB542A"/>
            </a:solidFill>
          </a:ln>
        </p:spPr>
        <p:style>
          <a:lnRef idx="2">
            <a:schemeClr val="accent1"/>
          </a:lnRef>
          <a:fillRef idx="0">
            <a:srgbClr val="FFFFFF"/>
          </a:fillRef>
          <a:effectRef idx="0">
            <a:srgbClr val="FFFFFF"/>
          </a:effectRef>
          <a:fontRef idx="minor">
            <a:schemeClr val="tx1"/>
          </a:fontRef>
        </p:style>
      </p:cxnSp>
      <p:sp>
        <p:nvSpPr>
          <p:cNvPr id="7" name="Text Box 6"/>
          <p:cNvSpPr txBox="1"/>
          <p:nvPr/>
        </p:nvSpPr>
        <p:spPr>
          <a:xfrm>
            <a:off x="584200" y="1981200"/>
            <a:ext cx="3403600" cy="276860"/>
          </a:xfrm>
          <a:prstGeom prst="rect">
            <a:avLst/>
          </a:prstGeom>
          <a:noFill/>
        </p:spPr>
        <p:txBody>
          <a:bodyPr wrap="square" lIns="0" tIns="0" rIns="0" bIns="0" rtlCol="0" anchor="t">
            <a:noAutofit/>
          </a:bodyPr>
          <a:p>
            <a:pPr indent="0">
              <a:spcAft>
                <a:spcPts val="700"/>
              </a:spcAft>
              <a:buNone/>
            </a:pPr>
            <a:r>
              <a:rPr lang="vi-VN" sz="2800" b="1">
                <a:solidFill>
                  <a:srgbClr val="BB542A"/>
                </a:solidFill>
                <a:latin typeface="Segoe UI" panose="020B0502040204020203" charset="0"/>
                <a:cs typeface="Segoe UI" panose="020B0502040204020203" charset="0"/>
              </a:rPr>
              <a:t>08:55</a:t>
            </a:r>
            <a:endParaRPr lang="vi-VN" sz="2800" b="1">
              <a:solidFill>
                <a:srgbClr val="BB542A"/>
              </a:solidFill>
              <a:latin typeface="Segoe UI" panose="020B0502040204020203" charset="0"/>
              <a:cs typeface="Segoe UI" panose="020B0502040204020203" charset="0"/>
            </a:endParaRPr>
          </a:p>
        </p:txBody>
      </p:sp>
      <p:sp>
        <p:nvSpPr>
          <p:cNvPr id="8" name="Oval 7"/>
          <p:cNvSpPr/>
          <p:nvPr/>
        </p:nvSpPr>
        <p:spPr>
          <a:xfrm>
            <a:off x="711200" y="2641600"/>
            <a:ext cx="177800" cy="177800"/>
          </a:xfrm>
          <a:prstGeom prst="ellipse">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Text Box 8"/>
          <p:cNvSpPr txBox="1"/>
          <p:nvPr/>
        </p:nvSpPr>
        <p:spPr>
          <a:xfrm>
            <a:off x="584200" y="3213100"/>
            <a:ext cx="3365500" cy="276860"/>
          </a:xfrm>
          <a:prstGeom prst="rect">
            <a:avLst/>
          </a:prstGeom>
          <a:noFill/>
        </p:spPr>
        <p:txBody>
          <a:bodyPr wrap="square" lIns="0" tIns="0" rIns="0" bIns="0" rtlCol="0" anchor="t">
            <a:noAutofit/>
          </a:bodyPr>
          <a:p>
            <a:pPr indent="0">
              <a:spcAft>
                <a:spcPts val="700"/>
              </a:spcAft>
              <a:buNone/>
            </a:pPr>
            <a:r>
              <a:rPr lang="vi-VN" sz="2500" b="1">
                <a:solidFill>
                  <a:srgbClr val="172F3C"/>
                </a:solidFill>
                <a:latin typeface="Segoe UI" panose="020B0502040204020203" charset="0"/>
                <a:cs typeface="Segoe UI" panose="020B0502040204020203" charset="0"/>
              </a:rPr>
              <a:t>Nhân viên đăng nhập</a:t>
            </a:r>
            <a:endParaRPr lang="vi-VN" sz="2500" b="1">
              <a:solidFill>
                <a:srgbClr val="172F3C"/>
              </a:solidFill>
              <a:latin typeface="Segoe UI" panose="020B0502040204020203" charset="0"/>
              <a:cs typeface="Segoe UI" panose="020B0502040204020203" charset="0"/>
            </a:endParaRPr>
          </a:p>
        </p:txBody>
      </p:sp>
      <p:sp>
        <p:nvSpPr>
          <p:cNvPr id="10" name="Text Box 9"/>
          <p:cNvSpPr txBox="1"/>
          <p:nvPr/>
        </p:nvSpPr>
        <p:spPr>
          <a:xfrm>
            <a:off x="584200" y="4356100"/>
            <a:ext cx="3365500" cy="276860"/>
          </a:xfrm>
          <a:prstGeom prst="rect">
            <a:avLst/>
          </a:prstGeom>
          <a:noFill/>
        </p:spPr>
        <p:txBody>
          <a:bodyPr wrap="square" lIns="0" tIns="0" rIns="0" bIns="0" rtlCol="0" anchor="t">
            <a:noAutofit/>
          </a:bodyPr>
          <a:p>
            <a:pPr indent="0">
              <a:spcAft>
                <a:spcPts val="700"/>
              </a:spcAft>
              <a:buNone/>
            </a:pPr>
            <a:r>
              <a:rPr lang="vi-VN" sz="2100">
                <a:solidFill>
                  <a:srgbClr val="172F3C"/>
                </a:solidFill>
                <a:latin typeface="Segoe UI" panose="020B0502040204020203" charset="0"/>
                <a:cs typeface="Segoe UI" panose="020B0502040204020203" charset="0"/>
              </a:rPr>
              <a:t>Tài khoản và thông tin đăng ký hợp lệ</a:t>
            </a:r>
            <a:endParaRPr lang="vi-VN" sz="2100">
              <a:solidFill>
                <a:srgbClr val="172F3C"/>
              </a:solidFill>
              <a:latin typeface="Segoe UI" panose="020B0502040204020203" charset="0"/>
              <a:cs typeface="Segoe UI" panose="020B0502040204020203" charset="0"/>
            </a:endParaRPr>
          </a:p>
        </p:txBody>
      </p:sp>
      <p:sp>
        <p:nvSpPr>
          <p:cNvPr id="11" name="Text Box 10"/>
          <p:cNvSpPr txBox="1"/>
          <p:nvPr/>
        </p:nvSpPr>
        <p:spPr>
          <a:xfrm>
            <a:off x="4368800" y="1981200"/>
            <a:ext cx="3403600" cy="276860"/>
          </a:xfrm>
          <a:prstGeom prst="rect">
            <a:avLst/>
          </a:prstGeom>
          <a:noFill/>
        </p:spPr>
        <p:txBody>
          <a:bodyPr wrap="square" lIns="0" tIns="0" rIns="0" bIns="0" rtlCol="0" anchor="t">
            <a:noAutofit/>
          </a:bodyPr>
          <a:p>
            <a:pPr indent="0">
              <a:spcAft>
                <a:spcPts val="700"/>
              </a:spcAft>
              <a:buNone/>
            </a:pPr>
            <a:r>
              <a:rPr lang="vi-VN" sz="2800" b="1">
                <a:solidFill>
                  <a:srgbClr val="BB542A"/>
                </a:solidFill>
                <a:latin typeface="Segoe UI" panose="020B0502040204020203" charset="0"/>
                <a:cs typeface="Segoe UI" panose="020B0502040204020203" charset="0"/>
              </a:rPr>
              <a:t>09:10</a:t>
            </a:r>
            <a:endParaRPr lang="vi-VN" sz="2800" b="1">
              <a:solidFill>
                <a:srgbClr val="BB542A"/>
              </a:solidFill>
              <a:latin typeface="Segoe UI" panose="020B0502040204020203" charset="0"/>
              <a:cs typeface="Segoe UI" panose="020B0502040204020203" charset="0"/>
            </a:endParaRPr>
          </a:p>
        </p:txBody>
      </p:sp>
      <p:sp>
        <p:nvSpPr>
          <p:cNvPr id="12" name="Oval 11"/>
          <p:cNvSpPr/>
          <p:nvPr/>
        </p:nvSpPr>
        <p:spPr>
          <a:xfrm>
            <a:off x="4495800" y="2641600"/>
            <a:ext cx="177800" cy="177800"/>
          </a:xfrm>
          <a:prstGeom prst="ellipse">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3" name="Text Box 12"/>
          <p:cNvSpPr txBox="1"/>
          <p:nvPr/>
        </p:nvSpPr>
        <p:spPr>
          <a:xfrm>
            <a:off x="4368800" y="3213100"/>
            <a:ext cx="3365500" cy="276860"/>
          </a:xfrm>
          <a:prstGeom prst="rect">
            <a:avLst/>
          </a:prstGeom>
          <a:noFill/>
        </p:spPr>
        <p:txBody>
          <a:bodyPr wrap="square" lIns="0" tIns="0" rIns="0" bIns="0" rtlCol="0" anchor="t">
            <a:noAutofit/>
          </a:bodyPr>
          <a:p>
            <a:pPr indent="0">
              <a:spcAft>
                <a:spcPts val="700"/>
              </a:spcAft>
              <a:buNone/>
            </a:pPr>
            <a:r>
              <a:rPr lang="vi-VN" sz="2500" b="1">
                <a:solidFill>
                  <a:srgbClr val="172F3C"/>
                </a:solidFill>
                <a:latin typeface="Segoe UI" panose="020B0502040204020203" charset="0"/>
                <a:cs typeface="Segoe UI" panose="020B0502040204020203" charset="0"/>
              </a:rPr>
              <a:t>Người khác hỗ trợ phần nói</a:t>
            </a:r>
            <a:endParaRPr lang="vi-VN" sz="2500" b="1">
              <a:solidFill>
                <a:srgbClr val="172F3C"/>
              </a:solidFill>
              <a:latin typeface="Segoe UI" panose="020B0502040204020203" charset="0"/>
              <a:cs typeface="Segoe UI" panose="020B0502040204020203" charset="0"/>
            </a:endParaRPr>
          </a:p>
        </p:txBody>
      </p:sp>
      <p:sp>
        <p:nvSpPr>
          <p:cNvPr id="14" name="Text Box 13"/>
          <p:cNvSpPr txBox="1"/>
          <p:nvPr/>
        </p:nvSpPr>
        <p:spPr>
          <a:xfrm>
            <a:off x="4368800" y="4356100"/>
            <a:ext cx="3365500" cy="276860"/>
          </a:xfrm>
          <a:prstGeom prst="rect">
            <a:avLst/>
          </a:prstGeom>
          <a:noFill/>
        </p:spPr>
        <p:txBody>
          <a:bodyPr wrap="square" lIns="0" tIns="0" rIns="0" bIns="0" rtlCol="0" anchor="t">
            <a:noAutofit/>
          </a:bodyPr>
          <a:p>
            <a:pPr indent="0">
              <a:spcAft>
                <a:spcPts val="700"/>
              </a:spcAft>
              <a:buNone/>
            </a:pPr>
            <a:r>
              <a:rPr lang="vi-VN" sz="2100">
                <a:solidFill>
                  <a:srgbClr val="172F3C"/>
                </a:solidFill>
                <a:latin typeface="Segoe UI" panose="020B0502040204020203" charset="0"/>
                <a:cs typeface="Segoe UI" panose="020B0502040204020203" charset="0"/>
              </a:rPr>
              <a:t>Danh tính thực hiện có thể thay đổi giữa bài</a:t>
            </a:r>
            <a:endParaRPr lang="vi-VN" sz="2100">
              <a:solidFill>
                <a:srgbClr val="172F3C"/>
              </a:solidFill>
              <a:latin typeface="Segoe UI" panose="020B0502040204020203" charset="0"/>
              <a:cs typeface="Segoe UI" panose="020B0502040204020203" charset="0"/>
            </a:endParaRPr>
          </a:p>
        </p:txBody>
      </p:sp>
      <p:sp>
        <p:nvSpPr>
          <p:cNvPr id="15" name="Text Box 14"/>
          <p:cNvSpPr txBox="1"/>
          <p:nvPr/>
        </p:nvSpPr>
        <p:spPr>
          <a:xfrm>
            <a:off x="8153400" y="1981200"/>
            <a:ext cx="3403600" cy="276860"/>
          </a:xfrm>
          <a:prstGeom prst="rect">
            <a:avLst/>
          </a:prstGeom>
          <a:noFill/>
        </p:spPr>
        <p:txBody>
          <a:bodyPr wrap="square" lIns="0" tIns="0" rIns="0" bIns="0" rtlCol="0" anchor="t">
            <a:noAutofit/>
          </a:bodyPr>
          <a:p>
            <a:pPr indent="0">
              <a:spcAft>
                <a:spcPts val="700"/>
              </a:spcAft>
              <a:buNone/>
            </a:pPr>
            <a:r>
              <a:rPr lang="vi-VN" sz="2800" b="1">
                <a:solidFill>
                  <a:srgbClr val="BB542A"/>
                </a:solidFill>
                <a:latin typeface="Segoe UI" panose="020B0502040204020203" charset="0"/>
                <a:cs typeface="Segoe UI" panose="020B0502040204020203" charset="0"/>
              </a:rPr>
              <a:t>Sau kỳ thi</a:t>
            </a:r>
            <a:endParaRPr lang="vi-VN" sz="2800" b="1">
              <a:solidFill>
                <a:srgbClr val="BB542A"/>
              </a:solidFill>
              <a:latin typeface="Segoe UI" panose="020B0502040204020203" charset="0"/>
              <a:cs typeface="Segoe UI" panose="020B0502040204020203" charset="0"/>
            </a:endParaRPr>
          </a:p>
        </p:txBody>
      </p:sp>
      <p:sp>
        <p:nvSpPr>
          <p:cNvPr id="16" name="Oval 15"/>
          <p:cNvSpPr/>
          <p:nvPr/>
        </p:nvSpPr>
        <p:spPr>
          <a:xfrm>
            <a:off x="8280400" y="2641600"/>
            <a:ext cx="177800" cy="177800"/>
          </a:xfrm>
          <a:prstGeom prst="ellipse">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7" name="Text Box 16"/>
          <p:cNvSpPr txBox="1"/>
          <p:nvPr/>
        </p:nvSpPr>
        <p:spPr>
          <a:xfrm>
            <a:off x="8153400" y="3213100"/>
            <a:ext cx="3365500" cy="276860"/>
          </a:xfrm>
          <a:prstGeom prst="rect">
            <a:avLst/>
          </a:prstGeom>
          <a:noFill/>
        </p:spPr>
        <p:txBody>
          <a:bodyPr wrap="square" lIns="0" tIns="0" rIns="0" bIns="0" rtlCol="0" anchor="t">
            <a:noAutofit/>
          </a:bodyPr>
          <a:p>
            <a:pPr indent="0">
              <a:spcAft>
                <a:spcPts val="700"/>
              </a:spcAft>
              <a:buNone/>
            </a:pPr>
            <a:r>
              <a:rPr lang="vi-VN" sz="2500" b="1">
                <a:solidFill>
                  <a:srgbClr val="172F3C"/>
                </a:solidFill>
                <a:latin typeface="Segoe UI" panose="020B0502040204020203" charset="0"/>
                <a:cs typeface="Segoe UI" panose="020B0502040204020203" charset="0"/>
              </a:rPr>
              <a:t>Kết quả được dùng để ra quyết định</a:t>
            </a:r>
            <a:endParaRPr lang="vi-VN" sz="2500" b="1">
              <a:solidFill>
                <a:srgbClr val="172F3C"/>
              </a:solidFill>
              <a:latin typeface="Segoe UI" panose="020B0502040204020203" charset="0"/>
              <a:cs typeface="Segoe UI" panose="020B0502040204020203" charset="0"/>
            </a:endParaRPr>
          </a:p>
        </p:txBody>
      </p:sp>
      <p:sp>
        <p:nvSpPr>
          <p:cNvPr id="18" name="Text Box 17"/>
          <p:cNvSpPr txBox="1"/>
          <p:nvPr/>
        </p:nvSpPr>
        <p:spPr>
          <a:xfrm>
            <a:off x="8153400" y="4356100"/>
            <a:ext cx="3365500" cy="276860"/>
          </a:xfrm>
          <a:prstGeom prst="rect">
            <a:avLst/>
          </a:prstGeom>
          <a:noFill/>
        </p:spPr>
        <p:txBody>
          <a:bodyPr wrap="square" lIns="0" tIns="0" rIns="0" bIns="0" rtlCol="0" anchor="t">
            <a:noAutofit/>
          </a:bodyPr>
          <a:p>
            <a:pPr indent="0">
              <a:spcAft>
                <a:spcPts val="700"/>
              </a:spcAft>
              <a:buNone/>
            </a:pPr>
            <a:r>
              <a:rPr lang="vi-VN" sz="2100">
                <a:solidFill>
                  <a:srgbClr val="172F3C"/>
                </a:solidFill>
                <a:latin typeface="Segoe UI" panose="020B0502040204020203" charset="0"/>
                <a:cs typeface="Segoe UI" panose="020B0502040204020203" charset="0"/>
              </a:rPr>
              <a:t>HR khó xác minh lại ai đã làm từng phần</a:t>
            </a:r>
            <a:endParaRPr lang="vi-VN" sz="2100">
              <a:solidFill>
                <a:srgbClr val="172F3C"/>
              </a:solidFill>
              <a:latin typeface="Segoe UI" panose="020B0502040204020203" charset="0"/>
              <a:cs typeface="Segoe UI" panose="020B0502040204020203"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Ba khó khăn khiến việc xác minh cần được bổ sung</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3</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Lợi ích giảm gian lận và giảm thời gian rà soát cần được đo trong pilot</a:t>
            </a:r>
            <a:endParaRPr lang="vi-VN" sz="1200">
              <a:solidFill>
                <a:srgbClr val="526673"/>
              </a:solidFill>
              <a:latin typeface="Segoe UI" panose="020B0502040204020203" charset="0"/>
              <a:cs typeface="Segoe UI" panose="020B0502040204020203" charset="0"/>
            </a:endParaRPr>
          </a:p>
        </p:txBody>
      </p:sp>
      <p:sp>
        <p:nvSpPr>
          <p:cNvPr id="6" name="Text Box 5"/>
          <p:cNvSpPr txBox="1"/>
          <p:nvPr/>
        </p:nvSpPr>
        <p:spPr>
          <a:xfrm>
            <a:off x="584200" y="1993900"/>
            <a:ext cx="3365500" cy="276860"/>
          </a:xfrm>
          <a:prstGeom prst="rect">
            <a:avLst/>
          </a:prstGeom>
          <a:noFill/>
        </p:spPr>
        <p:txBody>
          <a:bodyPr wrap="square" lIns="0" tIns="0" rIns="0" bIns="0" rtlCol="0" anchor="t">
            <a:noAutofit/>
          </a:bodyPr>
          <a:p>
            <a:pPr indent="0">
              <a:spcAft>
                <a:spcPts val="700"/>
              </a:spcAft>
              <a:buNone/>
            </a:pPr>
            <a:r>
              <a:rPr lang="vi-VN" sz="3800" b="1">
                <a:solidFill>
                  <a:srgbClr val="BB542A"/>
                </a:solidFill>
                <a:latin typeface="Segoe UI" panose="020B0502040204020203" charset="0"/>
                <a:cs typeface="Segoe UI" panose="020B0502040204020203" charset="0"/>
              </a:rPr>
              <a:t>01</a:t>
            </a:r>
            <a:endParaRPr lang="vi-VN" sz="3800" b="1">
              <a:solidFill>
                <a:srgbClr val="BB542A"/>
              </a:solidFill>
              <a:latin typeface="Segoe UI" panose="020B0502040204020203" charset="0"/>
              <a:cs typeface="Segoe UI" panose="020B0502040204020203" charset="0"/>
            </a:endParaRPr>
          </a:p>
        </p:txBody>
      </p:sp>
      <p:sp>
        <p:nvSpPr>
          <p:cNvPr id="7" name="Text Box 6"/>
          <p:cNvSpPr txBox="1"/>
          <p:nvPr/>
        </p:nvSpPr>
        <p:spPr>
          <a:xfrm>
            <a:off x="584200" y="2870200"/>
            <a:ext cx="3365500" cy="276860"/>
          </a:xfrm>
          <a:prstGeom prst="rect">
            <a:avLst/>
          </a:prstGeom>
          <a:noFill/>
        </p:spPr>
        <p:txBody>
          <a:bodyPr wrap="square" lIns="0" tIns="0" rIns="0" bIns="0" rtlCol="0" anchor="t">
            <a:noAutofit/>
          </a:bodyPr>
          <a:p>
            <a:pPr indent="0">
              <a:spcAft>
                <a:spcPts val="700"/>
              </a:spcAft>
              <a:buNone/>
            </a:pPr>
            <a:r>
              <a:rPr lang="vi-VN" sz="2600" b="1">
                <a:solidFill>
                  <a:srgbClr val="176E68"/>
                </a:solidFill>
                <a:latin typeface="Segoe UI" panose="020B0502040204020203" charset="0"/>
                <a:cs typeface="Segoe UI" panose="020B0502040204020203" charset="0"/>
              </a:rPr>
              <a:t>Độ tin cậy</a:t>
            </a:r>
            <a:endParaRPr lang="vi-VN" sz="2600" b="1">
              <a:solidFill>
                <a:srgbClr val="176E68"/>
              </a:solidFill>
              <a:latin typeface="Segoe UI" panose="020B0502040204020203" charset="0"/>
              <a:cs typeface="Segoe UI" panose="020B0502040204020203" charset="0"/>
            </a:endParaRPr>
          </a:p>
        </p:txBody>
      </p:sp>
      <p:sp>
        <p:nvSpPr>
          <p:cNvPr id="8" name="Text Box 7"/>
          <p:cNvSpPr txBox="1"/>
          <p:nvPr/>
        </p:nvSpPr>
        <p:spPr>
          <a:xfrm>
            <a:off x="584200" y="4140200"/>
            <a:ext cx="3365500" cy="276860"/>
          </a:xfrm>
          <a:prstGeom prst="rect">
            <a:avLst/>
          </a:prstGeom>
          <a:noFill/>
        </p:spPr>
        <p:txBody>
          <a:bodyPr wrap="square" lIns="0" tIns="0" rIns="0" bIns="0" rtlCol="0" anchor="t">
            <a:noAutofit/>
          </a:bodyPr>
          <a:p>
            <a:pPr indent="0">
              <a:spcAft>
                <a:spcPts val="700"/>
              </a:spcAft>
              <a:buNone/>
            </a:pPr>
            <a:r>
              <a:rPr lang="vi-VN" sz="2300">
                <a:solidFill>
                  <a:srgbClr val="172F3C"/>
                </a:solidFill>
                <a:latin typeface="Segoe UI" panose="020B0502040204020203" charset="0"/>
                <a:cs typeface="Segoe UI" panose="020B0502040204020203" charset="0"/>
              </a:rPr>
              <a:t>Thi hộ hoặc thay người làm sai lệch kết quả đánh giá</a:t>
            </a:r>
            <a:endParaRPr lang="vi-VN" sz="2300">
              <a:solidFill>
                <a:srgbClr val="172F3C"/>
              </a:solidFill>
              <a:latin typeface="Segoe UI" panose="020B0502040204020203" charset="0"/>
              <a:cs typeface="Segoe UI" panose="020B0502040204020203" charset="0"/>
            </a:endParaRPr>
          </a:p>
        </p:txBody>
      </p:sp>
      <p:sp>
        <p:nvSpPr>
          <p:cNvPr id="9" name="Text Box 8"/>
          <p:cNvSpPr txBox="1"/>
          <p:nvPr/>
        </p:nvSpPr>
        <p:spPr>
          <a:xfrm>
            <a:off x="4381500" y="1993900"/>
            <a:ext cx="3365500" cy="276860"/>
          </a:xfrm>
          <a:prstGeom prst="rect">
            <a:avLst/>
          </a:prstGeom>
          <a:noFill/>
        </p:spPr>
        <p:txBody>
          <a:bodyPr wrap="square" lIns="0" tIns="0" rIns="0" bIns="0" rtlCol="0" anchor="t">
            <a:noAutofit/>
          </a:bodyPr>
          <a:p>
            <a:pPr indent="0">
              <a:spcAft>
                <a:spcPts val="700"/>
              </a:spcAft>
              <a:buNone/>
            </a:pPr>
            <a:r>
              <a:rPr lang="vi-VN" sz="3800" b="1">
                <a:solidFill>
                  <a:srgbClr val="BB542A"/>
                </a:solidFill>
                <a:latin typeface="Segoe UI" panose="020B0502040204020203" charset="0"/>
                <a:cs typeface="Segoe UI" panose="020B0502040204020203" charset="0"/>
              </a:rPr>
              <a:t>02</a:t>
            </a:r>
            <a:endParaRPr lang="vi-VN" sz="3800" b="1">
              <a:solidFill>
                <a:srgbClr val="BB542A"/>
              </a:solidFill>
              <a:latin typeface="Segoe UI" panose="020B0502040204020203" charset="0"/>
              <a:cs typeface="Segoe UI" panose="020B0502040204020203" charset="0"/>
            </a:endParaRPr>
          </a:p>
        </p:txBody>
      </p:sp>
      <p:sp>
        <p:nvSpPr>
          <p:cNvPr id="10" name="Text Box 9"/>
          <p:cNvSpPr txBox="1"/>
          <p:nvPr/>
        </p:nvSpPr>
        <p:spPr>
          <a:xfrm>
            <a:off x="4381500" y="2870200"/>
            <a:ext cx="3365500" cy="276860"/>
          </a:xfrm>
          <a:prstGeom prst="rect">
            <a:avLst/>
          </a:prstGeom>
          <a:noFill/>
        </p:spPr>
        <p:txBody>
          <a:bodyPr wrap="square" lIns="0" tIns="0" rIns="0" bIns="0" rtlCol="0" anchor="t">
            <a:noAutofit/>
          </a:bodyPr>
          <a:p>
            <a:pPr indent="0">
              <a:spcAft>
                <a:spcPts val="700"/>
              </a:spcAft>
              <a:buNone/>
            </a:pPr>
            <a:r>
              <a:rPr lang="vi-VN" sz="2600" b="1">
                <a:solidFill>
                  <a:srgbClr val="176E68"/>
                </a:solidFill>
                <a:latin typeface="Segoe UI" panose="020B0502040204020203" charset="0"/>
                <a:cs typeface="Segoe UI" panose="020B0502040204020203" charset="0"/>
              </a:rPr>
              <a:t>Khối lượng rà soát</a:t>
            </a:r>
            <a:endParaRPr lang="vi-VN" sz="2600" b="1">
              <a:solidFill>
                <a:srgbClr val="176E68"/>
              </a:solidFill>
              <a:latin typeface="Segoe UI" panose="020B0502040204020203" charset="0"/>
              <a:cs typeface="Segoe UI" panose="020B0502040204020203" charset="0"/>
            </a:endParaRPr>
          </a:p>
        </p:txBody>
      </p:sp>
      <p:sp>
        <p:nvSpPr>
          <p:cNvPr id="11" name="Text Box 10"/>
          <p:cNvSpPr txBox="1"/>
          <p:nvPr/>
        </p:nvSpPr>
        <p:spPr>
          <a:xfrm>
            <a:off x="4381500" y="4140200"/>
            <a:ext cx="3365500" cy="276860"/>
          </a:xfrm>
          <a:prstGeom prst="rect">
            <a:avLst/>
          </a:prstGeom>
          <a:noFill/>
        </p:spPr>
        <p:txBody>
          <a:bodyPr wrap="square" lIns="0" tIns="0" rIns="0" bIns="0" rtlCol="0" anchor="t">
            <a:noAutofit/>
          </a:bodyPr>
          <a:p>
            <a:pPr indent="0">
              <a:spcAft>
                <a:spcPts val="700"/>
              </a:spcAft>
              <a:buNone/>
            </a:pPr>
            <a:r>
              <a:rPr lang="vi-VN" sz="2300">
                <a:solidFill>
                  <a:srgbClr val="172F3C"/>
                </a:solidFill>
                <a:latin typeface="Segoe UI" panose="020B0502040204020203" charset="0"/>
                <a:cs typeface="Segoe UI" panose="020B0502040204020203" charset="0"/>
              </a:rPr>
              <a:t>HR phải tìm lại ảnh, audio và thời điểm xảy ra nghi vấn</a:t>
            </a:r>
            <a:endParaRPr lang="vi-VN" sz="2300">
              <a:solidFill>
                <a:srgbClr val="172F3C"/>
              </a:solidFill>
              <a:latin typeface="Segoe UI" panose="020B0502040204020203" charset="0"/>
              <a:cs typeface="Segoe UI" panose="020B0502040204020203" charset="0"/>
            </a:endParaRPr>
          </a:p>
        </p:txBody>
      </p:sp>
      <p:sp>
        <p:nvSpPr>
          <p:cNvPr id="12" name="Text Box 11"/>
          <p:cNvSpPr txBox="1"/>
          <p:nvPr/>
        </p:nvSpPr>
        <p:spPr>
          <a:xfrm>
            <a:off x="8178800" y="1993900"/>
            <a:ext cx="3365500" cy="276860"/>
          </a:xfrm>
          <a:prstGeom prst="rect">
            <a:avLst/>
          </a:prstGeom>
          <a:noFill/>
        </p:spPr>
        <p:txBody>
          <a:bodyPr wrap="square" lIns="0" tIns="0" rIns="0" bIns="0" rtlCol="0" anchor="t">
            <a:noAutofit/>
          </a:bodyPr>
          <a:p>
            <a:pPr indent="0">
              <a:spcAft>
                <a:spcPts val="700"/>
              </a:spcAft>
              <a:buNone/>
            </a:pPr>
            <a:r>
              <a:rPr lang="vi-VN" sz="3800" b="1">
                <a:solidFill>
                  <a:srgbClr val="BB542A"/>
                </a:solidFill>
                <a:latin typeface="Segoe UI" panose="020B0502040204020203" charset="0"/>
                <a:cs typeface="Segoe UI" panose="020B0502040204020203" charset="0"/>
              </a:rPr>
              <a:t>03</a:t>
            </a:r>
            <a:endParaRPr lang="vi-VN" sz="3800" b="1">
              <a:solidFill>
                <a:srgbClr val="BB542A"/>
              </a:solidFill>
              <a:latin typeface="Segoe UI" panose="020B0502040204020203" charset="0"/>
              <a:cs typeface="Segoe UI" panose="020B0502040204020203" charset="0"/>
            </a:endParaRPr>
          </a:p>
        </p:txBody>
      </p:sp>
      <p:sp>
        <p:nvSpPr>
          <p:cNvPr id="13" name="Text Box 12"/>
          <p:cNvSpPr txBox="1"/>
          <p:nvPr/>
        </p:nvSpPr>
        <p:spPr>
          <a:xfrm>
            <a:off x="8178800" y="2870200"/>
            <a:ext cx="3365500" cy="276860"/>
          </a:xfrm>
          <a:prstGeom prst="rect">
            <a:avLst/>
          </a:prstGeom>
          <a:noFill/>
        </p:spPr>
        <p:txBody>
          <a:bodyPr wrap="square" lIns="0" tIns="0" rIns="0" bIns="0" rtlCol="0" anchor="t">
            <a:noAutofit/>
          </a:bodyPr>
          <a:p>
            <a:pPr indent="0">
              <a:spcAft>
                <a:spcPts val="700"/>
              </a:spcAft>
              <a:buNone/>
            </a:pPr>
            <a:r>
              <a:rPr lang="vi-VN" sz="2600" b="1">
                <a:solidFill>
                  <a:srgbClr val="176E68"/>
                </a:solidFill>
                <a:latin typeface="Segoe UI" panose="020B0502040204020203" charset="0"/>
                <a:cs typeface="Segoe UI" panose="020B0502040204020203" charset="0"/>
              </a:rPr>
              <a:t>Nguy cơ kết luận nhầm</a:t>
            </a:r>
            <a:endParaRPr lang="vi-VN" sz="2600" b="1">
              <a:solidFill>
                <a:srgbClr val="176E68"/>
              </a:solidFill>
              <a:latin typeface="Segoe UI" panose="020B0502040204020203" charset="0"/>
              <a:cs typeface="Segoe UI" panose="020B0502040204020203" charset="0"/>
            </a:endParaRPr>
          </a:p>
        </p:txBody>
      </p:sp>
      <p:sp>
        <p:nvSpPr>
          <p:cNvPr id="14" name="Text Box 13"/>
          <p:cNvSpPr txBox="1"/>
          <p:nvPr/>
        </p:nvSpPr>
        <p:spPr>
          <a:xfrm>
            <a:off x="8178800" y="4140200"/>
            <a:ext cx="3365500" cy="276860"/>
          </a:xfrm>
          <a:prstGeom prst="rect">
            <a:avLst/>
          </a:prstGeom>
          <a:noFill/>
        </p:spPr>
        <p:txBody>
          <a:bodyPr wrap="square" lIns="0" tIns="0" rIns="0" bIns="0" rtlCol="0" anchor="t">
            <a:noAutofit/>
          </a:bodyPr>
          <a:p>
            <a:pPr indent="0">
              <a:spcAft>
                <a:spcPts val="700"/>
              </a:spcAft>
              <a:buNone/>
            </a:pPr>
            <a:r>
              <a:rPr lang="vi-VN" sz="2300">
                <a:solidFill>
                  <a:srgbClr val="172F3C"/>
                </a:solidFill>
                <a:latin typeface="Segoe UI" panose="020B0502040204020203" charset="0"/>
                <a:cs typeface="Segoe UI" panose="020B0502040204020203" charset="0"/>
              </a:rPr>
              <a:t>Camera tối, mic kém hoặc template cũ cũng có thể làm giảm score</a:t>
            </a:r>
            <a:endParaRPr lang="vi-VN" sz="2300">
              <a:solidFill>
                <a:srgbClr val="172F3C"/>
              </a:solidFill>
              <a:latin typeface="Segoe UI" panose="020B0502040204020203" charset="0"/>
              <a:cs typeface="Segoe UI" panose="020B0502040204020203"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Hệ thống kiểm tra những dấu hiệu nào?</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4</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Suspicious là tín hiệu để xem xét, không tự kết luận người thi gian lận</a:t>
            </a:r>
            <a:endParaRPr lang="vi-VN" sz="1200">
              <a:solidFill>
                <a:srgbClr val="526673"/>
              </a:solidFill>
              <a:latin typeface="Segoe UI" panose="020B0502040204020203" charset="0"/>
              <a:cs typeface="Segoe UI" panose="020B0502040204020203" charset="0"/>
            </a:endParaRPr>
          </a:p>
        </p:txBody>
      </p:sp>
      <p:graphicFrame>
        <p:nvGraphicFramePr>
          <p:cNvPr id="6" name="Table 5"/>
          <p:cNvGraphicFramePr/>
          <p:nvPr/>
        </p:nvGraphicFramePr>
        <p:xfrm>
          <a:off x="584200" y="1879600"/>
          <a:ext cx="11023600" cy="2794000"/>
        </p:xfrm>
        <a:graphic>
          <a:graphicData uri="http://schemas.openxmlformats.org/drawingml/2006/table">
            <a:tbl>
              <a:tblPr firstRow="1" bandRow="1">
                <a:tableStyleId>{5C22544A-7EE6-4342-B048-85BDC9FD1C3A}</a:tableStyleId>
              </a:tblPr>
              <a:tblGrid>
                <a:gridCol w="2921000"/>
                <a:gridCol w="4038600"/>
                <a:gridCol w="4064000"/>
              </a:tblGrid>
              <a:tr h="558800">
                <a:tc>
                  <a:txBody>
                    <a:bodyPr/>
                    <a:p>
                      <a:pPr indent="0">
                        <a:spcAft>
                          <a:spcPts val="0"/>
                        </a:spcAft>
                        <a:buNone/>
                      </a:pPr>
                      <a:r>
                        <a:rPr lang="vi-VN" sz="1900" b="1">
                          <a:solidFill>
                            <a:srgbClr val="FFFFFF"/>
                          </a:solidFill>
                          <a:latin typeface="Segoe UI" panose="020B0502040204020203" charset="0"/>
                          <a:cs typeface="Segoe UI" panose="020B0502040204020203" charset="0"/>
                        </a:rPr>
                        <a:t>Rủi ro</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c>
                  <a:txBody>
                    <a:bodyPr/>
                    <a:p>
                      <a:pPr indent="0">
                        <a:spcAft>
                          <a:spcPts val="0"/>
                        </a:spcAft>
                        <a:buNone/>
                      </a:pPr>
                      <a:r>
                        <a:rPr lang="vi-VN" sz="1900" b="1">
                          <a:solidFill>
                            <a:srgbClr val="FFFFFF"/>
                          </a:solidFill>
                          <a:latin typeface="Segoe UI" panose="020B0502040204020203" charset="0"/>
                          <a:cs typeface="Segoe UI" panose="020B0502040204020203" charset="0"/>
                        </a:rPr>
                        <a:t>Tín hiệu hệ thống</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c>
                  <a:txBody>
                    <a:bodyPr/>
                    <a:p>
                      <a:pPr indent="0">
                        <a:spcAft>
                          <a:spcPts val="0"/>
                        </a:spcAft>
                        <a:buNone/>
                      </a:pPr>
                      <a:r>
                        <a:rPr lang="vi-VN" sz="1900" b="1">
                          <a:solidFill>
                            <a:srgbClr val="FFFFFF"/>
                          </a:solidFill>
                          <a:latin typeface="Segoe UI" panose="020B0502040204020203" charset="0"/>
                          <a:cs typeface="Segoe UI" panose="020B0502040204020203" charset="0"/>
                        </a:rPr>
                        <a:t>Giới hạn cần hiểu</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Thi hộ / thay người</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Face và Voice so với mẫu ghi danh</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Tín hiệu phụ thuộc chất lượng capture</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Ảnh hoặc âm thanh giả</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Face PAD và audio anti-spoof</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Chưa bao phủ mọi loại deepfake / replay</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Nhiều mặt / đổi giọng</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Đếm mặt, kiểm tra voice segments</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Heuristic, chưa là diarization đầy đủ</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Dùng lại capture</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Kiểm tra hash media trong phiên</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Chỉ phát hiện tái sử dụng chính xác</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Bổ sung xác minh vào phần mềm thi đang có</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5</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50.000 nhân viên là quy mô mục tiêu thiết kế, chưa phải capacity đã kiểm chứng</a:t>
            </a:r>
            <a:endParaRPr lang="vi-VN" sz="1200">
              <a:solidFill>
                <a:srgbClr val="526673"/>
              </a:solidFill>
              <a:latin typeface="Segoe UI" panose="020B0502040204020203" charset="0"/>
              <a:cs typeface="Segoe UI" panose="020B0502040204020203" charset="0"/>
            </a:endParaRPr>
          </a:p>
        </p:txBody>
      </p:sp>
      <p:cxnSp>
        <p:nvCxnSpPr>
          <p:cNvPr id="6" name="Straight Connector 5"/>
          <p:cNvCxnSpPr/>
          <p:nvPr/>
        </p:nvCxnSpPr>
        <p:spPr>
          <a:xfrm>
            <a:off x="6057900" y="2006600"/>
            <a:ext cx="635" cy="3619500"/>
          </a:xfrm>
          <a:prstGeom prst="line">
            <a:avLst/>
          </a:prstGeom>
          <a:ln>
            <a:solidFill>
              <a:srgbClr val="CCD6D1"/>
            </a:solidFill>
          </a:ln>
        </p:spPr>
        <p:style>
          <a:lnRef idx="2">
            <a:schemeClr val="accent1"/>
          </a:lnRef>
          <a:fillRef idx="0">
            <a:srgbClr val="FFFFFF"/>
          </a:fillRef>
          <a:effectRef idx="0">
            <a:srgbClr val="FFFFFF"/>
          </a:effectRef>
          <a:fontRef idx="minor">
            <a:schemeClr val="tx1"/>
          </a:fontRef>
        </p:style>
      </p:cxnSp>
      <p:sp>
        <p:nvSpPr>
          <p:cNvPr id="7" name="Text Box 6"/>
          <p:cNvSpPr txBox="1"/>
          <p:nvPr/>
        </p:nvSpPr>
        <p:spPr>
          <a:xfrm>
            <a:off x="584200" y="2146300"/>
            <a:ext cx="5067300" cy="276860"/>
          </a:xfrm>
          <a:prstGeom prst="rect">
            <a:avLst/>
          </a:prstGeom>
          <a:noFill/>
        </p:spPr>
        <p:txBody>
          <a:bodyPr wrap="square" lIns="0" tIns="0" rIns="0" bIns="0" rtlCol="0" anchor="t">
            <a:noAutofit/>
          </a:bodyPr>
          <a:p>
            <a:pPr indent="0">
              <a:spcAft>
                <a:spcPts val="700"/>
              </a:spcAft>
              <a:buNone/>
            </a:pPr>
            <a:r>
              <a:rPr lang="vi-VN" sz="2800" b="1">
                <a:solidFill>
                  <a:srgbClr val="176E68"/>
                </a:solidFill>
                <a:latin typeface="Segoe UI" panose="020B0502040204020203" charset="0"/>
                <a:cs typeface="Segoe UI" panose="020B0502040204020203" charset="0"/>
              </a:rPr>
              <a:t>Doanh nghiệp quản lý</a:t>
            </a:r>
            <a:endParaRPr lang="vi-VN" sz="2800" b="1">
              <a:solidFill>
                <a:srgbClr val="176E68"/>
              </a:solidFill>
              <a:latin typeface="Segoe UI" panose="020B0502040204020203" charset="0"/>
              <a:cs typeface="Segoe UI" panose="020B0502040204020203" charset="0"/>
            </a:endParaRPr>
          </a:p>
        </p:txBody>
      </p:sp>
      <p:sp>
        <p:nvSpPr>
          <p:cNvPr id="8" name="Text Box 7"/>
          <p:cNvSpPr txBox="1"/>
          <p:nvPr/>
        </p:nvSpPr>
        <p:spPr>
          <a:xfrm>
            <a:off x="584200" y="3225800"/>
            <a:ext cx="4991100" cy="276860"/>
          </a:xfrm>
          <a:prstGeom prst="rect">
            <a:avLst/>
          </a:prstGeom>
          <a:noFill/>
        </p:spPr>
        <p:txBody>
          <a:bodyPr wrap="square" lIns="0" tIns="0" rIns="0" bIns="0" rtlCol="0" anchor="t">
            <a:noAutofit/>
          </a:bodyPr>
          <a:p>
            <a:pPr indent="0">
              <a:spcAft>
                <a:spcPts val="700"/>
              </a:spcAft>
              <a:buNone/>
            </a:pPr>
            <a:r>
              <a:rPr lang="vi-VN" sz="2500">
                <a:solidFill>
                  <a:srgbClr val="172F3C"/>
                </a:solidFill>
                <a:latin typeface="Segoe UI" panose="020B0502040204020203" charset="0"/>
                <a:cs typeface="Segoe UI" panose="020B0502040204020203" charset="0"/>
              </a:rPr>
              <a:t>Bài thi và tài khoản
Lịch gửi ảnh / WAV
Điểm và quyết định nghiệp vụ</a:t>
            </a:r>
            <a:endParaRPr lang="vi-VN" sz="2500">
              <a:solidFill>
                <a:srgbClr val="172F3C"/>
              </a:solidFill>
              <a:latin typeface="Segoe UI" panose="020B0502040204020203" charset="0"/>
              <a:cs typeface="Segoe UI" panose="020B0502040204020203" charset="0"/>
            </a:endParaRPr>
          </a:p>
        </p:txBody>
      </p:sp>
      <p:sp>
        <p:nvSpPr>
          <p:cNvPr id="9" name="Text Box 8"/>
          <p:cNvSpPr txBox="1"/>
          <p:nvPr/>
        </p:nvSpPr>
        <p:spPr>
          <a:xfrm>
            <a:off x="6464300" y="2146300"/>
            <a:ext cx="5067300" cy="276860"/>
          </a:xfrm>
          <a:prstGeom prst="rect">
            <a:avLst/>
          </a:prstGeom>
          <a:noFill/>
        </p:spPr>
        <p:txBody>
          <a:bodyPr wrap="square" lIns="0" tIns="0" rIns="0" bIns="0" rtlCol="0" anchor="t">
            <a:noAutofit/>
          </a:bodyPr>
          <a:p>
            <a:pPr indent="0">
              <a:spcAft>
                <a:spcPts val="700"/>
              </a:spcAft>
              <a:buNone/>
            </a:pPr>
            <a:r>
              <a:rPr lang="vi-VN" sz="2800" b="1">
                <a:solidFill>
                  <a:srgbClr val="176E68"/>
                </a:solidFill>
                <a:latin typeface="Segoe UI" panose="020B0502040204020203" charset="0"/>
                <a:cs typeface="Segoe UI" panose="020B0502040204020203" charset="0"/>
              </a:rPr>
              <a:t>Dịch vụ cung cấp</a:t>
            </a:r>
            <a:endParaRPr lang="vi-VN" sz="2800" b="1">
              <a:solidFill>
                <a:srgbClr val="176E68"/>
              </a:solidFill>
              <a:latin typeface="Segoe UI" panose="020B0502040204020203" charset="0"/>
              <a:cs typeface="Segoe UI" panose="020B0502040204020203" charset="0"/>
            </a:endParaRPr>
          </a:p>
        </p:txBody>
      </p:sp>
      <p:sp>
        <p:nvSpPr>
          <p:cNvPr id="10" name="Text Box 9"/>
          <p:cNvSpPr txBox="1"/>
          <p:nvPr/>
        </p:nvSpPr>
        <p:spPr>
          <a:xfrm>
            <a:off x="6464300" y="3225800"/>
            <a:ext cx="4991100" cy="276860"/>
          </a:xfrm>
          <a:prstGeom prst="rect">
            <a:avLst/>
          </a:prstGeom>
          <a:noFill/>
        </p:spPr>
        <p:txBody>
          <a:bodyPr wrap="square" lIns="0" tIns="0" rIns="0" bIns="0" rtlCol="0" anchor="t">
            <a:noAutofit/>
          </a:bodyPr>
          <a:p>
            <a:pPr indent="0">
              <a:spcAft>
                <a:spcPts val="700"/>
              </a:spcAft>
              <a:buNone/>
            </a:pPr>
            <a:r>
              <a:rPr lang="vi-VN" sz="2500">
                <a:solidFill>
                  <a:srgbClr val="172F3C"/>
                </a:solidFill>
                <a:latin typeface="Segoe UI" panose="020B0502040204020203" charset="0"/>
                <a:cs typeface="Segoe UI" panose="020B0502040204020203" charset="0"/>
              </a:rPr>
              <a:t>API xác minh Face / Voice
Lý do và bằng chứng nghi vấn
Webhook, lịch sử, PDF / CSV</a:t>
            </a:r>
            <a:endParaRPr lang="vi-VN" sz="2500">
              <a:solidFill>
                <a:srgbClr val="172F3C"/>
              </a:solidFill>
              <a:latin typeface="Segoe UI" panose="020B0502040204020203" charset="0"/>
              <a:cs typeface="Segoe UI" panose="020B0502040204020203"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Một lượt kiểm tra đi qua năm bước</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6</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Retry cùng request và payload nhận lại cùng kết quả. Payload thay đổi trả 409</a:t>
            </a:r>
            <a:endParaRPr lang="vi-VN" sz="1200">
              <a:solidFill>
                <a:srgbClr val="526673"/>
              </a:solidFill>
              <a:latin typeface="Segoe UI" panose="020B0502040204020203" charset="0"/>
              <a:cs typeface="Segoe UI" panose="020B0502040204020203" charset="0"/>
            </a:endParaRPr>
          </a:p>
        </p:txBody>
      </p:sp>
      <p:sp>
        <p:nvSpPr>
          <p:cNvPr id="6" name="Text Box 5"/>
          <p:cNvSpPr txBox="1"/>
          <p:nvPr/>
        </p:nvSpPr>
        <p:spPr>
          <a:xfrm>
            <a:off x="584200" y="2311400"/>
            <a:ext cx="1981200" cy="276860"/>
          </a:xfrm>
          <a:prstGeom prst="rect">
            <a:avLst/>
          </a:prstGeom>
          <a:noFill/>
        </p:spPr>
        <p:txBody>
          <a:bodyPr wrap="square" lIns="0" tIns="0" rIns="0" bIns="0" rtlCol="0" anchor="t">
            <a:noAutofit/>
          </a:bodyPr>
          <a:p>
            <a:pPr indent="0">
              <a:spcAft>
                <a:spcPts val="700"/>
              </a:spcAft>
              <a:buNone/>
            </a:pPr>
            <a:r>
              <a:rPr lang="vi-VN" sz="2700" b="1">
                <a:solidFill>
                  <a:srgbClr val="BB542A"/>
                </a:solidFill>
                <a:latin typeface="Segoe UI" panose="020B0502040204020203" charset="0"/>
                <a:cs typeface="Segoe UI" panose="020B0502040204020203" charset="0"/>
              </a:rPr>
              <a:t>01</a:t>
            </a:r>
            <a:endParaRPr lang="vi-VN" sz="2700" b="1">
              <a:solidFill>
                <a:srgbClr val="BB542A"/>
              </a:solidFill>
              <a:latin typeface="Segoe UI" panose="020B0502040204020203" charset="0"/>
              <a:cs typeface="Segoe UI" panose="020B0502040204020203" charset="0"/>
            </a:endParaRPr>
          </a:p>
        </p:txBody>
      </p:sp>
      <p:sp>
        <p:nvSpPr>
          <p:cNvPr id="7" name="Rectangle 6"/>
          <p:cNvSpPr/>
          <p:nvPr/>
        </p:nvSpPr>
        <p:spPr>
          <a:xfrm>
            <a:off x="584200" y="2997200"/>
            <a:ext cx="1955800" cy="63500"/>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Text Box 7"/>
          <p:cNvSpPr txBox="1"/>
          <p:nvPr/>
        </p:nvSpPr>
        <p:spPr>
          <a:xfrm>
            <a:off x="584200" y="3365500"/>
            <a:ext cx="1968500" cy="276860"/>
          </a:xfrm>
          <a:prstGeom prst="rect">
            <a:avLst/>
          </a:prstGeom>
          <a:noFill/>
        </p:spPr>
        <p:txBody>
          <a:bodyPr wrap="square" lIns="0" tIns="0" rIns="0" bIns="0" rtlCol="0" anchor="t">
            <a:noAutofit/>
          </a:bodyPr>
          <a:p>
            <a:pPr indent="0">
              <a:spcAft>
                <a:spcPts val="700"/>
              </a:spcAft>
              <a:buNone/>
            </a:pPr>
            <a:r>
              <a:rPr lang="vi-VN" sz="2400" b="1">
                <a:solidFill>
                  <a:srgbClr val="172F3C"/>
                </a:solidFill>
                <a:latin typeface="Segoe UI" panose="020B0502040204020203" charset="0"/>
                <a:cs typeface="Segoe UI" panose="020B0502040204020203" charset="0"/>
              </a:rPr>
              <a:t>Ghi danh</a:t>
            </a:r>
            <a:endParaRPr lang="vi-VN" sz="2400" b="1">
              <a:solidFill>
                <a:srgbClr val="172F3C"/>
              </a:solidFill>
              <a:latin typeface="Segoe UI" panose="020B0502040204020203" charset="0"/>
              <a:cs typeface="Segoe UI" panose="020B0502040204020203" charset="0"/>
            </a:endParaRPr>
          </a:p>
        </p:txBody>
      </p:sp>
      <p:sp>
        <p:nvSpPr>
          <p:cNvPr id="9" name="Text Box 8"/>
          <p:cNvSpPr txBox="1"/>
          <p:nvPr/>
        </p:nvSpPr>
        <p:spPr>
          <a:xfrm>
            <a:off x="584200" y="4457700"/>
            <a:ext cx="1968500" cy="276860"/>
          </a:xfrm>
          <a:prstGeom prst="rect">
            <a:avLst/>
          </a:prstGeom>
          <a:noFill/>
        </p:spPr>
        <p:txBody>
          <a:bodyPr wrap="square" lIns="0" tIns="0" rIns="0" bIns="0" rtlCol="0" anchor="t">
            <a:noAutofit/>
          </a:bodyPr>
          <a:p>
            <a:pPr indent="0">
              <a:spcAft>
                <a:spcPts val="700"/>
              </a:spcAft>
              <a:buNone/>
            </a:pPr>
            <a:r>
              <a:rPr lang="vi-VN">
                <a:solidFill>
                  <a:srgbClr val="172F3C"/>
                </a:solidFill>
                <a:latin typeface="Segoe UI" panose="020B0502040204020203" charset="0"/>
                <a:cs typeface="Segoe UI" panose="020B0502040204020203" charset="0"/>
              </a:rPr>
              <a:t>Tối thiểu 2 ảnh và 2 WAV</a:t>
            </a:r>
            <a:endParaRPr lang="vi-VN">
              <a:solidFill>
                <a:srgbClr val="172F3C"/>
              </a:solidFill>
              <a:latin typeface="Segoe UI" panose="020B0502040204020203" charset="0"/>
              <a:cs typeface="Segoe UI" panose="020B0502040204020203" charset="0"/>
            </a:endParaRPr>
          </a:p>
        </p:txBody>
      </p:sp>
      <p:cxnSp>
        <p:nvCxnSpPr>
          <p:cNvPr id="10" name="Straight Connector 9"/>
          <p:cNvCxnSpPr/>
          <p:nvPr/>
        </p:nvCxnSpPr>
        <p:spPr>
          <a:xfrm>
            <a:off x="2501900" y="3022600"/>
            <a:ext cx="241300" cy="635"/>
          </a:xfrm>
          <a:prstGeom prst="line">
            <a:avLst/>
          </a:prstGeom>
          <a:ln w="25400">
            <a:solidFill>
              <a:srgbClr val="176E68"/>
            </a:solidFill>
            <a:tailEnd type="arrow"/>
          </a:ln>
        </p:spPr>
        <p:style>
          <a:lnRef idx="2">
            <a:schemeClr val="accent1"/>
          </a:lnRef>
          <a:fillRef idx="0">
            <a:srgbClr val="FFFFFF"/>
          </a:fillRef>
          <a:effectRef idx="0">
            <a:srgbClr val="FFFFFF"/>
          </a:effectRef>
          <a:fontRef idx="minor">
            <a:schemeClr val="tx1"/>
          </a:fontRef>
        </p:style>
      </p:cxnSp>
      <p:sp>
        <p:nvSpPr>
          <p:cNvPr id="11" name="Text Box 10"/>
          <p:cNvSpPr txBox="1"/>
          <p:nvPr/>
        </p:nvSpPr>
        <p:spPr>
          <a:xfrm>
            <a:off x="2832100" y="2311400"/>
            <a:ext cx="1981200" cy="276860"/>
          </a:xfrm>
          <a:prstGeom prst="rect">
            <a:avLst/>
          </a:prstGeom>
          <a:noFill/>
        </p:spPr>
        <p:txBody>
          <a:bodyPr wrap="square" lIns="0" tIns="0" rIns="0" bIns="0" rtlCol="0" anchor="t">
            <a:noAutofit/>
          </a:bodyPr>
          <a:p>
            <a:pPr indent="0">
              <a:spcAft>
                <a:spcPts val="700"/>
              </a:spcAft>
              <a:buNone/>
            </a:pPr>
            <a:r>
              <a:rPr lang="vi-VN" sz="2700" b="1">
                <a:solidFill>
                  <a:srgbClr val="BB542A"/>
                </a:solidFill>
                <a:latin typeface="Segoe UI" panose="020B0502040204020203" charset="0"/>
                <a:cs typeface="Segoe UI" panose="020B0502040204020203" charset="0"/>
              </a:rPr>
              <a:t>02</a:t>
            </a:r>
            <a:endParaRPr lang="vi-VN" sz="2700" b="1">
              <a:solidFill>
                <a:srgbClr val="BB542A"/>
              </a:solidFill>
              <a:latin typeface="Segoe UI" panose="020B0502040204020203" charset="0"/>
              <a:cs typeface="Segoe UI" panose="020B0502040204020203" charset="0"/>
            </a:endParaRPr>
          </a:p>
        </p:txBody>
      </p:sp>
      <p:sp>
        <p:nvSpPr>
          <p:cNvPr id="12" name="Rectangle 11"/>
          <p:cNvSpPr/>
          <p:nvPr/>
        </p:nvSpPr>
        <p:spPr>
          <a:xfrm>
            <a:off x="2832100" y="2997200"/>
            <a:ext cx="1955800" cy="63500"/>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3" name="Text Box 12"/>
          <p:cNvSpPr txBox="1"/>
          <p:nvPr/>
        </p:nvSpPr>
        <p:spPr>
          <a:xfrm>
            <a:off x="2832100" y="3365500"/>
            <a:ext cx="1968500" cy="276860"/>
          </a:xfrm>
          <a:prstGeom prst="rect">
            <a:avLst/>
          </a:prstGeom>
          <a:noFill/>
        </p:spPr>
        <p:txBody>
          <a:bodyPr wrap="square" lIns="0" tIns="0" rIns="0" bIns="0" rtlCol="0" anchor="t">
            <a:noAutofit/>
          </a:bodyPr>
          <a:p>
            <a:pPr indent="0">
              <a:spcAft>
                <a:spcPts val="700"/>
              </a:spcAft>
              <a:buNone/>
            </a:pPr>
            <a:r>
              <a:rPr lang="vi-VN" sz="2400" b="1">
                <a:solidFill>
                  <a:srgbClr val="172F3C"/>
                </a:solidFill>
                <a:latin typeface="Segoe UI" panose="020B0502040204020203" charset="0"/>
                <a:cs typeface="Segoe UI" panose="020B0502040204020203" charset="0"/>
              </a:rPr>
              <a:t>Gửi capture</a:t>
            </a:r>
            <a:endParaRPr lang="vi-VN" sz="2400" b="1">
              <a:solidFill>
                <a:srgbClr val="172F3C"/>
              </a:solidFill>
              <a:latin typeface="Segoe UI" panose="020B0502040204020203" charset="0"/>
              <a:cs typeface="Segoe UI" panose="020B0502040204020203" charset="0"/>
            </a:endParaRPr>
          </a:p>
        </p:txBody>
      </p:sp>
      <p:sp>
        <p:nvSpPr>
          <p:cNvPr id="14" name="Text Box 13"/>
          <p:cNvSpPr txBox="1"/>
          <p:nvPr/>
        </p:nvSpPr>
        <p:spPr>
          <a:xfrm>
            <a:off x="2832100" y="4457700"/>
            <a:ext cx="1968500" cy="276860"/>
          </a:xfrm>
          <a:prstGeom prst="rect">
            <a:avLst/>
          </a:prstGeom>
          <a:noFill/>
        </p:spPr>
        <p:txBody>
          <a:bodyPr wrap="square" lIns="0" tIns="0" rIns="0" bIns="0" rtlCol="0" anchor="t">
            <a:noAutofit/>
          </a:bodyPr>
          <a:p>
            <a:pPr indent="0">
              <a:spcAft>
                <a:spcPts val="700"/>
              </a:spcAft>
              <a:buNone/>
            </a:pPr>
            <a:r>
              <a:rPr lang="vi-VN">
                <a:solidFill>
                  <a:srgbClr val="172F3C"/>
                </a:solidFill>
                <a:latin typeface="Segoe UI" panose="020B0502040204020203" charset="0"/>
                <a:cs typeface="Segoe UI" panose="020B0502040204020203" charset="0"/>
              </a:rPr>
              <a:t>person, session, request, consent</a:t>
            </a:r>
            <a:endParaRPr lang="vi-VN">
              <a:solidFill>
                <a:srgbClr val="172F3C"/>
              </a:solidFill>
              <a:latin typeface="Segoe UI" panose="020B0502040204020203" charset="0"/>
              <a:cs typeface="Segoe UI" panose="020B0502040204020203" charset="0"/>
            </a:endParaRPr>
          </a:p>
        </p:txBody>
      </p:sp>
      <p:cxnSp>
        <p:nvCxnSpPr>
          <p:cNvPr id="15" name="Straight Connector 14"/>
          <p:cNvCxnSpPr/>
          <p:nvPr/>
        </p:nvCxnSpPr>
        <p:spPr>
          <a:xfrm>
            <a:off x="4749800" y="3022600"/>
            <a:ext cx="241300" cy="635"/>
          </a:xfrm>
          <a:prstGeom prst="line">
            <a:avLst/>
          </a:prstGeom>
          <a:ln w="25400">
            <a:solidFill>
              <a:srgbClr val="176E68"/>
            </a:solidFill>
            <a:tailEnd type="arrow"/>
          </a:ln>
        </p:spPr>
        <p:style>
          <a:lnRef idx="2">
            <a:schemeClr val="accent1"/>
          </a:lnRef>
          <a:fillRef idx="0">
            <a:srgbClr val="FFFFFF"/>
          </a:fillRef>
          <a:effectRef idx="0">
            <a:srgbClr val="FFFFFF"/>
          </a:effectRef>
          <a:fontRef idx="minor">
            <a:schemeClr val="tx1"/>
          </a:fontRef>
        </p:style>
      </p:cxnSp>
      <p:sp>
        <p:nvSpPr>
          <p:cNvPr id="16" name="Text Box 15"/>
          <p:cNvSpPr txBox="1"/>
          <p:nvPr/>
        </p:nvSpPr>
        <p:spPr>
          <a:xfrm>
            <a:off x="5080000" y="2311400"/>
            <a:ext cx="1981200" cy="276860"/>
          </a:xfrm>
          <a:prstGeom prst="rect">
            <a:avLst/>
          </a:prstGeom>
          <a:noFill/>
        </p:spPr>
        <p:txBody>
          <a:bodyPr wrap="square" lIns="0" tIns="0" rIns="0" bIns="0" rtlCol="0" anchor="t">
            <a:noAutofit/>
          </a:bodyPr>
          <a:p>
            <a:pPr indent="0">
              <a:spcAft>
                <a:spcPts val="700"/>
              </a:spcAft>
              <a:buNone/>
            </a:pPr>
            <a:r>
              <a:rPr lang="vi-VN" sz="2700" b="1">
                <a:solidFill>
                  <a:srgbClr val="BB542A"/>
                </a:solidFill>
                <a:latin typeface="Segoe UI" panose="020B0502040204020203" charset="0"/>
                <a:cs typeface="Segoe UI" panose="020B0502040204020203" charset="0"/>
              </a:rPr>
              <a:t>03</a:t>
            </a:r>
            <a:endParaRPr lang="vi-VN" sz="2700" b="1">
              <a:solidFill>
                <a:srgbClr val="BB542A"/>
              </a:solidFill>
              <a:latin typeface="Segoe UI" panose="020B0502040204020203" charset="0"/>
              <a:cs typeface="Segoe UI" panose="020B0502040204020203" charset="0"/>
            </a:endParaRPr>
          </a:p>
        </p:txBody>
      </p:sp>
      <p:sp>
        <p:nvSpPr>
          <p:cNvPr id="17" name="Rectangle 16"/>
          <p:cNvSpPr/>
          <p:nvPr/>
        </p:nvSpPr>
        <p:spPr>
          <a:xfrm>
            <a:off x="5080000" y="2997200"/>
            <a:ext cx="1955800" cy="63500"/>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8" name="Text Box 17"/>
          <p:cNvSpPr txBox="1"/>
          <p:nvPr/>
        </p:nvSpPr>
        <p:spPr>
          <a:xfrm>
            <a:off x="5080000" y="3365500"/>
            <a:ext cx="1968500" cy="276860"/>
          </a:xfrm>
          <a:prstGeom prst="rect">
            <a:avLst/>
          </a:prstGeom>
          <a:noFill/>
        </p:spPr>
        <p:txBody>
          <a:bodyPr wrap="square" lIns="0" tIns="0" rIns="0" bIns="0" rtlCol="0" anchor="t">
            <a:noAutofit/>
          </a:bodyPr>
          <a:p>
            <a:pPr indent="0">
              <a:spcAft>
                <a:spcPts val="700"/>
              </a:spcAft>
              <a:buNone/>
            </a:pPr>
            <a:r>
              <a:rPr lang="vi-VN" sz="2400" b="1">
                <a:solidFill>
                  <a:srgbClr val="172F3C"/>
                </a:solidFill>
                <a:latin typeface="Segoe UI" panose="020B0502040204020203" charset="0"/>
                <a:cs typeface="Segoe UI" panose="020B0502040204020203" charset="0"/>
              </a:rPr>
              <a:t>Xác minh</a:t>
            </a:r>
            <a:endParaRPr lang="vi-VN" sz="2400" b="1">
              <a:solidFill>
                <a:srgbClr val="172F3C"/>
              </a:solidFill>
              <a:latin typeface="Segoe UI" panose="020B0502040204020203" charset="0"/>
              <a:cs typeface="Segoe UI" panose="020B0502040204020203" charset="0"/>
            </a:endParaRPr>
          </a:p>
        </p:txBody>
      </p:sp>
      <p:sp>
        <p:nvSpPr>
          <p:cNvPr id="19" name="Text Box 18"/>
          <p:cNvSpPr txBox="1"/>
          <p:nvPr/>
        </p:nvSpPr>
        <p:spPr>
          <a:xfrm>
            <a:off x="5080000" y="4457700"/>
            <a:ext cx="1968500" cy="276860"/>
          </a:xfrm>
          <a:prstGeom prst="rect">
            <a:avLst/>
          </a:prstGeom>
          <a:noFill/>
        </p:spPr>
        <p:txBody>
          <a:bodyPr wrap="square" lIns="0" tIns="0" rIns="0" bIns="0" rtlCol="0" anchor="t">
            <a:noAutofit/>
          </a:bodyPr>
          <a:p>
            <a:pPr indent="0">
              <a:spcAft>
                <a:spcPts val="700"/>
              </a:spcAft>
              <a:buNone/>
            </a:pPr>
            <a:r>
              <a:rPr lang="vi-VN">
                <a:solidFill>
                  <a:srgbClr val="172F3C"/>
                </a:solidFill>
                <a:latin typeface="Segoe UI" panose="020B0502040204020203" charset="0"/>
                <a:cs typeface="Segoe UI" panose="020B0502040204020203" charset="0"/>
              </a:rPr>
              <a:t>Identity và integrity checks</a:t>
            </a:r>
            <a:endParaRPr lang="vi-VN">
              <a:solidFill>
                <a:srgbClr val="172F3C"/>
              </a:solidFill>
              <a:latin typeface="Segoe UI" panose="020B0502040204020203" charset="0"/>
              <a:cs typeface="Segoe UI" panose="020B0502040204020203" charset="0"/>
            </a:endParaRPr>
          </a:p>
        </p:txBody>
      </p:sp>
      <p:cxnSp>
        <p:nvCxnSpPr>
          <p:cNvPr id="20" name="Straight Connector 19"/>
          <p:cNvCxnSpPr/>
          <p:nvPr/>
        </p:nvCxnSpPr>
        <p:spPr>
          <a:xfrm>
            <a:off x="6997700" y="3022600"/>
            <a:ext cx="241300" cy="635"/>
          </a:xfrm>
          <a:prstGeom prst="line">
            <a:avLst/>
          </a:prstGeom>
          <a:ln w="25400">
            <a:solidFill>
              <a:srgbClr val="176E68"/>
            </a:solidFill>
            <a:tailEnd type="arrow"/>
          </a:ln>
        </p:spPr>
        <p:style>
          <a:lnRef idx="2">
            <a:schemeClr val="accent1"/>
          </a:lnRef>
          <a:fillRef idx="0">
            <a:srgbClr val="FFFFFF"/>
          </a:fillRef>
          <a:effectRef idx="0">
            <a:srgbClr val="FFFFFF"/>
          </a:effectRef>
          <a:fontRef idx="minor">
            <a:schemeClr val="tx1"/>
          </a:fontRef>
        </p:style>
      </p:cxnSp>
      <p:sp>
        <p:nvSpPr>
          <p:cNvPr id="21" name="Text Box 20"/>
          <p:cNvSpPr txBox="1"/>
          <p:nvPr/>
        </p:nvSpPr>
        <p:spPr>
          <a:xfrm>
            <a:off x="7327900" y="2311400"/>
            <a:ext cx="1981200" cy="276860"/>
          </a:xfrm>
          <a:prstGeom prst="rect">
            <a:avLst/>
          </a:prstGeom>
          <a:noFill/>
        </p:spPr>
        <p:txBody>
          <a:bodyPr wrap="square" lIns="0" tIns="0" rIns="0" bIns="0" rtlCol="0" anchor="t">
            <a:noAutofit/>
          </a:bodyPr>
          <a:p>
            <a:pPr indent="0">
              <a:spcAft>
                <a:spcPts val="700"/>
              </a:spcAft>
              <a:buNone/>
            </a:pPr>
            <a:r>
              <a:rPr lang="vi-VN" sz="2700" b="1">
                <a:solidFill>
                  <a:srgbClr val="BB542A"/>
                </a:solidFill>
                <a:latin typeface="Segoe UI" panose="020B0502040204020203" charset="0"/>
                <a:cs typeface="Segoe UI" panose="020B0502040204020203" charset="0"/>
              </a:rPr>
              <a:t>04</a:t>
            </a:r>
            <a:endParaRPr lang="vi-VN" sz="2700" b="1">
              <a:solidFill>
                <a:srgbClr val="BB542A"/>
              </a:solidFill>
              <a:latin typeface="Segoe UI" panose="020B0502040204020203" charset="0"/>
              <a:cs typeface="Segoe UI" panose="020B0502040204020203" charset="0"/>
            </a:endParaRPr>
          </a:p>
        </p:txBody>
      </p:sp>
      <p:sp>
        <p:nvSpPr>
          <p:cNvPr id="22" name="Rectangle 21"/>
          <p:cNvSpPr/>
          <p:nvPr/>
        </p:nvSpPr>
        <p:spPr>
          <a:xfrm>
            <a:off x="7327900" y="2997200"/>
            <a:ext cx="1955800" cy="63500"/>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3" name="Text Box 22"/>
          <p:cNvSpPr txBox="1"/>
          <p:nvPr/>
        </p:nvSpPr>
        <p:spPr>
          <a:xfrm>
            <a:off x="7327900" y="3365500"/>
            <a:ext cx="1968500" cy="276860"/>
          </a:xfrm>
          <a:prstGeom prst="rect">
            <a:avLst/>
          </a:prstGeom>
          <a:noFill/>
        </p:spPr>
        <p:txBody>
          <a:bodyPr wrap="square" lIns="0" tIns="0" rIns="0" bIns="0" rtlCol="0" anchor="t">
            <a:noAutofit/>
          </a:bodyPr>
          <a:p>
            <a:pPr indent="0">
              <a:spcAft>
                <a:spcPts val="700"/>
              </a:spcAft>
              <a:buNone/>
            </a:pPr>
            <a:r>
              <a:rPr lang="vi-VN" sz="2400" b="1">
                <a:solidFill>
                  <a:srgbClr val="172F3C"/>
                </a:solidFill>
                <a:latin typeface="Segoe UI" panose="020B0502040204020203" charset="0"/>
                <a:cs typeface="Segoe UI" panose="020B0502040204020203" charset="0"/>
              </a:rPr>
              <a:t>Trả kết quả</a:t>
            </a:r>
            <a:endParaRPr lang="vi-VN" sz="2400" b="1">
              <a:solidFill>
                <a:srgbClr val="172F3C"/>
              </a:solidFill>
              <a:latin typeface="Segoe UI" panose="020B0502040204020203" charset="0"/>
              <a:cs typeface="Segoe UI" panose="020B0502040204020203" charset="0"/>
            </a:endParaRPr>
          </a:p>
        </p:txBody>
      </p:sp>
      <p:sp>
        <p:nvSpPr>
          <p:cNvPr id="24" name="Text Box 23"/>
          <p:cNvSpPr txBox="1"/>
          <p:nvPr/>
        </p:nvSpPr>
        <p:spPr>
          <a:xfrm>
            <a:off x="7327900" y="4457700"/>
            <a:ext cx="1968500" cy="276860"/>
          </a:xfrm>
          <a:prstGeom prst="rect">
            <a:avLst/>
          </a:prstGeom>
          <a:noFill/>
        </p:spPr>
        <p:txBody>
          <a:bodyPr wrap="square" lIns="0" tIns="0" rIns="0" bIns="0" rtlCol="0" anchor="t">
            <a:noAutofit/>
          </a:bodyPr>
          <a:p>
            <a:pPr indent="0">
              <a:spcAft>
                <a:spcPts val="700"/>
              </a:spcAft>
              <a:buNone/>
            </a:pPr>
            <a:r>
              <a:rPr lang="vi-VN">
                <a:solidFill>
                  <a:srgbClr val="172F3C"/>
                </a:solidFill>
                <a:latin typeface="Segoe UI" panose="020B0502040204020203" charset="0"/>
                <a:cs typeface="Segoe UI" panose="020B0502040204020203" charset="0"/>
              </a:rPr>
              <a:t>API và webhook HMAC</a:t>
            </a:r>
            <a:endParaRPr lang="vi-VN">
              <a:solidFill>
                <a:srgbClr val="172F3C"/>
              </a:solidFill>
              <a:latin typeface="Segoe UI" panose="020B0502040204020203" charset="0"/>
              <a:cs typeface="Segoe UI" panose="020B0502040204020203" charset="0"/>
            </a:endParaRPr>
          </a:p>
        </p:txBody>
      </p:sp>
      <p:cxnSp>
        <p:nvCxnSpPr>
          <p:cNvPr id="25" name="Straight Connector 24"/>
          <p:cNvCxnSpPr/>
          <p:nvPr/>
        </p:nvCxnSpPr>
        <p:spPr>
          <a:xfrm>
            <a:off x="9245600" y="3022600"/>
            <a:ext cx="241300" cy="635"/>
          </a:xfrm>
          <a:prstGeom prst="line">
            <a:avLst/>
          </a:prstGeom>
          <a:ln w="25400">
            <a:solidFill>
              <a:srgbClr val="176E68"/>
            </a:solidFill>
            <a:tailEnd type="arrow"/>
          </a:ln>
        </p:spPr>
        <p:style>
          <a:lnRef idx="2">
            <a:schemeClr val="accent1"/>
          </a:lnRef>
          <a:fillRef idx="0">
            <a:srgbClr val="FFFFFF"/>
          </a:fillRef>
          <a:effectRef idx="0">
            <a:srgbClr val="FFFFFF"/>
          </a:effectRef>
          <a:fontRef idx="minor">
            <a:schemeClr val="tx1"/>
          </a:fontRef>
        </p:style>
      </p:cxnSp>
      <p:sp>
        <p:nvSpPr>
          <p:cNvPr id="26" name="Text Box 25"/>
          <p:cNvSpPr txBox="1"/>
          <p:nvPr/>
        </p:nvSpPr>
        <p:spPr>
          <a:xfrm>
            <a:off x="9575800" y="2311400"/>
            <a:ext cx="1981200" cy="276860"/>
          </a:xfrm>
          <a:prstGeom prst="rect">
            <a:avLst/>
          </a:prstGeom>
          <a:noFill/>
        </p:spPr>
        <p:txBody>
          <a:bodyPr wrap="square" lIns="0" tIns="0" rIns="0" bIns="0" rtlCol="0" anchor="t">
            <a:noAutofit/>
          </a:bodyPr>
          <a:p>
            <a:pPr indent="0">
              <a:spcAft>
                <a:spcPts val="700"/>
              </a:spcAft>
              <a:buNone/>
            </a:pPr>
            <a:r>
              <a:rPr lang="vi-VN" sz="2700" b="1">
                <a:solidFill>
                  <a:srgbClr val="BB542A"/>
                </a:solidFill>
                <a:latin typeface="Segoe UI" panose="020B0502040204020203" charset="0"/>
                <a:cs typeface="Segoe UI" panose="020B0502040204020203" charset="0"/>
              </a:rPr>
              <a:t>05</a:t>
            </a:r>
            <a:endParaRPr lang="vi-VN" sz="2700" b="1">
              <a:solidFill>
                <a:srgbClr val="BB542A"/>
              </a:solidFill>
              <a:latin typeface="Segoe UI" panose="020B0502040204020203" charset="0"/>
              <a:cs typeface="Segoe UI" panose="020B0502040204020203" charset="0"/>
            </a:endParaRPr>
          </a:p>
        </p:txBody>
      </p:sp>
      <p:sp>
        <p:nvSpPr>
          <p:cNvPr id="27" name="Rectangle 26"/>
          <p:cNvSpPr/>
          <p:nvPr/>
        </p:nvSpPr>
        <p:spPr>
          <a:xfrm>
            <a:off x="9575800" y="2997200"/>
            <a:ext cx="1955800" cy="63500"/>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8" name="Text Box 27"/>
          <p:cNvSpPr txBox="1"/>
          <p:nvPr/>
        </p:nvSpPr>
        <p:spPr>
          <a:xfrm>
            <a:off x="9575800" y="3365500"/>
            <a:ext cx="1968500" cy="276860"/>
          </a:xfrm>
          <a:prstGeom prst="rect">
            <a:avLst/>
          </a:prstGeom>
          <a:noFill/>
        </p:spPr>
        <p:txBody>
          <a:bodyPr wrap="square" lIns="0" tIns="0" rIns="0" bIns="0" rtlCol="0" anchor="t">
            <a:noAutofit/>
          </a:bodyPr>
          <a:p>
            <a:pPr indent="0">
              <a:spcAft>
                <a:spcPts val="700"/>
              </a:spcAft>
              <a:buNone/>
            </a:pPr>
            <a:r>
              <a:rPr lang="vi-VN" sz="2400" b="1">
                <a:solidFill>
                  <a:srgbClr val="172F3C"/>
                </a:solidFill>
                <a:latin typeface="Segoe UI" panose="020B0502040204020203" charset="0"/>
                <a:cs typeface="Segoe UI" panose="020B0502040204020203" charset="0"/>
              </a:rPr>
              <a:t>Rà soát</a:t>
            </a:r>
            <a:endParaRPr lang="vi-VN" sz="2400" b="1">
              <a:solidFill>
                <a:srgbClr val="172F3C"/>
              </a:solidFill>
              <a:latin typeface="Segoe UI" panose="020B0502040204020203" charset="0"/>
              <a:cs typeface="Segoe UI" panose="020B0502040204020203" charset="0"/>
            </a:endParaRPr>
          </a:p>
        </p:txBody>
      </p:sp>
      <p:sp>
        <p:nvSpPr>
          <p:cNvPr id="29" name="Text Box 28"/>
          <p:cNvSpPr txBox="1"/>
          <p:nvPr/>
        </p:nvSpPr>
        <p:spPr>
          <a:xfrm>
            <a:off x="9575800" y="4457700"/>
            <a:ext cx="1968500" cy="276860"/>
          </a:xfrm>
          <a:prstGeom prst="rect">
            <a:avLst/>
          </a:prstGeom>
          <a:noFill/>
        </p:spPr>
        <p:txBody>
          <a:bodyPr wrap="square" lIns="0" tIns="0" rIns="0" bIns="0" rtlCol="0" anchor="t">
            <a:noAutofit/>
          </a:bodyPr>
          <a:p>
            <a:pPr indent="0">
              <a:spcAft>
                <a:spcPts val="700"/>
              </a:spcAft>
              <a:buNone/>
            </a:pPr>
            <a:r>
              <a:rPr lang="vi-VN">
                <a:solidFill>
                  <a:srgbClr val="172F3C"/>
                </a:solidFill>
                <a:latin typeface="Segoe UI" panose="020B0502040204020203" charset="0"/>
                <a:cs typeface="Segoe UI" panose="020B0502040204020203" charset="0"/>
              </a:rPr>
              <a:t>Lịch sử, evidence, báo cáo</a:t>
            </a:r>
            <a:endParaRPr lang="vi-VN">
              <a:solidFill>
                <a:srgbClr val="172F3C"/>
              </a:solidFill>
              <a:latin typeface="Segoe UI" panose="020B0502040204020203" charset="0"/>
              <a:cs typeface="Segoe UI" panose="020B0502040204020203"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Model biến ảnh và giọng nói thành quyết định</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7</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Retrain hiện tại là hiệu chỉnh threshold policy. Các encoder pretrained được giữ cố định</a:t>
            </a:r>
            <a:endParaRPr lang="vi-VN" sz="1200">
              <a:solidFill>
                <a:srgbClr val="526673"/>
              </a:solidFill>
              <a:latin typeface="Segoe UI" panose="020B0502040204020203" charset="0"/>
              <a:cs typeface="Segoe UI" panose="020B0502040204020203" charset="0"/>
            </a:endParaRPr>
          </a:p>
        </p:txBody>
      </p:sp>
      <p:sp>
        <p:nvSpPr>
          <p:cNvPr id="6" name="Text Box 5"/>
          <p:cNvSpPr txBox="1"/>
          <p:nvPr/>
        </p:nvSpPr>
        <p:spPr>
          <a:xfrm>
            <a:off x="584200" y="2032000"/>
            <a:ext cx="1397000" cy="276860"/>
          </a:xfrm>
          <a:prstGeom prst="rect">
            <a:avLst/>
          </a:prstGeom>
          <a:noFill/>
        </p:spPr>
        <p:txBody>
          <a:bodyPr wrap="square" lIns="0" tIns="0" rIns="0" bIns="0" rtlCol="0" anchor="t">
            <a:noAutofit/>
          </a:bodyPr>
          <a:p>
            <a:pPr indent="0">
              <a:spcAft>
                <a:spcPts val="700"/>
              </a:spcAft>
              <a:buNone/>
            </a:pPr>
            <a:r>
              <a:rPr lang="vi-VN" sz="1900" b="1">
                <a:solidFill>
                  <a:srgbClr val="BB542A"/>
                </a:solidFill>
                <a:latin typeface="Segoe UI" panose="020B0502040204020203" charset="0"/>
                <a:cs typeface="Segoe UI" panose="020B0502040204020203" charset="0"/>
              </a:rPr>
              <a:t>FACE</a:t>
            </a:r>
            <a:endParaRPr lang="vi-VN" sz="1900" b="1">
              <a:solidFill>
                <a:srgbClr val="BB542A"/>
              </a:solidFill>
              <a:latin typeface="Segoe UI" panose="020B0502040204020203" charset="0"/>
              <a:cs typeface="Segoe UI" panose="020B0502040204020203" charset="0"/>
            </a:endParaRPr>
          </a:p>
        </p:txBody>
      </p:sp>
      <p:sp>
        <p:nvSpPr>
          <p:cNvPr id="7" name="Text Box 6"/>
          <p:cNvSpPr txBox="1"/>
          <p:nvPr/>
        </p:nvSpPr>
        <p:spPr>
          <a:xfrm>
            <a:off x="2273300" y="2032000"/>
            <a:ext cx="1270000" cy="276860"/>
          </a:xfrm>
          <a:prstGeom prst="rect">
            <a:avLst/>
          </a:prstGeom>
          <a:noFill/>
        </p:spPr>
        <p:txBody>
          <a:bodyPr wrap="square" lIns="0" tIns="0" rIns="0" bIns="0" rtlCol="0" anchor="t">
            <a:noAutofit/>
          </a:bodyPr>
          <a:p>
            <a:pPr indent="0">
              <a:spcAft>
                <a:spcPts val="700"/>
              </a:spcAft>
              <a:buNone/>
            </a:pPr>
            <a:r>
              <a:rPr lang="vi-VN" sz="2400">
                <a:solidFill>
                  <a:srgbClr val="172F3C"/>
                </a:solidFill>
                <a:latin typeface="Segoe UI" panose="020B0502040204020203" charset="0"/>
                <a:cs typeface="Segoe UI" panose="020B0502040204020203" charset="0"/>
              </a:rPr>
              <a:t>Ảnh</a:t>
            </a:r>
            <a:endParaRPr lang="vi-VN" sz="2400">
              <a:solidFill>
                <a:srgbClr val="172F3C"/>
              </a:solidFill>
              <a:latin typeface="Segoe UI" panose="020B0502040204020203" charset="0"/>
              <a:cs typeface="Segoe UI" panose="020B0502040204020203" charset="0"/>
            </a:endParaRPr>
          </a:p>
        </p:txBody>
      </p:sp>
      <p:cxnSp>
        <p:nvCxnSpPr>
          <p:cNvPr id="8" name="Straight Connector 7"/>
          <p:cNvCxnSpPr/>
          <p:nvPr/>
        </p:nvCxnSpPr>
        <p:spPr>
          <a:xfrm>
            <a:off x="3581400" y="2247900"/>
            <a:ext cx="609600" cy="635"/>
          </a:xfrm>
          <a:prstGeom prst="line">
            <a:avLst/>
          </a:prstGeom>
          <a:ln w="25400">
            <a:solidFill>
              <a:srgbClr val="176E68"/>
            </a:solidFill>
            <a:tailEnd type="arrow"/>
          </a:ln>
        </p:spPr>
        <p:style>
          <a:lnRef idx="2">
            <a:schemeClr val="accent1"/>
          </a:lnRef>
          <a:fillRef idx="0">
            <a:srgbClr val="FFFFFF"/>
          </a:fillRef>
          <a:effectRef idx="0">
            <a:srgbClr val="FFFFFF"/>
          </a:effectRef>
          <a:fontRef idx="minor">
            <a:schemeClr val="tx1"/>
          </a:fontRef>
        </p:style>
      </p:cxnSp>
      <p:sp>
        <p:nvSpPr>
          <p:cNvPr id="9" name="Text Box 8"/>
          <p:cNvSpPr txBox="1"/>
          <p:nvPr/>
        </p:nvSpPr>
        <p:spPr>
          <a:xfrm>
            <a:off x="4457700" y="2032000"/>
            <a:ext cx="2857500" cy="276860"/>
          </a:xfrm>
          <a:prstGeom prst="rect">
            <a:avLst/>
          </a:prstGeom>
          <a:noFill/>
        </p:spPr>
        <p:txBody>
          <a:bodyPr wrap="square" lIns="0" tIns="0" rIns="0" bIns="0" rtlCol="0" anchor="t">
            <a:noAutofit/>
          </a:bodyPr>
          <a:p>
            <a:pPr indent="0">
              <a:spcAft>
                <a:spcPts val="700"/>
              </a:spcAft>
              <a:buNone/>
            </a:pPr>
            <a:r>
              <a:rPr lang="vi-VN" sz="2300" b="1">
                <a:solidFill>
                  <a:srgbClr val="176E68"/>
                </a:solidFill>
                <a:latin typeface="Segoe UI" panose="020B0502040204020203" charset="0"/>
                <a:cs typeface="Segoe UI" panose="020B0502040204020203" charset="0"/>
              </a:rPr>
              <a:t>YuNet + SFace</a:t>
            </a:r>
            <a:endParaRPr lang="vi-VN" sz="2300" b="1">
              <a:solidFill>
                <a:srgbClr val="176E68"/>
              </a:solidFill>
              <a:latin typeface="Segoe UI" panose="020B0502040204020203" charset="0"/>
              <a:cs typeface="Segoe UI" panose="020B0502040204020203" charset="0"/>
            </a:endParaRPr>
          </a:p>
        </p:txBody>
      </p:sp>
      <p:cxnSp>
        <p:nvCxnSpPr>
          <p:cNvPr id="10" name="Straight Connector 9"/>
          <p:cNvCxnSpPr/>
          <p:nvPr/>
        </p:nvCxnSpPr>
        <p:spPr>
          <a:xfrm>
            <a:off x="7518400" y="2247900"/>
            <a:ext cx="571500" cy="635"/>
          </a:xfrm>
          <a:prstGeom prst="line">
            <a:avLst/>
          </a:prstGeom>
          <a:ln w="25400">
            <a:solidFill>
              <a:srgbClr val="176E68"/>
            </a:solidFill>
            <a:tailEnd type="arrow"/>
          </a:ln>
        </p:spPr>
        <p:style>
          <a:lnRef idx="2">
            <a:schemeClr val="accent1"/>
          </a:lnRef>
          <a:fillRef idx="0">
            <a:srgbClr val="FFFFFF"/>
          </a:fillRef>
          <a:effectRef idx="0">
            <a:srgbClr val="FFFFFF"/>
          </a:effectRef>
          <a:fontRef idx="minor">
            <a:schemeClr val="tx1"/>
          </a:fontRef>
        </p:style>
      </p:cxnSp>
      <p:sp>
        <p:nvSpPr>
          <p:cNvPr id="11" name="Text Box 10"/>
          <p:cNvSpPr txBox="1"/>
          <p:nvPr/>
        </p:nvSpPr>
        <p:spPr>
          <a:xfrm>
            <a:off x="8343900" y="2032000"/>
            <a:ext cx="3263900" cy="276860"/>
          </a:xfrm>
          <a:prstGeom prst="rect">
            <a:avLst/>
          </a:prstGeom>
          <a:noFill/>
        </p:spPr>
        <p:txBody>
          <a:bodyPr wrap="square" lIns="0" tIns="0" rIns="0" bIns="0" rtlCol="0" anchor="t">
            <a:noAutofit/>
          </a:bodyPr>
          <a:p>
            <a:pPr indent="0">
              <a:spcAft>
                <a:spcPts val="700"/>
              </a:spcAft>
              <a:buNone/>
            </a:pPr>
            <a:r>
              <a:rPr lang="vi-VN" sz="2200">
                <a:solidFill>
                  <a:srgbClr val="172F3C"/>
                </a:solidFill>
                <a:latin typeface="Segoe UI" panose="020B0502040204020203" charset="0"/>
                <a:cs typeface="Segoe UI" panose="020B0502040204020203" charset="0"/>
              </a:rPr>
              <a:t>Embedding chuẩn hóa</a:t>
            </a:r>
            <a:endParaRPr lang="vi-VN" sz="2200">
              <a:solidFill>
                <a:srgbClr val="172F3C"/>
              </a:solidFill>
              <a:latin typeface="Segoe UI" panose="020B0502040204020203" charset="0"/>
              <a:cs typeface="Segoe UI" panose="020B0502040204020203" charset="0"/>
            </a:endParaRPr>
          </a:p>
        </p:txBody>
      </p:sp>
      <p:sp>
        <p:nvSpPr>
          <p:cNvPr id="12" name="Text Box 11"/>
          <p:cNvSpPr txBox="1"/>
          <p:nvPr/>
        </p:nvSpPr>
        <p:spPr>
          <a:xfrm>
            <a:off x="584200" y="3352800"/>
            <a:ext cx="1397000" cy="276860"/>
          </a:xfrm>
          <a:prstGeom prst="rect">
            <a:avLst/>
          </a:prstGeom>
          <a:noFill/>
        </p:spPr>
        <p:txBody>
          <a:bodyPr wrap="square" lIns="0" tIns="0" rIns="0" bIns="0" rtlCol="0" anchor="t">
            <a:noAutofit/>
          </a:bodyPr>
          <a:p>
            <a:pPr indent="0">
              <a:spcAft>
                <a:spcPts val="700"/>
              </a:spcAft>
              <a:buNone/>
            </a:pPr>
            <a:r>
              <a:rPr lang="vi-VN" sz="1900" b="1">
                <a:solidFill>
                  <a:srgbClr val="BB542A"/>
                </a:solidFill>
                <a:latin typeface="Segoe UI" panose="020B0502040204020203" charset="0"/>
                <a:cs typeface="Segoe UI" panose="020B0502040204020203" charset="0"/>
              </a:rPr>
              <a:t>VOICE</a:t>
            </a:r>
            <a:endParaRPr lang="vi-VN" sz="1900" b="1">
              <a:solidFill>
                <a:srgbClr val="BB542A"/>
              </a:solidFill>
              <a:latin typeface="Segoe UI" panose="020B0502040204020203" charset="0"/>
              <a:cs typeface="Segoe UI" panose="020B0502040204020203" charset="0"/>
            </a:endParaRPr>
          </a:p>
        </p:txBody>
      </p:sp>
      <p:sp>
        <p:nvSpPr>
          <p:cNvPr id="13" name="Text Box 12"/>
          <p:cNvSpPr txBox="1"/>
          <p:nvPr/>
        </p:nvSpPr>
        <p:spPr>
          <a:xfrm>
            <a:off x="2273300" y="3352800"/>
            <a:ext cx="1270000" cy="276860"/>
          </a:xfrm>
          <a:prstGeom prst="rect">
            <a:avLst/>
          </a:prstGeom>
          <a:noFill/>
        </p:spPr>
        <p:txBody>
          <a:bodyPr wrap="square" lIns="0" tIns="0" rIns="0" bIns="0" rtlCol="0" anchor="t">
            <a:noAutofit/>
          </a:bodyPr>
          <a:p>
            <a:pPr indent="0">
              <a:spcAft>
                <a:spcPts val="700"/>
              </a:spcAft>
              <a:buNone/>
            </a:pPr>
            <a:r>
              <a:rPr lang="vi-VN" sz="2400">
                <a:solidFill>
                  <a:srgbClr val="172F3C"/>
                </a:solidFill>
                <a:latin typeface="Segoe UI" panose="020B0502040204020203" charset="0"/>
                <a:cs typeface="Segoe UI" panose="020B0502040204020203" charset="0"/>
              </a:rPr>
              <a:t>WAV</a:t>
            </a:r>
            <a:endParaRPr lang="vi-VN" sz="2400">
              <a:solidFill>
                <a:srgbClr val="172F3C"/>
              </a:solidFill>
              <a:latin typeface="Segoe UI" panose="020B0502040204020203" charset="0"/>
              <a:cs typeface="Segoe UI" panose="020B0502040204020203" charset="0"/>
            </a:endParaRPr>
          </a:p>
        </p:txBody>
      </p:sp>
      <p:cxnSp>
        <p:nvCxnSpPr>
          <p:cNvPr id="14" name="Straight Connector 13"/>
          <p:cNvCxnSpPr/>
          <p:nvPr/>
        </p:nvCxnSpPr>
        <p:spPr>
          <a:xfrm>
            <a:off x="3581400" y="3568700"/>
            <a:ext cx="609600" cy="635"/>
          </a:xfrm>
          <a:prstGeom prst="line">
            <a:avLst/>
          </a:prstGeom>
          <a:ln w="25400">
            <a:solidFill>
              <a:srgbClr val="176E68"/>
            </a:solidFill>
            <a:tailEnd type="arrow"/>
          </a:ln>
        </p:spPr>
        <p:style>
          <a:lnRef idx="2">
            <a:schemeClr val="accent1"/>
          </a:lnRef>
          <a:fillRef idx="0">
            <a:srgbClr val="FFFFFF"/>
          </a:fillRef>
          <a:effectRef idx="0">
            <a:srgbClr val="FFFFFF"/>
          </a:effectRef>
          <a:fontRef idx="minor">
            <a:schemeClr val="tx1"/>
          </a:fontRef>
        </p:style>
      </p:cxnSp>
      <p:sp>
        <p:nvSpPr>
          <p:cNvPr id="15" name="Text Box 14"/>
          <p:cNvSpPr txBox="1"/>
          <p:nvPr/>
        </p:nvSpPr>
        <p:spPr>
          <a:xfrm>
            <a:off x="4457700" y="3352800"/>
            <a:ext cx="2857500" cy="276860"/>
          </a:xfrm>
          <a:prstGeom prst="rect">
            <a:avLst/>
          </a:prstGeom>
          <a:noFill/>
        </p:spPr>
        <p:txBody>
          <a:bodyPr wrap="square" lIns="0" tIns="0" rIns="0" bIns="0" rtlCol="0" anchor="t">
            <a:noAutofit/>
          </a:bodyPr>
          <a:p>
            <a:pPr indent="0">
              <a:spcAft>
                <a:spcPts val="700"/>
              </a:spcAft>
              <a:buNone/>
            </a:pPr>
            <a:r>
              <a:rPr lang="vi-VN" sz="2300" b="1">
                <a:solidFill>
                  <a:srgbClr val="176E68"/>
                </a:solidFill>
                <a:latin typeface="Segoe UI" panose="020B0502040204020203" charset="0"/>
                <a:cs typeface="Segoe UI" panose="020B0502040204020203" charset="0"/>
              </a:rPr>
              <a:t>ECAPA</a:t>
            </a:r>
            <a:endParaRPr lang="vi-VN" sz="2300" b="1">
              <a:solidFill>
                <a:srgbClr val="176E68"/>
              </a:solidFill>
              <a:latin typeface="Segoe UI" panose="020B0502040204020203" charset="0"/>
              <a:cs typeface="Segoe UI" panose="020B0502040204020203" charset="0"/>
            </a:endParaRPr>
          </a:p>
        </p:txBody>
      </p:sp>
      <p:cxnSp>
        <p:nvCxnSpPr>
          <p:cNvPr id="16" name="Straight Connector 15"/>
          <p:cNvCxnSpPr/>
          <p:nvPr/>
        </p:nvCxnSpPr>
        <p:spPr>
          <a:xfrm>
            <a:off x="7518400" y="3568700"/>
            <a:ext cx="571500" cy="635"/>
          </a:xfrm>
          <a:prstGeom prst="line">
            <a:avLst/>
          </a:prstGeom>
          <a:ln w="25400">
            <a:solidFill>
              <a:srgbClr val="176E68"/>
            </a:solidFill>
            <a:tailEnd type="arrow"/>
          </a:ln>
        </p:spPr>
        <p:style>
          <a:lnRef idx="2">
            <a:schemeClr val="accent1"/>
          </a:lnRef>
          <a:fillRef idx="0">
            <a:srgbClr val="FFFFFF"/>
          </a:fillRef>
          <a:effectRef idx="0">
            <a:srgbClr val="FFFFFF"/>
          </a:effectRef>
          <a:fontRef idx="minor">
            <a:schemeClr val="tx1"/>
          </a:fontRef>
        </p:style>
      </p:cxnSp>
      <p:sp>
        <p:nvSpPr>
          <p:cNvPr id="17" name="Text Box 16"/>
          <p:cNvSpPr txBox="1"/>
          <p:nvPr/>
        </p:nvSpPr>
        <p:spPr>
          <a:xfrm>
            <a:off x="8343900" y="3352800"/>
            <a:ext cx="3263900" cy="276860"/>
          </a:xfrm>
          <a:prstGeom prst="rect">
            <a:avLst/>
          </a:prstGeom>
          <a:noFill/>
        </p:spPr>
        <p:txBody>
          <a:bodyPr wrap="square" lIns="0" tIns="0" rIns="0" bIns="0" rtlCol="0" anchor="t">
            <a:noAutofit/>
          </a:bodyPr>
          <a:p>
            <a:pPr indent="0">
              <a:spcAft>
                <a:spcPts val="700"/>
              </a:spcAft>
              <a:buNone/>
            </a:pPr>
            <a:r>
              <a:rPr lang="vi-VN" sz="2200">
                <a:solidFill>
                  <a:srgbClr val="172F3C"/>
                </a:solidFill>
                <a:latin typeface="Segoe UI" panose="020B0502040204020203" charset="0"/>
                <a:cs typeface="Segoe UI" panose="020B0502040204020203" charset="0"/>
              </a:rPr>
              <a:t>Embedding chuẩn hóa</a:t>
            </a:r>
            <a:endParaRPr lang="vi-VN" sz="2200">
              <a:solidFill>
                <a:srgbClr val="172F3C"/>
              </a:solidFill>
              <a:latin typeface="Segoe UI" panose="020B0502040204020203" charset="0"/>
              <a:cs typeface="Segoe UI" panose="020B0502040204020203" charset="0"/>
            </a:endParaRPr>
          </a:p>
        </p:txBody>
      </p:sp>
      <p:sp>
        <p:nvSpPr>
          <p:cNvPr id="18" name="Rectangle 17"/>
          <p:cNvSpPr/>
          <p:nvPr/>
        </p:nvSpPr>
        <p:spPr>
          <a:xfrm>
            <a:off x="584200" y="4686300"/>
            <a:ext cx="11023600" cy="1003300"/>
          </a:xfrm>
          <a:prstGeom prst="rect">
            <a:avLst/>
          </a:prstGeom>
          <a:solidFill>
            <a:srgbClr val="E4EEE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9" name="Text Box 18"/>
          <p:cNvSpPr txBox="1"/>
          <p:nvPr/>
        </p:nvSpPr>
        <p:spPr>
          <a:xfrm>
            <a:off x="800100" y="4851400"/>
            <a:ext cx="10591800" cy="276860"/>
          </a:xfrm>
          <a:prstGeom prst="rect">
            <a:avLst/>
          </a:prstGeom>
          <a:noFill/>
        </p:spPr>
        <p:txBody>
          <a:bodyPr wrap="square" lIns="0" tIns="0" rIns="0" bIns="0" rtlCol="0" anchor="t">
            <a:noAutofit/>
          </a:bodyPr>
          <a:p>
            <a:pPr indent="0">
              <a:spcAft>
                <a:spcPts val="700"/>
              </a:spcAft>
              <a:buNone/>
            </a:pPr>
            <a:r>
              <a:rPr lang="vi-VN" sz="1900">
                <a:solidFill>
                  <a:srgbClr val="172F3C"/>
                </a:solidFill>
                <a:latin typeface="Segoe UI" panose="020B0502040204020203" charset="0"/>
                <a:cs typeface="Segoe UI" panose="020B0502040204020203" charset="0"/>
              </a:rPr>
              <a:t>Cosine với template của người được khai báo  /  Score và ngưỡng riêng cho từng modality  /  Kết quả identity, reason codes và model versions</a:t>
            </a:r>
            <a:endParaRPr lang="vi-VN" sz="1900">
              <a:solidFill>
                <a:srgbClr val="172F3C"/>
              </a:solidFill>
              <a:latin typeface="Segoe UI" panose="020B0502040204020203" charset="0"/>
              <a:cs typeface="Segoe UI" panose="020B0502040204020203"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Serving, vòng đời model và monitoring dùng chung dữ liệu có kiểm soát</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8</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Docker Compose một máy. Simulation dùng DB / MLflow / volume riêng</a:t>
            </a:r>
            <a:endParaRPr lang="vi-VN" sz="1200">
              <a:solidFill>
                <a:srgbClr val="526673"/>
              </a:solidFill>
              <a:latin typeface="Segoe UI" panose="020B0502040204020203" charset="0"/>
              <a:cs typeface="Segoe UI" panose="020B0502040204020203" charset="0"/>
            </a:endParaRPr>
          </a:p>
        </p:txBody>
      </p:sp>
      <p:sp>
        <p:nvSpPr>
          <p:cNvPr id="6" name="Rectangle 5"/>
          <p:cNvSpPr/>
          <p:nvPr/>
        </p:nvSpPr>
        <p:spPr>
          <a:xfrm>
            <a:off x="584200" y="2082800"/>
            <a:ext cx="2387600" cy="1536700"/>
          </a:xfrm>
          <a:prstGeom prst="rect">
            <a:avLst/>
          </a:prstGeom>
          <a:solidFill>
            <a:srgbClr val="E4EEE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 name="Text Box 6"/>
          <p:cNvSpPr txBox="1"/>
          <p:nvPr/>
        </p:nvSpPr>
        <p:spPr>
          <a:xfrm>
            <a:off x="787400" y="2247900"/>
            <a:ext cx="1981200" cy="276860"/>
          </a:xfrm>
          <a:prstGeom prst="rect">
            <a:avLst/>
          </a:prstGeom>
          <a:noFill/>
        </p:spPr>
        <p:txBody>
          <a:bodyPr wrap="square" lIns="0" tIns="0" rIns="0" bIns="0" rtlCol="0" anchor="t">
            <a:noAutofit/>
          </a:bodyPr>
          <a:p>
            <a:pPr indent="0">
              <a:spcAft>
                <a:spcPts val="700"/>
              </a:spcAft>
              <a:buNone/>
            </a:pPr>
            <a:r>
              <a:rPr lang="vi-VN" sz="2300" b="1">
                <a:solidFill>
                  <a:srgbClr val="176E68"/>
                </a:solidFill>
                <a:latin typeface="Segoe UI" panose="020B0502040204020203" charset="0"/>
                <a:cs typeface="Segoe UI" panose="020B0502040204020203" charset="0"/>
              </a:rPr>
              <a:t>Khách hàng</a:t>
            </a:r>
            <a:endParaRPr lang="vi-VN" sz="2300" b="1">
              <a:solidFill>
                <a:srgbClr val="176E68"/>
              </a:solidFill>
              <a:latin typeface="Segoe UI" panose="020B0502040204020203" charset="0"/>
              <a:cs typeface="Segoe UI" panose="020B0502040204020203" charset="0"/>
            </a:endParaRPr>
          </a:p>
        </p:txBody>
      </p:sp>
      <p:sp>
        <p:nvSpPr>
          <p:cNvPr id="8" name="Text Box 7"/>
          <p:cNvSpPr txBox="1"/>
          <p:nvPr/>
        </p:nvSpPr>
        <p:spPr>
          <a:xfrm>
            <a:off x="787400" y="2755900"/>
            <a:ext cx="1981200" cy="276860"/>
          </a:xfrm>
          <a:prstGeom prst="rect">
            <a:avLst/>
          </a:prstGeom>
          <a:noFill/>
        </p:spPr>
        <p:txBody>
          <a:bodyPr wrap="square" lIns="0" tIns="0" rIns="0" bIns="0" rtlCol="0" anchor="t">
            <a:noAutofit/>
          </a:bodyPr>
          <a:p>
            <a:pPr indent="0">
              <a:spcAft>
                <a:spcPts val="700"/>
              </a:spcAft>
              <a:buNone/>
            </a:pPr>
            <a:r>
              <a:rPr lang="vi-VN">
                <a:solidFill>
                  <a:srgbClr val="172F3C"/>
                </a:solidFill>
                <a:latin typeface="Segoe UI" panose="020B0502040204020203" charset="0"/>
                <a:cs typeface="Segoe UI" panose="020B0502040204020203" charset="0"/>
              </a:rPr>
              <a:t>Phần mềm thi và portal</a:t>
            </a:r>
            <a:endParaRPr lang="vi-VN">
              <a:solidFill>
                <a:srgbClr val="172F3C"/>
              </a:solidFill>
              <a:latin typeface="Segoe UI" panose="020B0502040204020203" charset="0"/>
              <a:cs typeface="Segoe UI" panose="020B0502040204020203" charset="0"/>
            </a:endParaRPr>
          </a:p>
        </p:txBody>
      </p:sp>
      <p:sp>
        <p:nvSpPr>
          <p:cNvPr id="9" name="Rectangle 8"/>
          <p:cNvSpPr/>
          <p:nvPr/>
        </p:nvSpPr>
        <p:spPr>
          <a:xfrm>
            <a:off x="3708400" y="2082800"/>
            <a:ext cx="3340100" cy="1536700"/>
          </a:xfrm>
          <a:prstGeom prst="rect">
            <a:avLst/>
          </a:prstGeom>
          <a:solidFill>
            <a:srgbClr val="E4EEE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Text Box 9"/>
          <p:cNvSpPr txBox="1"/>
          <p:nvPr/>
        </p:nvSpPr>
        <p:spPr>
          <a:xfrm>
            <a:off x="3911600" y="2247900"/>
            <a:ext cx="2933700" cy="276860"/>
          </a:xfrm>
          <a:prstGeom prst="rect">
            <a:avLst/>
          </a:prstGeom>
          <a:noFill/>
        </p:spPr>
        <p:txBody>
          <a:bodyPr wrap="square" lIns="0" tIns="0" rIns="0" bIns="0" rtlCol="0" anchor="t">
            <a:noAutofit/>
          </a:bodyPr>
          <a:p>
            <a:pPr indent="0">
              <a:spcAft>
                <a:spcPts val="700"/>
              </a:spcAft>
              <a:buNone/>
            </a:pPr>
            <a:r>
              <a:rPr lang="vi-VN" sz="2300" b="1">
                <a:solidFill>
                  <a:srgbClr val="176E68"/>
                </a:solidFill>
                <a:latin typeface="Segoe UI" panose="020B0502040204020203" charset="0"/>
                <a:cs typeface="Segoe UI" panose="020B0502040204020203" charset="0"/>
              </a:rPr>
              <a:t>Serving</a:t>
            </a:r>
            <a:endParaRPr lang="vi-VN" sz="2300" b="1">
              <a:solidFill>
                <a:srgbClr val="176E68"/>
              </a:solidFill>
              <a:latin typeface="Segoe UI" panose="020B0502040204020203" charset="0"/>
              <a:cs typeface="Segoe UI" panose="020B0502040204020203" charset="0"/>
            </a:endParaRPr>
          </a:p>
        </p:txBody>
      </p:sp>
      <p:sp>
        <p:nvSpPr>
          <p:cNvPr id="11" name="Text Box 10"/>
          <p:cNvSpPr txBox="1"/>
          <p:nvPr/>
        </p:nvSpPr>
        <p:spPr>
          <a:xfrm>
            <a:off x="3911600" y="2755900"/>
            <a:ext cx="2933700" cy="276860"/>
          </a:xfrm>
          <a:prstGeom prst="rect">
            <a:avLst/>
          </a:prstGeom>
          <a:noFill/>
        </p:spPr>
        <p:txBody>
          <a:bodyPr wrap="square" lIns="0" tIns="0" rIns="0" bIns="0" rtlCol="0" anchor="t">
            <a:noAutofit/>
          </a:bodyPr>
          <a:p>
            <a:pPr indent="0">
              <a:spcAft>
                <a:spcPts val="700"/>
              </a:spcAft>
              <a:buNone/>
            </a:pPr>
            <a:r>
              <a:rPr lang="vi-VN">
                <a:solidFill>
                  <a:srgbClr val="172F3C"/>
                </a:solidFill>
                <a:latin typeface="Segoe UI" panose="020B0502040204020203" charset="0"/>
                <a:cs typeface="Segoe UI" panose="020B0502040204020203" charset="0"/>
              </a:rPr>
              <a:t>FastAPI, Face / Voice, inspectors</a:t>
            </a:r>
            <a:endParaRPr lang="vi-VN">
              <a:solidFill>
                <a:srgbClr val="172F3C"/>
              </a:solidFill>
              <a:latin typeface="Segoe UI" panose="020B0502040204020203" charset="0"/>
              <a:cs typeface="Segoe UI" panose="020B0502040204020203" charset="0"/>
            </a:endParaRPr>
          </a:p>
        </p:txBody>
      </p:sp>
      <p:sp>
        <p:nvSpPr>
          <p:cNvPr id="12" name="Rectangle 11"/>
          <p:cNvSpPr/>
          <p:nvPr/>
        </p:nvSpPr>
        <p:spPr>
          <a:xfrm>
            <a:off x="7924800" y="2082800"/>
            <a:ext cx="3683000" cy="1536700"/>
          </a:xfrm>
          <a:prstGeom prst="rect">
            <a:avLst/>
          </a:prstGeom>
          <a:solidFill>
            <a:srgbClr val="E4EEE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3" name="Text Box 12"/>
          <p:cNvSpPr txBox="1"/>
          <p:nvPr/>
        </p:nvSpPr>
        <p:spPr>
          <a:xfrm>
            <a:off x="8128000" y="2247900"/>
            <a:ext cx="3276600" cy="276860"/>
          </a:xfrm>
          <a:prstGeom prst="rect">
            <a:avLst/>
          </a:prstGeom>
          <a:noFill/>
        </p:spPr>
        <p:txBody>
          <a:bodyPr wrap="square" lIns="0" tIns="0" rIns="0" bIns="0" rtlCol="0" anchor="t">
            <a:noAutofit/>
          </a:bodyPr>
          <a:p>
            <a:pPr indent="0">
              <a:spcAft>
                <a:spcPts val="700"/>
              </a:spcAft>
              <a:buNone/>
            </a:pPr>
            <a:r>
              <a:rPr lang="vi-VN" sz="2300" b="1">
                <a:solidFill>
                  <a:srgbClr val="176E68"/>
                </a:solidFill>
                <a:latin typeface="Segoe UI" panose="020B0502040204020203" charset="0"/>
                <a:cs typeface="Segoe UI" panose="020B0502040204020203" charset="0"/>
              </a:rPr>
              <a:t>Lưu trữ</a:t>
            </a:r>
            <a:endParaRPr lang="vi-VN" sz="2300" b="1">
              <a:solidFill>
                <a:srgbClr val="176E68"/>
              </a:solidFill>
              <a:latin typeface="Segoe UI" panose="020B0502040204020203" charset="0"/>
              <a:cs typeface="Segoe UI" panose="020B0502040204020203" charset="0"/>
            </a:endParaRPr>
          </a:p>
        </p:txBody>
      </p:sp>
      <p:sp>
        <p:nvSpPr>
          <p:cNvPr id="14" name="Text Box 13"/>
          <p:cNvSpPr txBox="1"/>
          <p:nvPr/>
        </p:nvSpPr>
        <p:spPr>
          <a:xfrm>
            <a:off x="8128000" y="2755900"/>
            <a:ext cx="3276600" cy="276860"/>
          </a:xfrm>
          <a:prstGeom prst="rect">
            <a:avLst/>
          </a:prstGeom>
          <a:noFill/>
        </p:spPr>
        <p:txBody>
          <a:bodyPr wrap="square" lIns="0" tIns="0" rIns="0" bIns="0" rtlCol="0" anchor="t">
            <a:noAutofit/>
          </a:bodyPr>
          <a:p>
            <a:pPr indent="0">
              <a:spcAft>
                <a:spcPts val="700"/>
              </a:spcAft>
              <a:buNone/>
            </a:pPr>
            <a:r>
              <a:rPr lang="vi-VN">
                <a:solidFill>
                  <a:srgbClr val="172F3C"/>
                </a:solidFill>
                <a:latin typeface="Segoe UI" panose="020B0502040204020203" charset="0"/>
                <a:cs typeface="Segoe UI" panose="020B0502040204020203" charset="0"/>
              </a:rPr>
              <a:t>PostgreSQL, MinIO</a:t>
            </a:r>
            <a:endParaRPr lang="vi-VN">
              <a:solidFill>
                <a:srgbClr val="172F3C"/>
              </a:solidFill>
              <a:latin typeface="Segoe UI" panose="020B0502040204020203" charset="0"/>
              <a:cs typeface="Segoe UI" panose="020B0502040204020203" charset="0"/>
            </a:endParaRPr>
          </a:p>
        </p:txBody>
      </p:sp>
      <p:sp>
        <p:nvSpPr>
          <p:cNvPr id="15" name="Rectangle 14"/>
          <p:cNvSpPr/>
          <p:nvPr/>
        </p:nvSpPr>
        <p:spPr>
          <a:xfrm>
            <a:off x="3708400" y="4292600"/>
            <a:ext cx="3340100" cy="1447800"/>
          </a:xfrm>
          <a:prstGeom prst="rect">
            <a:avLst/>
          </a:prstGeom>
          <a:solidFill>
            <a:srgbClr val="E4EEE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Text Box 15"/>
          <p:cNvSpPr txBox="1"/>
          <p:nvPr/>
        </p:nvSpPr>
        <p:spPr>
          <a:xfrm>
            <a:off x="3911600" y="4457700"/>
            <a:ext cx="2933700" cy="276860"/>
          </a:xfrm>
          <a:prstGeom prst="rect">
            <a:avLst/>
          </a:prstGeom>
          <a:noFill/>
        </p:spPr>
        <p:txBody>
          <a:bodyPr wrap="square" lIns="0" tIns="0" rIns="0" bIns="0" rtlCol="0" anchor="t">
            <a:noAutofit/>
          </a:bodyPr>
          <a:p>
            <a:pPr indent="0">
              <a:spcAft>
                <a:spcPts val="700"/>
              </a:spcAft>
              <a:buNone/>
            </a:pPr>
            <a:r>
              <a:rPr lang="vi-VN" sz="2300" b="1">
                <a:solidFill>
                  <a:srgbClr val="176E68"/>
                </a:solidFill>
                <a:latin typeface="Segoe UI" panose="020B0502040204020203" charset="0"/>
                <a:cs typeface="Segoe UI" panose="020B0502040204020203" charset="0"/>
              </a:rPr>
              <a:t>MLOps</a:t>
            </a:r>
            <a:endParaRPr lang="vi-VN" sz="2300" b="1">
              <a:solidFill>
                <a:srgbClr val="176E68"/>
              </a:solidFill>
              <a:latin typeface="Segoe UI" panose="020B0502040204020203" charset="0"/>
              <a:cs typeface="Segoe UI" panose="020B0502040204020203" charset="0"/>
            </a:endParaRPr>
          </a:p>
        </p:txBody>
      </p:sp>
      <p:sp>
        <p:nvSpPr>
          <p:cNvPr id="17" name="Text Box 16"/>
          <p:cNvSpPr txBox="1"/>
          <p:nvPr/>
        </p:nvSpPr>
        <p:spPr>
          <a:xfrm>
            <a:off x="3911600" y="4965700"/>
            <a:ext cx="2933700" cy="276860"/>
          </a:xfrm>
          <a:prstGeom prst="rect">
            <a:avLst/>
          </a:prstGeom>
          <a:noFill/>
        </p:spPr>
        <p:txBody>
          <a:bodyPr wrap="square" lIns="0" tIns="0" rIns="0" bIns="0" rtlCol="0" anchor="t">
            <a:noAutofit/>
          </a:bodyPr>
          <a:p>
            <a:pPr indent="0">
              <a:spcAft>
                <a:spcPts val="700"/>
              </a:spcAft>
              <a:buNone/>
            </a:pPr>
            <a:r>
              <a:rPr lang="vi-VN">
                <a:solidFill>
                  <a:srgbClr val="172F3C"/>
                </a:solidFill>
                <a:latin typeface="Segoe UI" panose="020B0502040204020203" charset="0"/>
                <a:cs typeface="Segoe UI" panose="020B0502040204020203" charset="0"/>
              </a:rPr>
              <a:t>Airflow, MLflow, lifecycle state</a:t>
            </a:r>
            <a:endParaRPr lang="vi-VN">
              <a:solidFill>
                <a:srgbClr val="172F3C"/>
              </a:solidFill>
              <a:latin typeface="Segoe UI" panose="020B0502040204020203" charset="0"/>
              <a:cs typeface="Segoe UI" panose="020B0502040204020203" charset="0"/>
            </a:endParaRPr>
          </a:p>
        </p:txBody>
      </p:sp>
      <p:sp>
        <p:nvSpPr>
          <p:cNvPr id="18" name="Rectangle 17"/>
          <p:cNvSpPr/>
          <p:nvPr/>
        </p:nvSpPr>
        <p:spPr>
          <a:xfrm>
            <a:off x="7924800" y="4292600"/>
            <a:ext cx="3683000" cy="1447800"/>
          </a:xfrm>
          <a:prstGeom prst="rect">
            <a:avLst/>
          </a:prstGeom>
          <a:solidFill>
            <a:srgbClr val="E4EEE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9" name="Text Box 18"/>
          <p:cNvSpPr txBox="1"/>
          <p:nvPr/>
        </p:nvSpPr>
        <p:spPr>
          <a:xfrm>
            <a:off x="8128000" y="4457700"/>
            <a:ext cx="3276600" cy="276860"/>
          </a:xfrm>
          <a:prstGeom prst="rect">
            <a:avLst/>
          </a:prstGeom>
          <a:noFill/>
        </p:spPr>
        <p:txBody>
          <a:bodyPr wrap="square" lIns="0" tIns="0" rIns="0" bIns="0" rtlCol="0" anchor="t">
            <a:noAutofit/>
          </a:bodyPr>
          <a:p>
            <a:pPr indent="0">
              <a:spcAft>
                <a:spcPts val="700"/>
              </a:spcAft>
              <a:buNone/>
            </a:pPr>
            <a:r>
              <a:rPr lang="vi-VN" sz="2300" b="1">
                <a:solidFill>
                  <a:srgbClr val="176E68"/>
                </a:solidFill>
                <a:latin typeface="Segoe UI" panose="020B0502040204020203" charset="0"/>
                <a:cs typeface="Segoe UI" panose="020B0502040204020203" charset="0"/>
              </a:rPr>
              <a:t>Vận hành</a:t>
            </a:r>
            <a:endParaRPr lang="vi-VN" sz="2300" b="1">
              <a:solidFill>
                <a:srgbClr val="176E68"/>
              </a:solidFill>
              <a:latin typeface="Segoe UI" panose="020B0502040204020203" charset="0"/>
              <a:cs typeface="Segoe UI" panose="020B0502040204020203" charset="0"/>
            </a:endParaRPr>
          </a:p>
        </p:txBody>
      </p:sp>
      <p:sp>
        <p:nvSpPr>
          <p:cNvPr id="20" name="Text Box 19"/>
          <p:cNvSpPr txBox="1"/>
          <p:nvPr/>
        </p:nvSpPr>
        <p:spPr>
          <a:xfrm>
            <a:off x="8128000" y="4965700"/>
            <a:ext cx="3276600" cy="276860"/>
          </a:xfrm>
          <a:prstGeom prst="rect">
            <a:avLst/>
          </a:prstGeom>
          <a:noFill/>
        </p:spPr>
        <p:txBody>
          <a:bodyPr wrap="square" lIns="0" tIns="0" rIns="0" bIns="0" rtlCol="0" anchor="t">
            <a:noAutofit/>
          </a:bodyPr>
          <a:p>
            <a:pPr indent="0">
              <a:spcAft>
                <a:spcPts val="700"/>
              </a:spcAft>
              <a:buNone/>
            </a:pPr>
            <a:r>
              <a:rPr lang="vi-VN">
                <a:solidFill>
                  <a:srgbClr val="172F3C"/>
                </a:solidFill>
                <a:latin typeface="Segoe UI" panose="020B0502040204020203" charset="0"/>
                <a:cs typeface="Segoe UI" panose="020B0502040204020203" charset="0"/>
              </a:rPr>
              <a:t>Prometheus, Grafana, Alertmanager</a:t>
            </a:r>
            <a:endParaRPr lang="vi-VN">
              <a:solidFill>
                <a:srgbClr val="172F3C"/>
              </a:solidFill>
              <a:latin typeface="Segoe UI" panose="020B0502040204020203" charset="0"/>
              <a:cs typeface="Segoe UI" panose="020B0502040204020203" charset="0"/>
            </a:endParaRPr>
          </a:p>
        </p:txBody>
      </p:sp>
      <p:cxnSp>
        <p:nvCxnSpPr>
          <p:cNvPr id="21" name="Straight Connector 20"/>
          <p:cNvCxnSpPr/>
          <p:nvPr/>
        </p:nvCxnSpPr>
        <p:spPr>
          <a:xfrm>
            <a:off x="2971800" y="2768600"/>
            <a:ext cx="647700" cy="635"/>
          </a:xfrm>
          <a:prstGeom prst="line">
            <a:avLst/>
          </a:prstGeom>
          <a:ln w="25400">
            <a:solidFill>
              <a:srgbClr val="176E68"/>
            </a:solidFill>
            <a:tailEnd type="arrow"/>
          </a:ln>
        </p:spPr>
        <p:style>
          <a:lnRef idx="2">
            <a:schemeClr val="accent1"/>
          </a:lnRef>
          <a:fillRef idx="0">
            <a:srgbClr val="FFFFFF"/>
          </a:fillRef>
          <a:effectRef idx="0">
            <a:srgbClr val="FFFFFF"/>
          </a:effectRef>
          <a:fontRef idx="minor">
            <a:schemeClr val="tx1"/>
          </a:fontRef>
        </p:style>
      </p:cxnSp>
      <p:cxnSp>
        <p:nvCxnSpPr>
          <p:cNvPr id="22" name="Straight Connector 21"/>
          <p:cNvCxnSpPr/>
          <p:nvPr/>
        </p:nvCxnSpPr>
        <p:spPr>
          <a:xfrm>
            <a:off x="7048500" y="2768600"/>
            <a:ext cx="787400" cy="635"/>
          </a:xfrm>
          <a:prstGeom prst="line">
            <a:avLst/>
          </a:prstGeom>
          <a:ln w="25400">
            <a:solidFill>
              <a:srgbClr val="176E68"/>
            </a:solidFill>
            <a:tailEnd type="arrow"/>
          </a:ln>
        </p:spPr>
        <p:style>
          <a:lnRef idx="2">
            <a:schemeClr val="accent1"/>
          </a:lnRef>
          <a:fillRef idx="0">
            <a:srgbClr val="FFFFFF"/>
          </a:fillRef>
          <a:effectRef idx="0">
            <a:srgbClr val="FFFFFF"/>
          </a:effectRef>
          <a:fontRef idx="minor">
            <a:schemeClr val="tx1"/>
          </a:fontRef>
        </p:style>
      </p:cxnSp>
      <p:cxnSp>
        <p:nvCxnSpPr>
          <p:cNvPr id="23" name="Straight Connector 22"/>
          <p:cNvCxnSpPr/>
          <p:nvPr/>
        </p:nvCxnSpPr>
        <p:spPr>
          <a:xfrm>
            <a:off x="9766300" y="3619500"/>
            <a:ext cx="635" cy="584200"/>
          </a:xfrm>
          <a:prstGeom prst="line">
            <a:avLst/>
          </a:prstGeom>
          <a:ln w="25400">
            <a:solidFill>
              <a:srgbClr val="176E68"/>
            </a:solidFill>
            <a:tailEnd type="arrow"/>
          </a:ln>
        </p:spPr>
        <p:style>
          <a:lnRef idx="2">
            <a:schemeClr val="accent1"/>
          </a:lnRef>
          <a:fillRef idx="0">
            <a:srgbClr val="FFFFFF"/>
          </a:fillRef>
          <a:effectRef idx="0">
            <a:srgbClr val="FFFFFF"/>
          </a:effectRef>
          <a:fontRef idx="minor">
            <a:schemeClr val="tx1"/>
          </a:fontRef>
        </p:style>
      </p:cxnSp>
      <p:cxnSp>
        <p:nvCxnSpPr>
          <p:cNvPr id="24" name="Straight Connector 23"/>
          <p:cNvCxnSpPr/>
          <p:nvPr/>
        </p:nvCxnSpPr>
        <p:spPr>
          <a:xfrm>
            <a:off x="9042400" y="3619500"/>
            <a:ext cx="635" cy="317500"/>
          </a:xfrm>
          <a:prstGeom prst="line">
            <a:avLst/>
          </a:prstGeom>
          <a:ln w="25400">
            <a:solidFill>
              <a:srgbClr val="176E68"/>
            </a:solidFill>
          </a:ln>
        </p:spPr>
        <p:style>
          <a:lnRef idx="2">
            <a:schemeClr val="accent1"/>
          </a:lnRef>
          <a:fillRef idx="0">
            <a:srgbClr val="FFFFFF"/>
          </a:fillRef>
          <a:effectRef idx="0">
            <a:srgbClr val="FFFFFF"/>
          </a:effectRef>
          <a:fontRef idx="minor">
            <a:schemeClr val="tx1"/>
          </a:fontRef>
        </p:style>
      </p:cxnSp>
      <p:cxnSp>
        <p:nvCxnSpPr>
          <p:cNvPr id="25" name="Straight Connector 24"/>
          <p:cNvCxnSpPr/>
          <p:nvPr/>
        </p:nvCxnSpPr>
        <p:spPr>
          <a:xfrm>
            <a:off x="5384800" y="3937000"/>
            <a:ext cx="3657600" cy="635"/>
          </a:xfrm>
          <a:prstGeom prst="line">
            <a:avLst/>
          </a:prstGeom>
          <a:ln w="25400">
            <a:solidFill>
              <a:srgbClr val="176E68"/>
            </a:solidFill>
          </a:ln>
        </p:spPr>
        <p:style>
          <a:lnRef idx="2">
            <a:schemeClr val="accent1"/>
          </a:lnRef>
          <a:fillRef idx="0">
            <a:srgbClr val="FFFFFF"/>
          </a:fillRef>
          <a:effectRef idx="0">
            <a:srgbClr val="FFFFFF"/>
          </a:effectRef>
          <a:fontRef idx="minor">
            <a:schemeClr val="tx1"/>
          </a:fontRef>
        </p:style>
      </p:cxnSp>
      <p:cxnSp>
        <p:nvCxnSpPr>
          <p:cNvPr id="26" name="Straight Connector 25"/>
          <p:cNvCxnSpPr/>
          <p:nvPr/>
        </p:nvCxnSpPr>
        <p:spPr>
          <a:xfrm>
            <a:off x="5384800" y="3937000"/>
            <a:ext cx="635" cy="266700"/>
          </a:xfrm>
          <a:prstGeom prst="line">
            <a:avLst/>
          </a:prstGeom>
          <a:ln w="25400">
            <a:solidFill>
              <a:srgbClr val="176E68"/>
            </a:solidFill>
            <a:tailEnd type="arrow"/>
          </a:ln>
        </p:spPr>
        <p:style>
          <a:lnRef idx="2">
            <a:schemeClr val="accent1"/>
          </a:lnRef>
          <a:fillRef idx="0">
            <a:srgbClr val="FFFFFF"/>
          </a:fillRef>
          <a:effectRef idx="0">
            <a:srgbClr val="FFFFFF"/>
          </a:effectRef>
          <a:fontRef idx="minor">
            <a:schemeClr val="tx1"/>
          </a:fontRef>
        </p:style>
      </p:cxnSp>
      <p:cxnSp>
        <p:nvCxnSpPr>
          <p:cNvPr id="27" name="Straight Connector 26"/>
          <p:cNvCxnSpPr/>
          <p:nvPr/>
        </p:nvCxnSpPr>
        <p:spPr>
          <a:xfrm>
            <a:off x="7048500" y="5029200"/>
            <a:ext cx="787400" cy="635"/>
          </a:xfrm>
          <a:prstGeom prst="line">
            <a:avLst/>
          </a:prstGeom>
          <a:ln w="25400">
            <a:solidFill>
              <a:srgbClr val="176E68"/>
            </a:solidFill>
            <a:tailEnd type="arrow"/>
          </a:ln>
        </p:spPr>
        <p:style>
          <a:lnRef idx="2">
            <a:schemeClr val="accent1"/>
          </a:lnRef>
          <a:fillRef idx="0">
            <a:srgbClr val="FFFFFF"/>
          </a:fillRef>
          <a:effectRef idx="0">
            <a:srgbClr val="FFFFFF"/>
          </a:effectRef>
          <a:fontRef idx="minor">
            <a:schemeClr val="tx1"/>
          </a:fontRef>
        </p:style>
      </p:cxnSp>
      <p:sp>
        <p:nvSpPr>
          <p:cNvPr id="28" name="Text Box 27"/>
          <p:cNvSpPr txBox="1"/>
          <p:nvPr/>
        </p:nvSpPr>
        <p:spPr>
          <a:xfrm>
            <a:off x="584200" y="4445000"/>
            <a:ext cx="2616200" cy="276860"/>
          </a:xfrm>
          <a:prstGeom prst="rect">
            <a:avLst/>
          </a:prstGeom>
          <a:noFill/>
        </p:spPr>
        <p:txBody>
          <a:bodyPr wrap="square" lIns="0" tIns="0" rIns="0" bIns="0" rtlCol="0" anchor="t">
            <a:noAutofit/>
          </a:bodyPr>
          <a:p>
            <a:pPr indent="0">
              <a:spcAft>
                <a:spcPts val="700"/>
              </a:spcAft>
              <a:buNone/>
            </a:pPr>
            <a:r>
              <a:rPr lang="vi-VN" sz="2200" b="1">
                <a:solidFill>
                  <a:srgbClr val="BB542A"/>
                </a:solidFill>
                <a:latin typeface="Segoe UI" panose="020B0502040204020203" charset="0"/>
                <a:cs typeface="Segoe UI" panose="020B0502040204020203" charset="0"/>
              </a:rPr>
              <a:t>Policy state bền vững và audit từng bước</a:t>
            </a:r>
            <a:endParaRPr lang="vi-VN" sz="2200" b="1">
              <a:solidFill>
                <a:srgbClr val="BB542A"/>
              </a:solidFill>
              <a:latin typeface="Segoe UI" panose="020B0502040204020203" charset="0"/>
              <a:cs typeface="Segoe UI" panose="020B0502040204020203"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Lưu đúng bằng chứng và giới hạn quyền truy cập</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9</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Raw enrollment không giữ mặc định. Query embedding retention tắt mặc định</a:t>
            </a:r>
            <a:endParaRPr lang="vi-VN" sz="1200">
              <a:solidFill>
                <a:srgbClr val="526673"/>
              </a:solidFill>
              <a:latin typeface="Segoe UI" panose="020B0502040204020203" charset="0"/>
              <a:cs typeface="Segoe UI" panose="020B0502040204020203" charset="0"/>
            </a:endParaRPr>
          </a:p>
        </p:txBody>
      </p:sp>
      <p:cxnSp>
        <p:nvCxnSpPr>
          <p:cNvPr id="6" name="Straight Connector 5"/>
          <p:cNvCxnSpPr/>
          <p:nvPr/>
        </p:nvCxnSpPr>
        <p:spPr>
          <a:xfrm>
            <a:off x="6057900" y="2006600"/>
            <a:ext cx="635" cy="3619500"/>
          </a:xfrm>
          <a:prstGeom prst="line">
            <a:avLst/>
          </a:prstGeom>
          <a:ln>
            <a:solidFill>
              <a:srgbClr val="CCD6D1"/>
            </a:solidFill>
          </a:ln>
        </p:spPr>
        <p:style>
          <a:lnRef idx="2">
            <a:schemeClr val="accent1"/>
          </a:lnRef>
          <a:fillRef idx="0">
            <a:srgbClr val="FFFFFF"/>
          </a:fillRef>
          <a:effectRef idx="0">
            <a:srgbClr val="FFFFFF"/>
          </a:effectRef>
          <a:fontRef idx="minor">
            <a:schemeClr val="tx1"/>
          </a:fontRef>
        </p:style>
      </p:cxnSp>
      <p:sp>
        <p:nvSpPr>
          <p:cNvPr id="7" name="Text Box 6"/>
          <p:cNvSpPr txBox="1"/>
          <p:nvPr/>
        </p:nvSpPr>
        <p:spPr>
          <a:xfrm>
            <a:off x="584200" y="2146300"/>
            <a:ext cx="5067300" cy="276860"/>
          </a:xfrm>
          <a:prstGeom prst="rect">
            <a:avLst/>
          </a:prstGeom>
          <a:noFill/>
        </p:spPr>
        <p:txBody>
          <a:bodyPr wrap="square" lIns="0" tIns="0" rIns="0" bIns="0" rtlCol="0" anchor="t">
            <a:noAutofit/>
          </a:bodyPr>
          <a:p>
            <a:pPr indent="0">
              <a:spcAft>
                <a:spcPts val="700"/>
              </a:spcAft>
              <a:buNone/>
            </a:pPr>
            <a:r>
              <a:rPr lang="vi-VN" sz="2800" b="1">
                <a:solidFill>
                  <a:srgbClr val="176E68"/>
                </a:solidFill>
                <a:latin typeface="Segoe UI" panose="020B0502040204020203" charset="0"/>
                <a:cs typeface="Segoe UI" panose="020B0502040204020203" charset="0"/>
              </a:rPr>
              <a:t>PostgreSQL</a:t>
            </a:r>
            <a:endParaRPr lang="vi-VN" sz="2800" b="1">
              <a:solidFill>
                <a:srgbClr val="176E68"/>
              </a:solidFill>
              <a:latin typeface="Segoe UI" panose="020B0502040204020203" charset="0"/>
              <a:cs typeface="Segoe UI" panose="020B0502040204020203" charset="0"/>
            </a:endParaRPr>
          </a:p>
        </p:txBody>
      </p:sp>
      <p:sp>
        <p:nvSpPr>
          <p:cNvPr id="8" name="Text Box 7"/>
          <p:cNvSpPr txBox="1"/>
          <p:nvPr/>
        </p:nvSpPr>
        <p:spPr>
          <a:xfrm>
            <a:off x="584200" y="3225800"/>
            <a:ext cx="4991100" cy="276860"/>
          </a:xfrm>
          <a:prstGeom prst="rect">
            <a:avLst/>
          </a:prstGeom>
          <a:noFill/>
        </p:spPr>
        <p:txBody>
          <a:bodyPr wrap="square" lIns="0" tIns="0" rIns="0" bIns="0" rtlCol="0" anchor="t">
            <a:noAutofit/>
          </a:bodyPr>
          <a:p>
            <a:pPr indent="0">
              <a:spcAft>
                <a:spcPts val="700"/>
              </a:spcAft>
              <a:buNone/>
            </a:pPr>
            <a:r>
              <a:rPr lang="vi-VN" sz="2500">
                <a:solidFill>
                  <a:srgbClr val="172F3C"/>
                </a:solidFill>
                <a:latin typeface="Segoe UI" panose="020B0502040204020203" charset="0"/>
                <a:cs typeface="Segoe UI" panose="020B0502040204020203" charset="0"/>
              </a:rPr>
              <a:t>Embedding JSON và template versions
Checks, reviewed labels, lifecycle audit
Không có vector database riêng</a:t>
            </a:r>
            <a:endParaRPr lang="vi-VN" sz="2500">
              <a:solidFill>
                <a:srgbClr val="172F3C"/>
              </a:solidFill>
              <a:latin typeface="Segoe UI" panose="020B0502040204020203" charset="0"/>
              <a:cs typeface="Segoe UI" panose="020B0502040204020203" charset="0"/>
            </a:endParaRPr>
          </a:p>
        </p:txBody>
      </p:sp>
      <p:sp>
        <p:nvSpPr>
          <p:cNvPr id="9" name="Text Box 8"/>
          <p:cNvSpPr txBox="1"/>
          <p:nvPr/>
        </p:nvSpPr>
        <p:spPr>
          <a:xfrm>
            <a:off x="6464300" y="2146300"/>
            <a:ext cx="5067300" cy="276860"/>
          </a:xfrm>
          <a:prstGeom prst="rect">
            <a:avLst/>
          </a:prstGeom>
          <a:noFill/>
        </p:spPr>
        <p:txBody>
          <a:bodyPr wrap="square" lIns="0" tIns="0" rIns="0" bIns="0" rtlCol="0" anchor="t">
            <a:noAutofit/>
          </a:bodyPr>
          <a:p>
            <a:pPr indent="0">
              <a:spcAft>
                <a:spcPts val="700"/>
              </a:spcAft>
              <a:buNone/>
            </a:pPr>
            <a:r>
              <a:rPr lang="vi-VN" sz="2800" b="1">
                <a:solidFill>
                  <a:srgbClr val="176E68"/>
                </a:solidFill>
                <a:latin typeface="Segoe UI" panose="020B0502040204020203" charset="0"/>
                <a:cs typeface="Segoe UI" panose="020B0502040204020203" charset="0"/>
              </a:rPr>
              <a:t>MinIO</a:t>
            </a:r>
            <a:endParaRPr lang="vi-VN" sz="2800" b="1">
              <a:solidFill>
                <a:srgbClr val="176E68"/>
              </a:solidFill>
              <a:latin typeface="Segoe UI" panose="020B0502040204020203" charset="0"/>
              <a:cs typeface="Segoe UI" panose="020B0502040204020203" charset="0"/>
            </a:endParaRPr>
          </a:p>
        </p:txBody>
      </p:sp>
      <p:sp>
        <p:nvSpPr>
          <p:cNvPr id="10" name="Text Box 9"/>
          <p:cNvSpPr txBox="1"/>
          <p:nvPr/>
        </p:nvSpPr>
        <p:spPr>
          <a:xfrm>
            <a:off x="6464300" y="3225800"/>
            <a:ext cx="4991100" cy="276860"/>
          </a:xfrm>
          <a:prstGeom prst="rect">
            <a:avLst/>
          </a:prstGeom>
          <a:noFill/>
        </p:spPr>
        <p:txBody>
          <a:bodyPr wrap="square" lIns="0" tIns="0" rIns="0" bIns="0" rtlCol="0" anchor="t">
            <a:noAutofit/>
          </a:bodyPr>
          <a:p>
            <a:pPr indent="0">
              <a:spcAft>
                <a:spcPts val="700"/>
              </a:spcAft>
              <a:buNone/>
            </a:pPr>
            <a:r>
              <a:rPr lang="vi-VN" sz="2500">
                <a:solidFill>
                  <a:srgbClr val="172F3C"/>
                </a:solidFill>
                <a:latin typeface="Segoe UI" panose="020B0502040204020203" charset="0"/>
                <a:cs typeface="Segoe UI" panose="020B0502040204020203" charset="0"/>
              </a:rPr>
              <a:t>Media nghi vấn
MLflow artifacts và dataset snapshots
Download qua API có xác thực</a:t>
            </a:r>
            <a:endParaRPr lang="vi-VN" sz="2500">
              <a:solidFill>
                <a:srgbClr val="172F3C"/>
              </a:solidFill>
              <a:latin typeface="Segoe UI" panose="020B0502040204020203" charset="0"/>
              <a:cs typeface="Segoe UI" panose="020B0502040204020203"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Score giảm có thể đến từ nhiều nguyên nhân</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10</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Drift thống kê là bằng chứng đầu vào. Quyết định hành động cần thêm performance và cohort</a:t>
            </a:r>
            <a:endParaRPr lang="vi-VN" sz="1200">
              <a:solidFill>
                <a:srgbClr val="526673"/>
              </a:solidFill>
              <a:latin typeface="Segoe UI" panose="020B0502040204020203" charset="0"/>
              <a:cs typeface="Segoe UI" panose="020B0502040204020203" charset="0"/>
            </a:endParaRPr>
          </a:p>
        </p:txBody>
      </p:sp>
      <p:sp>
        <p:nvSpPr>
          <p:cNvPr id="6" name="Text Box 5"/>
          <p:cNvSpPr txBox="1"/>
          <p:nvPr/>
        </p:nvSpPr>
        <p:spPr>
          <a:xfrm>
            <a:off x="584200" y="1993900"/>
            <a:ext cx="3365500" cy="276860"/>
          </a:xfrm>
          <a:prstGeom prst="rect">
            <a:avLst/>
          </a:prstGeom>
          <a:noFill/>
        </p:spPr>
        <p:txBody>
          <a:bodyPr wrap="square" lIns="0" tIns="0" rIns="0" bIns="0" rtlCol="0" anchor="t">
            <a:noAutofit/>
          </a:bodyPr>
          <a:p>
            <a:pPr indent="0">
              <a:spcAft>
                <a:spcPts val="700"/>
              </a:spcAft>
              <a:buNone/>
            </a:pPr>
            <a:r>
              <a:rPr lang="vi-VN" sz="3800" b="1">
                <a:solidFill>
                  <a:srgbClr val="BB542A"/>
                </a:solidFill>
                <a:latin typeface="Segoe UI" panose="020B0502040204020203" charset="0"/>
                <a:cs typeface="Segoe UI" panose="020B0502040204020203" charset="0"/>
              </a:rPr>
              <a:t>01</a:t>
            </a:r>
            <a:endParaRPr lang="vi-VN" sz="3800" b="1">
              <a:solidFill>
                <a:srgbClr val="BB542A"/>
              </a:solidFill>
              <a:latin typeface="Segoe UI" panose="020B0502040204020203" charset="0"/>
              <a:cs typeface="Segoe UI" panose="020B0502040204020203" charset="0"/>
            </a:endParaRPr>
          </a:p>
        </p:txBody>
      </p:sp>
      <p:sp>
        <p:nvSpPr>
          <p:cNvPr id="7" name="Text Box 6"/>
          <p:cNvSpPr txBox="1"/>
          <p:nvPr/>
        </p:nvSpPr>
        <p:spPr>
          <a:xfrm>
            <a:off x="584200" y="2870200"/>
            <a:ext cx="3365500" cy="276860"/>
          </a:xfrm>
          <a:prstGeom prst="rect">
            <a:avLst/>
          </a:prstGeom>
          <a:noFill/>
        </p:spPr>
        <p:txBody>
          <a:bodyPr wrap="square" lIns="0" tIns="0" rIns="0" bIns="0" rtlCol="0" anchor="t">
            <a:noAutofit/>
          </a:bodyPr>
          <a:p>
            <a:pPr indent="0">
              <a:spcAft>
                <a:spcPts val="700"/>
              </a:spcAft>
              <a:buNone/>
            </a:pPr>
            <a:r>
              <a:rPr lang="vi-VN" sz="2600" b="1">
                <a:solidFill>
                  <a:srgbClr val="176E68"/>
                </a:solidFill>
                <a:latin typeface="Segoe UI" panose="020B0502040204020203" charset="0"/>
                <a:cs typeface="Segoe UI" panose="020B0502040204020203" charset="0"/>
              </a:rPr>
              <a:t>Capture thay đổi</a:t>
            </a:r>
            <a:endParaRPr lang="vi-VN" sz="2600" b="1">
              <a:solidFill>
                <a:srgbClr val="176E68"/>
              </a:solidFill>
              <a:latin typeface="Segoe UI" panose="020B0502040204020203" charset="0"/>
              <a:cs typeface="Segoe UI" panose="020B0502040204020203" charset="0"/>
            </a:endParaRPr>
          </a:p>
        </p:txBody>
      </p:sp>
      <p:sp>
        <p:nvSpPr>
          <p:cNvPr id="8" name="Text Box 7"/>
          <p:cNvSpPr txBox="1"/>
          <p:nvPr/>
        </p:nvSpPr>
        <p:spPr>
          <a:xfrm>
            <a:off x="584200" y="4140200"/>
            <a:ext cx="3365500" cy="276860"/>
          </a:xfrm>
          <a:prstGeom prst="rect">
            <a:avLst/>
          </a:prstGeom>
          <a:noFill/>
        </p:spPr>
        <p:txBody>
          <a:bodyPr wrap="square" lIns="0" tIns="0" rIns="0" bIns="0" rtlCol="0" anchor="t">
            <a:noAutofit/>
          </a:bodyPr>
          <a:p>
            <a:pPr indent="0">
              <a:spcAft>
                <a:spcPts val="700"/>
              </a:spcAft>
              <a:buNone/>
            </a:pPr>
            <a:r>
              <a:rPr lang="vi-VN" sz="2300">
                <a:solidFill>
                  <a:srgbClr val="172F3C"/>
                </a:solidFill>
                <a:latin typeface="Segoe UI" panose="020B0502040204020203" charset="0"/>
                <a:cs typeface="Segoe UI" panose="020B0502040204020203" charset="0"/>
              </a:rPr>
              <a:t>Camera tối hơn, mic khác, nhiều khoảng lặng</a:t>
            </a:r>
            <a:endParaRPr lang="vi-VN" sz="2300">
              <a:solidFill>
                <a:srgbClr val="172F3C"/>
              </a:solidFill>
              <a:latin typeface="Segoe UI" panose="020B0502040204020203" charset="0"/>
              <a:cs typeface="Segoe UI" panose="020B0502040204020203" charset="0"/>
            </a:endParaRPr>
          </a:p>
        </p:txBody>
      </p:sp>
      <p:sp>
        <p:nvSpPr>
          <p:cNvPr id="9" name="Text Box 8"/>
          <p:cNvSpPr txBox="1"/>
          <p:nvPr/>
        </p:nvSpPr>
        <p:spPr>
          <a:xfrm>
            <a:off x="4381500" y="1993900"/>
            <a:ext cx="3365500" cy="276860"/>
          </a:xfrm>
          <a:prstGeom prst="rect">
            <a:avLst/>
          </a:prstGeom>
          <a:noFill/>
        </p:spPr>
        <p:txBody>
          <a:bodyPr wrap="square" lIns="0" tIns="0" rIns="0" bIns="0" rtlCol="0" anchor="t">
            <a:noAutofit/>
          </a:bodyPr>
          <a:p>
            <a:pPr indent="0">
              <a:spcAft>
                <a:spcPts val="700"/>
              </a:spcAft>
              <a:buNone/>
            </a:pPr>
            <a:r>
              <a:rPr lang="vi-VN" sz="3800" b="1">
                <a:solidFill>
                  <a:srgbClr val="BB542A"/>
                </a:solidFill>
                <a:latin typeface="Segoe UI" panose="020B0502040204020203" charset="0"/>
                <a:cs typeface="Segoe UI" panose="020B0502040204020203" charset="0"/>
              </a:rPr>
              <a:t>02</a:t>
            </a:r>
            <a:endParaRPr lang="vi-VN" sz="3800" b="1">
              <a:solidFill>
                <a:srgbClr val="BB542A"/>
              </a:solidFill>
              <a:latin typeface="Segoe UI" panose="020B0502040204020203" charset="0"/>
              <a:cs typeface="Segoe UI" panose="020B0502040204020203" charset="0"/>
            </a:endParaRPr>
          </a:p>
        </p:txBody>
      </p:sp>
      <p:sp>
        <p:nvSpPr>
          <p:cNvPr id="10" name="Text Box 9"/>
          <p:cNvSpPr txBox="1"/>
          <p:nvPr/>
        </p:nvSpPr>
        <p:spPr>
          <a:xfrm>
            <a:off x="4381500" y="2870200"/>
            <a:ext cx="3365500" cy="276860"/>
          </a:xfrm>
          <a:prstGeom prst="rect">
            <a:avLst/>
          </a:prstGeom>
          <a:noFill/>
        </p:spPr>
        <p:txBody>
          <a:bodyPr wrap="square" lIns="0" tIns="0" rIns="0" bIns="0" rtlCol="0" anchor="t">
            <a:noAutofit/>
          </a:bodyPr>
          <a:p>
            <a:pPr indent="0">
              <a:spcAft>
                <a:spcPts val="700"/>
              </a:spcAft>
              <a:buNone/>
            </a:pPr>
            <a:r>
              <a:rPr lang="vi-VN" sz="2600" b="1">
                <a:solidFill>
                  <a:srgbClr val="176E68"/>
                </a:solidFill>
                <a:latin typeface="Segoe UI" panose="020B0502040204020203" charset="0"/>
                <a:cs typeface="Segoe UI" panose="020B0502040204020203" charset="0"/>
              </a:rPr>
              <a:t>Template đã cũ</a:t>
            </a:r>
            <a:endParaRPr lang="vi-VN" sz="2600" b="1">
              <a:solidFill>
                <a:srgbClr val="176E68"/>
              </a:solidFill>
              <a:latin typeface="Segoe UI" panose="020B0502040204020203" charset="0"/>
              <a:cs typeface="Segoe UI" panose="020B0502040204020203" charset="0"/>
            </a:endParaRPr>
          </a:p>
        </p:txBody>
      </p:sp>
      <p:sp>
        <p:nvSpPr>
          <p:cNvPr id="11" name="Text Box 10"/>
          <p:cNvSpPr txBox="1"/>
          <p:nvPr/>
        </p:nvSpPr>
        <p:spPr>
          <a:xfrm>
            <a:off x="4381500" y="4140200"/>
            <a:ext cx="3365500" cy="276860"/>
          </a:xfrm>
          <a:prstGeom prst="rect">
            <a:avLst/>
          </a:prstGeom>
          <a:noFill/>
        </p:spPr>
        <p:txBody>
          <a:bodyPr wrap="square" lIns="0" tIns="0" rIns="0" bIns="0" rtlCol="0" anchor="t">
            <a:noAutofit/>
          </a:bodyPr>
          <a:p>
            <a:pPr indent="0">
              <a:spcAft>
                <a:spcPts val="700"/>
              </a:spcAft>
              <a:buNone/>
            </a:pPr>
            <a:r>
              <a:rPr lang="vi-VN" sz="2300">
                <a:solidFill>
                  <a:srgbClr val="172F3C"/>
                </a:solidFill>
                <a:latin typeface="Segoe UI" panose="020B0502040204020203" charset="0"/>
                <a:cs typeface="Segoe UI" panose="020B0502040204020203" charset="0"/>
              </a:rPr>
              <a:t>Mẫu ghi danh không còn đại diện tốt</a:t>
            </a:r>
            <a:endParaRPr lang="vi-VN" sz="2300">
              <a:solidFill>
                <a:srgbClr val="172F3C"/>
              </a:solidFill>
              <a:latin typeface="Segoe UI" panose="020B0502040204020203" charset="0"/>
              <a:cs typeface="Segoe UI" panose="020B0502040204020203" charset="0"/>
            </a:endParaRPr>
          </a:p>
        </p:txBody>
      </p:sp>
      <p:sp>
        <p:nvSpPr>
          <p:cNvPr id="12" name="Text Box 11"/>
          <p:cNvSpPr txBox="1"/>
          <p:nvPr/>
        </p:nvSpPr>
        <p:spPr>
          <a:xfrm>
            <a:off x="8178800" y="1993900"/>
            <a:ext cx="3365500" cy="276860"/>
          </a:xfrm>
          <a:prstGeom prst="rect">
            <a:avLst/>
          </a:prstGeom>
          <a:noFill/>
        </p:spPr>
        <p:txBody>
          <a:bodyPr wrap="square" lIns="0" tIns="0" rIns="0" bIns="0" rtlCol="0" anchor="t">
            <a:noAutofit/>
          </a:bodyPr>
          <a:p>
            <a:pPr indent="0">
              <a:spcAft>
                <a:spcPts val="700"/>
              </a:spcAft>
              <a:buNone/>
            </a:pPr>
            <a:r>
              <a:rPr lang="vi-VN" sz="3800" b="1">
                <a:solidFill>
                  <a:srgbClr val="BB542A"/>
                </a:solidFill>
                <a:latin typeface="Segoe UI" panose="020B0502040204020203" charset="0"/>
                <a:cs typeface="Segoe UI" panose="020B0502040204020203" charset="0"/>
              </a:rPr>
              <a:t>03</a:t>
            </a:r>
            <a:endParaRPr lang="vi-VN" sz="3800" b="1">
              <a:solidFill>
                <a:srgbClr val="BB542A"/>
              </a:solidFill>
              <a:latin typeface="Segoe UI" panose="020B0502040204020203" charset="0"/>
              <a:cs typeface="Segoe UI" panose="020B0502040204020203" charset="0"/>
            </a:endParaRPr>
          </a:p>
        </p:txBody>
      </p:sp>
      <p:sp>
        <p:nvSpPr>
          <p:cNvPr id="13" name="Text Box 12"/>
          <p:cNvSpPr txBox="1"/>
          <p:nvPr/>
        </p:nvSpPr>
        <p:spPr>
          <a:xfrm>
            <a:off x="8178800" y="2870200"/>
            <a:ext cx="3365500" cy="276860"/>
          </a:xfrm>
          <a:prstGeom prst="rect">
            <a:avLst/>
          </a:prstGeom>
          <a:noFill/>
        </p:spPr>
        <p:txBody>
          <a:bodyPr wrap="square" lIns="0" tIns="0" rIns="0" bIns="0" rtlCol="0" anchor="t">
            <a:noAutofit/>
          </a:bodyPr>
          <a:p>
            <a:pPr indent="0">
              <a:spcAft>
                <a:spcPts val="700"/>
              </a:spcAft>
              <a:buNone/>
            </a:pPr>
            <a:r>
              <a:rPr lang="vi-VN" sz="2600" b="1">
                <a:solidFill>
                  <a:srgbClr val="176E68"/>
                </a:solidFill>
                <a:latin typeface="Segoe UI" panose="020B0502040204020203" charset="0"/>
                <a:cs typeface="Segoe UI" panose="020B0502040204020203" charset="0"/>
              </a:rPr>
              <a:t>Policy suy giảm</a:t>
            </a:r>
            <a:endParaRPr lang="vi-VN" sz="2600" b="1">
              <a:solidFill>
                <a:srgbClr val="176E68"/>
              </a:solidFill>
              <a:latin typeface="Segoe UI" panose="020B0502040204020203" charset="0"/>
              <a:cs typeface="Segoe UI" panose="020B0502040204020203" charset="0"/>
            </a:endParaRPr>
          </a:p>
        </p:txBody>
      </p:sp>
      <p:sp>
        <p:nvSpPr>
          <p:cNvPr id="14" name="Text Box 13"/>
          <p:cNvSpPr txBox="1"/>
          <p:nvPr/>
        </p:nvSpPr>
        <p:spPr>
          <a:xfrm>
            <a:off x="8178800" y="4140200"/>
            <a:ext cx="3365500" cy="276860"/>
          </a:xfrm>
          <a:prstGeom prst="rect">
            <a:avLst/>
          </a:prstGeom>
          <a:noFill/>
        </p:spPr>
        <p:txBody>
          <a:bodyPr wrap="square" lIns="0" tIns="0" rIns="0" bIns="0" rtlCol="0" anchor="t">
            <a:noAutofit/>
          </a:bodyPr>
          <a:p>
            <a:pPr indent="0">
              <a:spcAft>
                <a:spcPts val="700"/>
              </a:spcAft>
              <a:buNone/>
            </a:pPr>
            <a:r>
              <a:rPr lang="vi-VN" sz="2300">
                <a:solidFill>
                  <a:srgbClr val="172F3C"/>
                </a:solidFill>
                <a:latin typeface="Segoe UI" panose="020B0502040204020203" charset="0"/>
                <a:cs typeface="Segoe UI" panose="020B0502040204020203" charset="0"/>
              </a:rPr>
              <a:t>Sai số tăng trên dữ liệu được review tin cậy</a:t>
            </a:r>
            <a:endParaRPr lang="vi-VN" sz="2300">
              <a:solidFill>
                <a:srgbClr val="172F3C"/>
              </a:solidFill>
              <a:latin typeface="Segoe UI" panose="020B0502040204020203" charset="0"/>
              <a:cs typeface="Segoe UI" panose="020B0502040204020203"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Năm lớp bằng chứng để đánh giá drift</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11</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Face và Voice có reference, report và trạng thái drift độc lập</a:t>
            </a:r>
            <a:endParaRPr lang="vi-VN" sz="1200">
              <a:solidFill>
                <a:srgbClr val="526673"/>
              </a:solidFill>
              <a:latin typeface="Segoe UI" panose="020B0502040204020203" charset="0"/>
              <a:cs typeface="Segoe UI" panose="020B0502040204020203" charset="0"/>
            </a:endParaRPr>
          </a:p>
        </p:txBody>
      </p:sp>
      <p:graphicFrame>
        <p:nvGraphicFramePr>
          <p:cNvPr id="6" name="Table 5"/>
          <p:cNvGraphicFramePr/>
          <p:nvPr/>
        </p:nvGraphicFramePr>
        <p:xfrm>
          <a:off x="584200" y="1879600"/>
          <a:ext cx="11023600" cy="3352800"/>
        </p:xfrm>
        <a:graphic>
          <a:graphicData uri="http://schemas.openxmlformats.org/drawingml/2006/table">
            <a:tbl>
              <a:tblPr firstRow="1" bandRow="1">
                <a:tableStyleId>{5C22544A-7EE6-4342-B048-85BDC9FD1C3A}</a:tableStyleId>
              </a:tblPr>
              <a:tblGrid>
                <a:gridCol w="2921000"/>
                <a:gridCol w="4038600"/>
                <a:gridCol w="4064000"/>
              </a:tblGrid>
              <a:tr h="558800">
                <a:tc>
                  <a:txBody>
                    <a:bodyPr/>
                    <a:p>
                      <a:pPr indent="0">
                        <a:spcAft>
                          <a:spcPts val="0"/>
                        </a:spcAft>
                        <a:buNone/>
                      </a:pPr>
                      <a:r>
                        <a:rPr lang="vi-VN" sz="1900" b="1">
                          <a:solidFill>
                            <a:srgbClr val="FFFFFF"/>
                          </a:solidFill>
                          <a:latin typeface="Segoe UI" panose="020B0502040204020203" charset="0"/>
                          <a:cs typeface="Segoe UI" panose="020B0502040204020203" charset="0"/>
                        </a:rPr>
                        <a:t>Lớp</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c>
                  <a:txBody>
                    <a:bodyPr/>
                    <a:p>
                      <a:pPr indent="0">
                        <a:spcAft>
                          <a:spcPts val="0"/>
                        </a:spcAft>
                        <a:buNone/>
                      </a:pPr>
                      <a:r>
                        <a:rPr lang="vi-VN" sz="1900" b="1">
                          <a:solidFill>
                            <a:srgbClr val="FFFFFF"/>
                          </a:solidFill>
                          <a:latin typeface="Segoe UI" panose="020B0502040204020203" charset="0"/>
                          <a:cs typeface="Segoe UI" panose="020B0502040204020203" charset="0"/>
                        </a:rPr>
                        <a:t>Input và phương pháp</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c>
                  <a:txBody>
                    <a:bodyPr/>
                    <a:p>
                      <a:pPr indent="0">
                        <a:spcAft>
                          <a:spcPts val="0"/>
                        </a:spcAft>
                        <a:buNone/>
                      </a:pPr>
                      <a:r>
                        <a:rPr lang="vi-VN" sz="1900" b="1">
                          <a:solidFill>
                            <a:srgbClr val="FFFFFF"/>
                          </a:solidFill>
                          <a:latin typeface="Segoe UI" panose="020B0502040204020203" charset="0"/>
                          <a:cs typeface="Segoe UI" panose="020B0502040204020203" charset="0"/>
                        </a:rPr>
                        <a:t>Output</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Quality</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PSI trên brightness, blur, RMS, silence…</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Feature PSI và input drift</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Embedding</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RBF MMD² trên cả vector chuẩn hóa</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Khoảng cách phân phối</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Score</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PSI genuine / impostor có nhãn</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Shift, margin và separation</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Performance</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Nhãn review tin cậy</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FMR, FNMR, EER, TAR@FAR</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Template age</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Nhóm tuổi mẫu ghi danh</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Sai số theo cohort tuổi</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Decision engine quyết định hành động theo bằng chứng</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12</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Mặc định: 3 cửa sổ mới, 100 mẫu/cửa sổ, tối thiểu 20 nhãn mỗi lớp</a:t>
            </a:r>
            <a:endParaRPr lang="vi-VN" sz="1200">
              <a:solidFill>
                <a:srgbClr val="526673"/>
              </a:solidFill>
              <a:latin typeface="Segoe UI" panose="020B0502040204020203" charset="0"/>
              <a:cs typeface="Segoe UI" panose="020B0502040204020203" charset="0"/>
            </a:endParaRPr>
          </a:p>
        </p:txBody>
      </p:sp>
      <p:graphicFrame>
        <p:nvGraphicFramePr>
          <p:cNvPr id="6" name="Table 5"/>
          <p:cNvGraphicFramePr/>
          <p:nvPr/>
        </p:nvGraphicFramePr>
        <p:xfrm>
          <a:off x="584200" y="1879600"/>
          <a:ext cx="11023600" cy="3352800"/>
        </p:xfrm>
        <a:graphic>
          <a:graphicData uri="http://schemas.openxmlformats.org/drawingml/2006/table">
            <a:tbl>
              <a:tblPr firstRow="1" bandRow="1">
                <a:tableStyleId>{5C22544A-7EE6-4342-B048-85BDC9FD1C3A}</a:tableStyleId>
              </a:tblPr>
              <a:tblGrid>
                <a:gridCol w="2921000"/>
                <a:gridCol w="4038600"/>
                <a:gridCol w="4064000"/>
              </a:tblGrid>
              <a:tr h="558800">
                <a:tc>
                  <a:txBody>
                    <a:bodyPr/>
                    <a:p>
                      <a:pPr indent="0">
                        <a:spcAft>
                          <a:spcPts val="0"/>
                        </a:spcAft>
                        <a:buNone/>
                      </a:pPr>
                      <a:r>
                        <a:rPr lang="vi-VN" sz="1900" b="1">
                          <a:solidFill>
                            <a:srgbClr val="FFFFFF"/>
                          </a:solidFill>
                          <a:latin typeface="Segoe UI" panose="020B0502040204020203" charset="0"/>
                          <a:cs typeface="Segoe UI" panose="020B0502040204020203" charset="0"/>
                        </a:rPr>
                        <a:t>Bằng chứng</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c>
                  <a:txBody>
                    <a:bodyPr/>
                    <a:p>
                      <a:pPr indent="0">
                        <a:spcAft>
                          <a:spcPts val="0"/>
                        </a:spcAft>
                        <a:buNone/>
                      </a:pPr>
                      <a:r>
                        <a:rPr lang="vi-VN" sz="1900" b="1">
                          <a:solidFill>
                            <a:srgbClr val="FFFFFF"/>
                          </a:solidFill>
                          <a:latin typeface="Segoe UI" panose="020B0502040204020203" charset="0"/>
                          <a:cs typeface="Segoe UI" panose="020B0502040204020203" charset="0"/>
                        </a:rPr>
                        <a:t>Trạng thái</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c>
                  <a:txBody>
                    <a:bodyPr/>
                    <a:p>
                      <a:pPr indent="0">
                        <a:spcAft>
                          <a:spcPts val="0"/>
                        </a:spcAft>
                        <a:buNone/>
                      </a:pPr>
                      <a:r>
                        <a:rPr lang="vi-VN" sz="1900" b="1">
                          <a:solidFill>
                            <a:srgbClr val="FFFFFF"/>
                          </a:solidFill>
                          <a:latin typeface="Segoe UI" panose="020B0502040204020203" charset="0"/>
                          <a:cs typeface="Segoe UI" panose="020B0502040204020203" charset="0"/>
                        </a:rPr>
                        <a:t>Hành động</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Chất lượng capture thay đổi</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INPUT_DRIFT</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Điều tra đầu vào</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Embedding / score drift, sai số ổn</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MONITOR / drift state</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Tiếp tục theo dõi</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Chỉ template cũ suy giảm</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TEMPLATE_UPDATE_REQUIRED</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Qua gate cập nhật template</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Drift kéo dài + reviewed error tăng</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RETRAIN_REQUIRED</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Yêu cầu Airflow hiệu chỉnh</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Thiếu vector hoặc trusted labels</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INSUFFICIENT_DATA</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Thu thêm bằng chứng</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Cập nhật template và retrain có hai đường kiểm soát</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13</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Không lấy một lần xác minh thành công làm ground truth để thay template</a:t>
            </a:r>
            <a:endParaRPr lang="vi-VN" sz="1200">
              <a:solidFill>
                <a:srgbClr val="526673"/>
              </a:solidFill>
              <a:latin typeface="Segoe UI" panose="020B0502040204020203" charset="0"/>
              <a:cs typeface="Segoe UI" panose="020B0502040204020203" charset="0"/>
            </a:endParaRPr>
          </a:p>
        </p:txBody>
      </p:sp>
      <p:cxnSp>
        <p:nvCxnSpPr>
          <p:cNvPr id="6" name="Straight Connector 5"/>
          <p:cNvCxnSpPr/>
          <p:nvPr/>
        </p:nvCxnSpPr>
        <p:spPr>
          <a:xfrm>
            <a:off x="6057900" y="2006600"/>
            <a:ext cx="635" cy="3619500"/>
          </a:xfrm>
          <a:prstGeom prst="line">
            <a:avLst/>
          </a:prstGeom>
          <a:ln>
            <a:solidFill>
              <a:srgbClr val="CCD6D1"/>
            </a:solidFill>
          </a:ln>
        </p:spPr>
        <p:style>
          <a:lnRef idx="2">
            <a:schemeClr val="accent1"/>
          </a:lnRef>
          <a:fillRef idx="0">
            <a:srgbClr val="FFFFFF"/>
          </a:fillRef>
          <a:effectRef idx="0">
            <a:srgbClr val="FFFFFF"/>
          </a:effectRef>
          <a:fontRef idx="minor">
            <a:schemeClr val="tx1"/>
          </a:fontRef>
        </p:style>
      </p:cxnSp>
      <p:sp>
        <p:nvSpPr>
          <p:cNvPr id="7" name="Text Box 6"/>
          <p:cNvSpPr txBox="1"/>
          <p:nvPr/>
        </p:nvSpPr>
        <p:spPr>
          <a:xfrm>
            <a:off x="584200" y="2146300"/>
            <a:ext cx="5067300" cy="276860"/>
          </a:xfrm>
          <a:prstGeom prst="rect">
            <a:avLst/>
          </a:prstGeom>
          <a:noFill/>
        </p:spPr>
        <p:txBody>
          <a:bodyPr wrap="square" lIns="0" tIns="0" rIns="0" bIns="0" rtlCol="0" anchor="t">
            <a:noAutofit/>
          </a:bodyPr>
          <a:p>
            <a:pPr indent="0">
              <a:spcAft>
                <a:spcPts val="700"/>
              </a:spcAft>
              <a:buNone/>
            </a:pPr>
            <a:r>
              <a:rPr lang="vi-VN" sz="2800" b="1">
                <a:solidFill>
                  <a:srgbClr val="176E68"/>
                </a:solidFill>
                <a:latin typeface="Segoe UI" panose="020B0502040204020203" charset="0"/>
                <a:cs typeface="Segoe UI" panose="020B0502040204020203" charset="0"/>
              </a:rPr>
              <a:t>Template update</a:t>
            </a:r>
            <a:endParaRPr lang="vi-VN" sz="2800" b="1">
              <a:solidFill>
                <a:srgbClr val="176E68"/>
              </a:solidFill>
              <a:latin typeface="Segoe UI" panose="020B0502040204020203" charset="0"/>
              <a:cs typeface="Segoe UI" panose="020B0502040204020203" charset="0"/>
            </a:endParaRPr>
          </a:p>
        </p:txBody>
      </p:sp>
      <p:sp>
        <p:nvSpPr>
          <p:cNvPr id="8" name="Text Box 7"/>
          <p:cNvSpPr txBox="1"/>
          <p:nvPr/>
        </p:nvSpPr>
        <p:spPr>
          <a:xfrm>
            <a:off x="584200" y="3225800"/>
            <a:ext cx="4991100" cy="276860"/>
          </a:xfrm>
          <a:prstGeom prst="rect">
            <a:avLst/>
          </a:prstGeom>
          <a:noFill/>
        </p:spPr>
        <p:txBody>
          <a:bodyPr wrap="square" lIns="0" tIns="0" rIns="0" bIns="0" rtlCol="0" anchor="t">
            <a:noAutofit/>
          </a:bodyPr>
          <a:p>
            <a:pPr indent="0">
              <a:spcAft>
                <a:spcPts val="700"/>
              </a:spcAft>
              <a:buNone/>
            </a:pPr>
            <a:r>
              <a:rPr lang="vi-VN" sz="2500">
                <a:solidFill>
                  <a:srgbClr val="172F3C"/>
                </a:solidFill>
                <a:latin typeface="Segoe UI" panose="020B0502040204020203" charset="0"/>
                <a:cs typeface="Segoe UI" panose="020B0502040204020203" charset="0"/>
              </a:rPr>
              <a:t>Nhiều quan sát trusted, chất lượng cao
Tạo centroid và đánh giá holdout riêng
Version mới, giữ template trước</a:t>
            </a:r>
            <a:endParaRPr lang="vi-VN" sz="2500">
              <a:solidFill>
                <a:srgbClr val="172F3C"/>
              </a:solidFill>
              <a:latin typeface="Segoe UI" panose="020B0502040204020203" charset="0"/>
              <a:cs typeface="Segoe UI" panose="020B0502040204020203" charset="0"/>
            </a:endParaRPr>
          </a:p>
        </p:txBody>
      </p:sp>
      <p:sp>
        <p:nvSpPr>
          <p:cNvPr id="9" name="Text Box 8"/>
          <p:cNvSpPr txBox="1"/>
          <p:nvPr/>
        </p:nvSpPr>
        <p:spPr>
          <a:xfrm>
            <a:off x="6464300" y="2146300"/>
            <a:ext cx="5067300" cy="276860"/>
          </a:xfrm>
          <a:prstGeom prst="rect">
            <a:avLst/>
          </a:prstGeom>
          <a:noFill/>
        </p:spPr>
        <p:txBody>
          <a:bodyPr wrap="square" lIns="0" tIns="0" rIns="0" bIns="0" rtlCol="0" anchor="t">
            <a:noAutofit/>
          </a:bodyPr>
          <a:p>
            <a:pPr indent="0">
              <a:spcAft>
                <a:spcPts val="700"/>
              </a:spcAft>
              <a:buNone/>
            </a:pPr>
            <a:r>
              <a:rPr lang="vi-VN" sz="2800" b="1">
                <a:solidFill>
                  <a:srgbClr val="176E68"/>
                </a:solidFill>
                <a:latin typeface="Segoe UI" panose="020B0502040204020203" charset="0"/>
                <a:cs typeface="Segoe UI" panose="020B0502040204020203" charset="0"/>
              </a:rPr>
              <a:t>Threshold retrain</a:t>
            </a:r>
            <a:endParaRPr lang="vi-VN" sz="2800" b="1">
              <a:solidFill>
                <a:srgbClr val="176E68"/>
              </a:solidFill>
              <a:latin typeface="Segoe UI" panose="020B0502040204020203" charset="0"/>
              <a:cs typeface="Segoe UI" panose="020B0502040204020203" charset="0"/>
            </a:endParaRPr>
          </a:p>
        </p:txBody>
      </p:sp>
      <p:sp>
        <p:nvSpPr>
          <p:cNvPr id="10" name="Text Box 9"/>
          <p:cNvSpPr txBox="1"/>
          <p:nvPr/>
        </p:nvSpPr>
        <p:spPr>
          <a:xfrm>
            <a:off x="6464300" y="3225800"/>
            <a:ext cx="4991100" cy="276860"/>
          </a:xfrm>
          <a:prstGeom prst="rect">
            <a:avLst/>
          </a:prstGeom>
          <a:noFill/>
        </p:spPr>
        <p:txBody>
          <a:bodyPr wrap="square" lIns="0" tIns="0" rIns="0" bIns="0" rtlCol="0" anchor="t">
            <a:noAutofit/>
          </a:bodyPr>
          <a:p>
            <a:pPr indent="0">
              <a:spcAft>
                <a:spcPts val="700"/>
              </a:spcAft>
              <a:buNone/>
            </a:pPr>
            <a:r>
              <a:rPr lang="vi-VN" sz="2500">
                <a:solidFill>
                  <a:srgbClr val="172F3C"/>
                </a:solidFill>
                <a:latin typeface="Segoe UI" panose="020B0502040204020203" charset="0"/>
                <a:cs typeface="Segoe UI" panose="020B0502040204020203" charset="0"/>
              </a:rPr>
              <a:t>Airflow nhận intent theo modality
Snapshot cố định, identity CV / holdout
Candidate phải so với champion</a:t>
            </a:r>
            <a:endParaRPr lang="vi-VN" sz="2500">
              <a:solidFill>
                <a:srgbClr val="172F3C"/>
              </a:solidFill>
              <a:latin typeface="Segoe UI" panose="020B0502040204020203" charset="0"/>
              <a:cs typeface="Segoe UI" panose="020B0502040204020203"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Model mới phải vượt qua cả offline và traffic gate</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14</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Face và Voice có model name, alias, lifecycle state và routing độc lập</a:t>
            </a:r>
            <a:endParaRPr lang="vi-VN" sz="1200">
              <a:solidFill>
                <a:srgbClr val="526673"/>
              </a:solidFill>
              <a:latin typeface="Segoe UI" panose="020B0502040204020203" charset="0"/>
              <a:cs typeface="Segoe UI" panose="020B0502040204020203" charset="0"/>
            </a:endParaRPr>
          </a:p>
        </p:txBody>
      </p:sp>
      <p:sp>
        <p:nvSpPr>
          <p:cNvPr id="6" name="Text Box 5"/>
          <p:cNvSpPr txBox="1"/>
          <p:nvPr/>
        </p:nvSpPr>
        <p:spPr>
          <a:xfrm>
            <a:off x="584200" y="2349500"/>
            <a:ext cx="1739900" cy="276860"/>
          </a:xfrm>
          <a:prstGeom prst="rect">
            <a:avLst/>
          </a:prstGeom>
          <a:noFill/>
        </p:spPr>
        <p:txBody>
          <a:bodyPr wrap="square" lIns="0" tIns="0" rIns="0" bIns="0" rtlCol="0" anchor="t">
            <a:noAutofit/>
          </a:bodyPr>
          <a:p>
            <a:pPr indent="0">
              <a:spcAft>
                <a:spcPts val="700"/>
              </a:spcAft>
              <a:buNone/>
            </a:pPr>
            <a:r>
              <a:rPr lang="vi-VN" sz="2200" b="1">
                <a:solidFill>
                  <a:srgbClr val="176E68"/>
                </a:solidFill>
                <a:latin typeface="Segoe UI" panose="020B0502040204020203" charset="0"/>
                <a:cs typeface="Segoe UI" panose="020B0502040204020203" charset="0"/>
              </a:rPr>
              <a:t>Candidate</a:t>
            </a:r>
            <a:endParaRPr lang="vi-VN" sz="2200" b="1">
              <a:solidFill>
                <a:srgbClr val="176E68"/>
              </a:solidFill>
              <a:latin typeface="Segoe UI" panose="020B0502040204020203" charset="0"/>
              <a:cs typeface="Segoe UI" panose="020B0502040204020203" charset="0"/>
            </a:endParaRPr>
          </a:p>
        </p:txBody>
      </p:sp>
      <p:sp>
        <p:nvSpPr>
          <p:cNvPr id="7" name="Rectangle 6"/>
          <p:cNvSpPr/>
          <p:nvPr/>
        </p:nvSpPr>
        <p:spPr>
          <a:xfrm>
            <a:off x="584200" y="3225800"/>
            <a:ext cx="1587500" cy="63500"/>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Text Box 7"/>
          <p:cNvSpPr txBox="1"/>
          <p:nvPr/>
        </p:nvSpPr>
        <p:spPr>
          <a:xfrm>
            <a:off x="584200" y="3581400"/>
            <a:ext cx="1689100" cy="276860"/>
          </a:xfrm>
          <a:prstGeom prst="rect">
            <a:avLst/>
          </a:prstGeom>
          <a:noFill/>
        </p:spPr>
        <p:txBody>
          <a:bodyPr wrap="square" lIns="0" tIns="0" rIns="0" bIns="0" rtlCol="0" anchor="t">
            <a:noAutofit/>
          </a:bodyPr>
          <a:p>
            <a:pPr indent="0">
              <a:spcAft>
                <a:spcPts val="700"/>
              </a:spcAft>
              <a:buNone/>
            </a:pPr>
            <a:r>
              <a:rPr lang="vi-VN" sz="1900">
                <a:solidFill>
                  <a:srgbClr val="172F3C"/>
                </a:solidFill>
                <a:latin typeface="Segoe UI" panose="020B0502040204020203" charset="0"/>
                <a:cs typeface="Segoe UI" panose="020B0502040204020203" charset="0"/>
              </a:rPr>
              <a:t>Hiệu chỉnh ngưỡng</a:t>
            </a:r>
            <a:endParaRPr lang="vi-VN" sz="1900">
              <a:solidFill>
                <a:srgbClr val="172F3C"/>
              </a:solidFill>
              <a:latin typeface="Segoe UI" panose="020B0502040204020203" charset="0"/>
              <a:cs typeface="Segoe UI" panose="020B0502040204020203" charset="0"/>
            </a:endParaRPr>
          </a:p>
        </p:txBody>
      </p:sp>
      <p:cxnSp>
        <p:nvCxnSpPr>
          <p:cNvPr id="9" name="Straight Connector 8"/>
          <p:cNvCxnSpPr/>
          <p:nvPr/>
        </p:nvCxnSpPr>
        <p:spPr>
          <a:xfrm>
            <a:off x="2171700" y="3251200"/>
            <a:ext cx="203200" cy="635"/>
          </a:xfrm>
          <a:prstGeom prst="line">
            <a:avLst/>
          </a:prstGeom>
          <a:ln w="25400">
            <a:solidFill>
              <a:srgbClr val="176E68"/>
            </a:solidFill>
            <a:tailEnd type="arrow"/>
          </a:ln>
        </p:spPr>
        <p:style>
          <a:lnRef idx="2">
            <a:schemeClr val="accent1"/>
          </a:lnRef>
          <a:fillRef idx="0">
            <a:srgbClr val="FFFFFF"/>
          </a:fillRef>
          <a:effectRef idx="0">
            <a:srgbClr val="FFFFFF"/>
          </a:effectRef>
          <a:fontRef idx="minor">
            <a:schemeClr val="tx1"/>
          </a:fontRef>
        </p:style>
      </p:cxnSp>
      <p:sp>
        <p:nvSpPr>
          <p:cNvPr id="10" name="Text Box 9"/>
          <p:cNvSpPr txBox="1"/>
          <p:nvPr/>
        </p:nvSpPr>
        <p:spPr>
          <a:xfrm>
            <a:off x="2451100" y="2349500"/>
            <a:ext cx="1739900" cy="276860"/>
          </a:xfrm>
          <a:prstGeom prst="rect">
            <a:avLst/>
          </a:prstGeom>
          <a:noFill/>
        </p:spPr>
        <p:txBody>
          <a:bodyPr wrap="square" lIns="0" tIns="0" rIns="0" bIns="0" rtlCol="0" anchor="t">
            <a:noAutofit/>
          </a:bodyPr>
          <a:p>
            <a:pPr indent="0">
              <a:spcAft>
                <a:spcPts val="700"/>
              </a:spcAft>
              <a:buNone/>
            </a:pPr>
            <a:r>
              <a:rPr lang="vi-VN" sz="2200" b="1">
                <a:solidFill>
                  <a:srgbClr val="176E68"/>
                </a:solidFill>
                <a:latin typeface="Segoe UI" panose="020B0502040204020203" charset="0"/>
                <a:cs typeface="Segoe UI" panose="020B0502040204020203" charset="0"/>
              </a:rPr>
              <a:t>Offline</a:t>
            </a:r>
            <a:endParaRPr lang="vi-VN" sz="2200" b="1">
              <a:solidFill>
                <a:srgbClr val="176E68"/>
              </a:solidFill>
              <a:latin typeface="Segoe UI" panose="020B0502040204020203" charset="0"/>
              <a:cs typeface="Segoe UI" panose="020B0502040204020203" charset="0"/>
            </a:endParaRPr>
          </a:p>
        </p:txBody>
      </p:sp>
      <p:sp>
        <p:nvSpPr>
          <p:cNvPr id="11" name="Rectangle 10"/>
          <p:cNvSpPr/>
          <p:nvPr/>
        </p:nvSpPr>
        <p:spPr>
          <a:xfrm>
            <a:off x="2451100" y="3225800"/>
            <a:ext cx="1587500" cy="63500"/>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2" name="Text Box 11"/>
          <p:cNvSpPr txBox="1"/>
          <p:nvPr/>
        </p:nvSpPr>
        <p:spPr>
          <a:xfrm>
            <a:off x="2451100" y="3581400"/>
            <a:ext cx="1689100" cy="276860"/>
          </a:xfrm>
          <a:prstGeom prst="rect">
            <a:avLst/>
          </a:prstGeom>
          <a:noFill/>
        </p:spPr>
        <p:txBody>
          <a:bodyPr wrap="square" lIns="0" tIns="0" rIns="0" bIns="0" rtlCol="0" anchor="t">
            <a:noAutofit/>
          </a:bodyPr>
          <a:p>
            <a:pPr indent="0">
              <a:spcAft>
                <a:spcPts val="700"/>
              </a:spcAft>
              <a:buNone/>
            </a:pPr>
            <a:r>
              <a:rPr lang="vi-VN" sz="1900">
                <a:solidFill>
                  <a:srgbClr val="172F3C"/>
                </a:solidFill>
                <a:latin typeface="Segoe UI" panose="020B0502040204020203" charset="0"/>
                <a:cs typeface="Segoe UI" panose="020B0502040204020203" charset="0"/>
              </a:rPr>
              <a:t>Cùng holdout</a:t>
            </a:r>
            <a:endParaRPr lang="vi-VN" sz="1900">
              <a:solidFill>
                <a:srgbClr val="172F3C"/>
              </a:solidFill>
              <a:latin typeface="Segoe UI" panose="020B0502040204020203" charset="0"/>
              <a:cs typeface="Segoe UI" panose="020B0502040204020203" charset="0"/>
            </a:endParaRPr>
          </a:p>
        </p:txBody>
      </p:sp>
      <p:cxnSp>
        <p:nvCxnSpPr>
          <p:cNvPr id="13" name="Straight Connector 12"/>
          <p:cNvCxnSpPr/>
          <p:nvPr/>
        </p:nvCxnSpPr>
        <p:spPr>
          <a:xfrm>
            <a:off x="4038600" y="3251200"/>
            <a:ext cx="203200" cy="635"/>
          </a:xfrm>
          <a:prstGeom prst="line">
            <a:avLst/>
          </a:prstGeom>
          <a:ln w="25400">
            <a:solidFill>
              <a:srgbClr val="176E68"/>
            </a:solidFill>
            <a:tailEnd type="arrow"/>
          </a:ln>
        </p:spPr>
        <p:style>
          <a:lnRef idx="2">
            <a:schemeClr val="accent1"/>
          </a:lnRef>
          <a:fillRef idx="0">
            <a:srgbClr val="FFFFFF"/>
          </a:fillRef>
          <a:effectRef idx="0">
            <a:srgbClr val="FFFFFF"/>
          </a:effectRef>
          <a:fontRef idx="minor">
            <a:schemeClr val="tx1"/>
          </a:fontRef>
        </p:style>
      </p:cxnSp>
      <p:sp>
        <p:nvSpPr>
          <p:cNvPr id="14" name="Text Box 13"/>
          <p:cNvSpPr txBox="1"/>
          <p:nvPr/>
        </p:nvSpPr>
        <p:spPr>
          <a:xfrm>
            <a:off x="4318000" y="2349500"/>
            <a:ext cx="1739900" cy="276860"/>
          </a:xfrm>
          <a:prstGeom prst="rect">
            <a:avLst/>
          </a:prstGeom>
          <a:noFill/>
        </p:spPr>
        <p:txBody>
          <a:bodyPr wrap="square" lIns="0" tIns="0" rIns="0" bIns="0" rtlCol="0" anchor="t">
            <a:noAutofit/>
          </a:bodyPr>
          <a:p>
            <a:pPr indent="0">
              <a:spcAft>
                <a:spcPts val="700"/>
              </a:spcAft>
              <a:buNone/>
            </a:pPr>
            <a:r>
              <a:rPr lang="vi-VN" sz="2200" b="1">
                <a:solidFill>
                  <a:srgbClr val="176E68"/>
                </a:solidFill>
                <a:latin typeface="Segoe UI" panose="020B0502040204020203" charset="0"/>
                <a:cs typeface="Segoe UI" panose="020B0502040204020203" charset="0"/>
              </a:rPr>
              <a:t>Challenger</a:t>
            </a:r>
            <a:endParaRPr lang="vi-VN" sz="2200" b="1">
              <a:solidFill>
                <a:srgbClr val="176E68"/>
              </a:solidFill>
              <a:latin typeface="Segoe UI" panose="020B0502040204020203" charset="0"/>
              <a:cs typeface="Segoe UI" panose="020B0502040204020203" charset="0"/>
            </a:endParaRPr>
          </a:p>
        </p:txBody>
      </p:sp>
      <p:sp>
        <p:nvSpPr>
          <p:cNvPr id="15" name="Rectangle 14"/>
          <p:cNvSpPr/>
          <p:nvPr/>
        </p:nvSpPr>
        <p:spPr>
          <a:xfrm>
            <a:off x="4318000" y="3225800"/>
            <a:ext cx="1587500" cy="63500"/>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6" name="Text Box 15"/>
          <p:cNvSpPr txBox="1"/>
          <p:nvPr/>
        </p:nvSpPr>
        <p:spPr>
          <a:xfrm>
            <a:off x="4318000" y="3581400"/>
            <a:ext cx="1689100" cy="276860"/>
          </a:xfrm>
          <a:prstGeom prst="rect">
            <a:avLst/>
          </a:prstGeom>
          <a:noFill/>
        </p:spPr>
        <p:txBody>
          <a:bodyPr wrap="square" lIns="0" tIns="0" rIns="0" bIns="0" rtlCol="0" anchor="t">
            <a:noAutofit/>
          </a:bodyPr>
          <a:p>
            <a:pPr indent="0">
              <a:spcAft>
                <a:spcPts val="700"/>
              </a:spcAft>
              <a:buNone/>
            </a:pPr>
            <a:r>
              <a:rPr lang="vi-VN" sz="1900">
                <a:solidFill>
                  <a:srgbClr val="172F3C"/>
                </a:solidFill>
                <a:latin typeface="Segoe UI" panose="020B0502040204020203" charset="0"/>
                <a:cs typeface="Segoe UI" panose="020B0502040204020203" charset="0"/>
              </a:rPr>
              <a:t>Đủ điều kiện thử</a:t>
            </a:r>
            <a:endParaRPr lang="vi-VN" sz="1900">
              <a:solidFill>
                <a:srgbClr val="172F3C"/>
              </a:solidFill>
              <a:latin typeface="Segoe UI" panose="020B0502040204020203" charset="0"/>
              <a:cs typeface="Segoe UI" panose="020B0502040204020203" charset="0"/>
            </a:endParaRPr>
          </a:p>
        </p:txBody>
      </p:sp>
      <p:cxnSp>
        <p:nvCxnSpPr>
          <p:cNvPr id="17" name="Straight Connector 16"/>
          <p:cNvCxnSpPr/>
          <p:nvPr/>
        </p:nvCxnSpPr>
        <p:spPr>
          <a:xfrm>
            <a:off x="5905500" y="3251200"/>
            <a:ext cx="203200" cy="635"/>
          </a:xfrm>
          <a:prstGeom prst="line">
            <a:avLst/>
          </a:prstGeom>
          <a:ln w="25400">
            <a:solidFill>
              <a:srgbClr val="176E68"/>
            </a:solidFill>
            <a:tailEnd type="arrow"/>
          </a:ln>
        </p:spPr>
        <p:style>
          <a:lnRef idx="2">
            <a:schemeClr val="accent1"/>
          </a:lnRef>
          <a:fillRef idx="0">
            <a:srgbClr val="FFFFFF"/>
          </a:fillRef>
          <a:effectRef idx="0">
            <a:srgbClr val="FFFFFF"/>
          </a:effectRef>
          <a:fontRef idx="minor">
            <a:schemeClr val="tx1"/>
          </a:fontRef>
        </p:style>
      </p:cxnSp>
      <p:sp>
        <p:nvSpPr>
          <p:cNvPr id="18" name="Text Box 17"/>
          <p:cNvSpPr txBox="1"/>
          <p:nvPr/>
        </p:nvSpPr>
        <p:spPr>
          <a:xfrm>
            <a:off x="6184900" y="2349500"/>
            <a:ext cx="1739900" cy="276860"/>
          </a:xfrm>
          <a:prstGeom prst="rect">
            <a:avLst/>
          </a:prstGeom>
          <a:noFill/>
        </p:spPr>
        <p:txBody>
          <a:bodyPr wrap="square" lIns="0" tIns="0" rIns="0" bIns="0" rtlCol="0" anchor="t">
            <a:noAutofit/>
          </a:bodyPr>
          <a:p>
            <a:pPr indent="0">
              <a:spcAft>
                <a:spcPts val="700"/>
              </a:spcAft>
              <a:buNone/>
            </a:pPr>
            <a:r>
              <a:rPr lang="vi-VN" sz="2200" b="1">
                <a:solidFill>
                  <a:srgbClr val="176E68"/>
                </a:solidFill>
                <a:latin typeface="Segoe UI" panose="020B0502040204020203" charset="0"/>
                <a:cs typeface="Segoe UI" panose="020B0502040204020203" charset="0"/>
              </a:rPr>
              <a:t>Shadow</a:t>
            </a:r>
            <a:endParaRPr lang="vi-VN" sz="2200" b="1">
              <a:solidFill>
                <a:srgbClr val="176E68"/>
              </a:solidFill>
              <a:latin typeface="Segoe UI" panose="020B0502040204020203" charset="0"/>
              <a:cs typeface="Segoe UI" panose="020B0502040204020203" charset="0"/>
            </a:endParaRPr>
          </a:p>
        </p:txBody>
      </p:sp>
      <p:sp>
        <p:nvSpPr>
          <p:cNvPr id="19" name="Rectangle 18"/>
          <p:cNvSpPr/>
          <p:nvPr/>
        </p:nvSpPr>
        <p:spPr>
          <a:xfrm>
            <a:off x="6184900" y="3225800"/>
            <a:ext cx="1587500" cy="63500"/>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0" name="Text Box 19"/>
          <p:cNvSpPr txBox="1"/>
          <p:nvPr/>
        </p:nvSpPr>
        <p:spPr>
          <a:xfrm>
            <a:off x="6184900" y="3581400"/>
            <a:ext cx="1689100" cy="276860"/>
          </a:xfrm>
          <a:prstGeom prst="rect">
            <a:avLst/>
          </a:prstGeom>
          <a:noFill/>
        </p:spPr>
        <p:txBody>
          <a:bodyPr wrap="square" lIns="0" tIns="0" rIns="0" bIns="0" rtlCol="0" anchor="t">
            <a:noAutofit/>
          </a:bodyPr>
          <a:p>
            <a:pPr indent="0">
              <a:spcAft>
                <a:spcPts val="700"/>
              </a:spcAft>
              <a:buNone/>
            </a:pPr>
            <a:r>
              <a:rPr lang="vi-VN" sz="1900">
                <a:solidFill>
                  <a:srgbClr val="172F3C"/>
                </a:solidFill>
                <a:latin typeface="Segoe UI" panose="020B0502040204020203" charset="0"/>
                <a:cs typeface="Segoe UI" panose="020B0502040204020203" charset="0"/>
              </a:rPr>
              <a:t>Champion trả lời</a:t>
            </a:r>
            <a:endParaRPr lang="vi-VN" sz="1900">
              <a:solidFill>
                <a:srgbClr val="172F3C"/>
              </a:solidFill>
              <a:latin typeface="Segoe UI" panose="020B0502040204020203" charset="0"/>
              <a:cs typeface="Segoe UI" panose="020B0502040204020203" charset="0"/>
            </a:endParaRPr>
          </a:p>
        </p:txBody>
      </p:sp>
      <p:cxnSp>
        <p:nvCxnSpPr>
          <p:cNvPr id="21" name="Straight Connector 20"/>
          <p:cNvCxnSpPr/>
          <p:nvPr/>
        </p:nvCxnSpPr>
        <p:spPr>
          <a:xfrm>
            <a:off x="7772400" y="3251200"/>
            <a:ext cx="203200" cy="635"/>
          </a:xfrm>
          <a:prstGeom prst="line">
            <a:avLst/>
          </a:prstGeom>
          <a:ln w="25400">
            <a:solidFill>
              <a:srgbClr val="176E68"/>
            </a:solidFill>
            <a:tailEnd type="arrow"/>
          </a:ln>
        </p:spPr>
        <p:style>
          <a:lnRef idx="2">
            <a:schemeClr val="accent1"/>
          </a:lnRef>
          <a:fillRef idx="0">
            <a:srgbClr val="FFFFFF"/>
          </a:fillRef>
          <a:effectRef idx="0">
            <a:srgbClr val="FFFFFF"/>
          </a:effectRef>
          <a:fontRef idx="minor">
            <a:schemeClr val="tx1"/>
          </a:fontRef>
        </p:style>
      </p:cxnSp>
      <p:sp>
        <p:nvSpPr>
          <p:cNvPr id="22" name="Text Box 21"/>
          <p:cNvSpPr txBox="1"/>
          <p:nvPr/>
        </p:nvSpPr>
        <p:spPr>
          <a:xfrm>
            <a:off x="8051800" y="2349500"/>
            <a:ext cx="1739900" cy="276860"/>
          </a:xfrm>
          <a:prstGeom prst="rect">
            <a:avLst/>
          </a:prstGeom>
          <a:noFill/>
        </p:spPr>
        <p:txBody>
          <a:bodyPr wrap="square" lIns="0" tIns="0" rIns="0" bIns="0" rtlCol="0" anchor="t">
            <a:noAutofit/>
          </a:bodyPr>
          <a:p>
            <a:pPr indent="0">
              <a:spcAft>
                <a:spcPts val="700"/>
              </a:spcAft>
              <a:buNone/>
            </a:pPr>
            <a:r>
              <a:rPr lang="vi-VN" sz="2200" b="1">
                <a:solidFill>
                  <a:srgbClr val="176E68"/>
                </a:solidFill>
                <a:latin typeface="Segoe UI" panose="020B0502040204020203" charset="0"/>
                <a:cs typeface="Segoe UI" panose="020B0502040204020203" charset="0"/>
              </a:rPr>
              <a:t>Canary</a:t>
            </a:r>
            <a:endParaRPr lang="vi-VN" sz="2200" b="1">
              <a:solidFill>
                <a:srgbClr val="176E68"/>
              </a:solidFill>
              <a:latin typeface="Segoe UI" panose="020B0502040204020203" charset="0"/>
              <a:cs typeface="Segoe UI" panose="020B0502040204020203" charset="0"/>
            </a:endParaRPr>
          </a:p>
        </p:txBody>
      </p:sp>
      <p:sp>
        <p:nvSpPr>
          <p:cNvPr id="23" name="Rectangle 22"/>
          <p:cNvSpPr/>
          <p:nvPr/>
        </p:nvSpPr>
        <p:spPr>
          <a:xfrm>
            <a:off x="8051800" y="3225800"/>
            <a:ext cx="1587500" cy="63500"/>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4" name="Text Box 23"/>
          <p:cNvSpPr txBox="1"/>
          <p:nvPr/>
        </p:nvSpPr>
        <p:spPr>
          <a:xfrm>
            <a:off x="8051800" y="3581400"/>
            <a:ext cx="1689100" cy="276860"/>
          </a:xfrm>
          <a:prstGeom prst="rect">
            <a:avLst/>
          </a:prstGeom>
          <a:noFill/>
        </p:spPr>
        <p:txBody>
          <a:bodyPr wrap="square" lIns="0" tIns="0" rIns="0" bIns="0" rtlCol="0" anchor="t">
            <a:noAutofit/>
          </a:bodyPr>
          <a:p>
            <a:pPr indent="0">
              <a:spcAft>
                <a:spcPts val="700"/>
              </a:spcAft>
              <a:buNone/>
            </a:pPr>
            <a:r>
              <a:rPr lang="vi-VN" sz="1900">
                <a:solidFill>
                  <a:srgbClr val="172F3C"/>
                </a:solidFill>
                <a:latin typeface="Segoe UI" panose="020B0502040204020203" charset="0"/>
                <a:cs typeface="Segoe UI" panose="020B0502040204020203" charset="0"/>
              </a:rPr>
              <a:t>Traffic tăng dần</a:t>
            </a:r>
            <a:endParaRPr lang="vi-VN" sz="1900">
              <a:solidFill>
                <a:srgbClr val="172F3C"/>
              </a:solidFill>
              <a:latin typeface="Segoe UI" panose="020B0502040204020203" charset="0"/>
              <a:cs typeface="Segoe UI" panose="020B0502040204020203" charset="0"/>
            </a:endParaRPr>
          </a:p>
        </p:txBody>
      </p:sp>
      <p:cxnSp>
        <p:nvCxnSpPr>
          <p:cNvPr id="25" name="Straight Connector 24"/>
          <p:cNvCxnSpPr/>
          <p:nvPr/>
        </p:nvCxnSpPr>
        <p:spPr>
          <a:xfrm>
            <a:off x="9639300" y="3251200"/>
            <a:ext cx="203200" cy="635"/>
          </a:xfrm>
          <a:prstGeom prst="line">
            <a:avLst/>
          </a:prstGeom>
          <a:ln w="25400">
            <a:solidFill>
              <a:srgbClr val="176E68"/>
            </a:solidFill>
            <a:tailEnd type="arrow"/>
          </a:ln>
        </p:spPr>
        <p:style>
          <a:lnRef idx="2">
            <a:schemeClr val="accent1"/>
          </a:lnRef>
          <a:fillRef idx="0">
            <a:srgbClr val="FFFFFF"/>
          </a:fillRef>
          <a:effectRef idx="0">
            <a:srgbClr val="FFFFFF"/>
          </a:effectRef>
          <a:fontRef idx="minor">
            <a:schemeClr val="tx1"/>
          </a:fontRef>
        </p:style>
      </p:cxnSp>
      <p:sp>
        <p:nvSpPr>
          <p:cNvPr id="26" name="Text Box 25"/>
          <p:cNvSpPr txBox="1"/>
          <p:nvPr/>
        </p:nvSpPr>
        <p:spPr>
          <a:xfrm>
            <a:off x="9918700" y="2349500"/>
            <a:ext cx="1739900" cy="276860"/>
          </a:xfrm>
          <a:prstGeom prst="rect">
            <a:avLst/>
          </a:prstGeom>
          <a:noFill/>
        </p:spPr>
        <p:txBody>
          <a:bodyPr wrap="square" lIns="0" tIns="0" rIns="0" bIns="0" rtlCol="0" anchor="t">
            <a:noAutofit/>
          </a:bodyPr>
          <a:p>
            <a:pPr indent="0">
              <a:spcAft>
                <a:spcPts val="700"/>
              </a:spcAft>
              <a:buNone/>
            </a:pPr>
            <a:r>
              <a:rPr lang="vi-VN" sz="2200" b="1">
                <a:solidFill>
                  <a:srgbClr val="176E68"/>
                </a:solidFill>
                <a:latin typeface="Segoe UI" panose="020B0502040204020203" charset="0"/>
                <a:cs typeface="Segoe UI" panose="020B0502040204020203" charset="0"/>
              </a:rPr>
              <a:t>Champion</a:t>
            </a:r>
            <a:endParaRPr lang="vi-VN" sz="2200" b="1">
              <a:solidFill>
                <a:srgbClr val="176E68"/>
              </a:solidFill>
              <a:latin typeface="Segoe UI" panose="020B0502040204020203" charset="0"/>
              <a:cs typeface="Segoe UI" panose="020B0502040204020203" charset="0"/>
            </a:endParaRPr>
          </a:p>
        </p:txBody>
      </p:sp>
      <p:sp>
        <p:nvSpPr>
          <p:cNvPr id="27" name="Rectangle 26"/>
          <p:cNvSpPr/>
          <p:nvPr/>
        </p:nvSpPr>
        <p:spPr>
          <a:xfrm>
            <a:off x="9918700" y="3225800"/>
            <a:ext cx="1587500" cy="63500"/>
          </a:xfrm>
          <a:prstGeom prst="rect">
            <a:avLst/>
          </a:prstGeom>
          <a:solidFill>
            <a:srgbClr val="176E68"/>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8" name="Text Box 27"/>
          <p:cNvSpPr txBox="1"/>
          <p:nvPr/>
        </p:nvSpPr>
        <p:spPr>
          <a:xfrm>
            <a:off x="9918700" y="3581400"/>
            <a:ext cx="1689100" cy="276860"/>
          </a:xfrm>
          <a:prstGeom prst="rect">
            <a:avLst/>
          </a:prstGeom>
          <a:noFill/>
        </p:spPr>
        <p:txBody>
          <a:bodyPr wrap="square" lIns="0" tIns="0" rIns="0" bIns="0" rtlCol="0" anchor="t">
            <a:noAutofit/>
          </a:bodyPr>
          <a:p>
            <a:pPr indent="0">
              <a:spcAft>
                <a:spcPts val="700"/>
              </a:spcAft>
              <a:buNone/>
            </a:pPr>
            <a:r>
              <a:rPr lang="vi-VN" sz="1900">
                <a:solidFill>
                  <a:srgbClr val="172F3C"/>
                </a:solidFill>
                <a:latin typeface="Segoe UI" panose="020B0502040204020203" charset="0"/>
                <a:cs typeface="Segoe UI" panose="020B0502040204020203" charset="0"/>
              </a:rPr>
              <a:t>Giữ bản trước</a:t>
            </a:r>
            <a:endParaRPr lang="vi-VN" sz="1900">
              <a:solidFill>
                <a:srgbClr val="172F3C"/>
              </a:solidFill>
              <a:latin typeface="Segoe UI" panose="020B0502040204020203" charset="0"/>
              <a:cs typeface="Segoe UI" panose="020B0502040204020203" charset="0"/>
            </a:endParaRPr>
          </a:p>
        </p:txBody>
      </p:sp>
      <p:sp>
        <p:nvSpPr>
          <p:cNvPr id="29" name="Rectangle 28"/>
          <p:cNvSpPr/>
          <p:nvPr/>
        </p:nvSpPr>
        <p:spPr>
          <a:xfrm>
            <a:off x="584200" y="4978400"/>
            <a:ext cx="11023600" cy="698500"/>
          </a:xfrm>
          <a:prstGeom prst="rect">
            <a:avLst/>
          </a:prstGeom>
          <a:solidFill>
            <a:srgbClr val="F2DFD1"/>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0" name="Text Box 29"/>
          <p:cNvSpPr txBox="1"/>
          <p:nvPr/>
        </p:nvSpPr>
        <p:spPr>
          <a:xfrm>
            <a:off x="787400" y="5105400"/>
            <a:ext cx="10617200" cy="276860"/>
          </a:xfrm>
          <a:prstGeom prst="rect">
            <a:avLst/>
          </a:prstGeom>
          <a:noFill/>
        </p:spPr>
        <p:txBody>
          <a:bodyPr wrap="square" lIns="0" tIns="0" rIns="0" bIns="0" rtlCol="0" anchor="t">
            <a:noAutofit/>
          </a:bodyPr>
          <a:p>
            <a:pPr indent="0">
              <a:spcAft>
                <a:spcPts val="700"/>
              </a:spcAft>
              <a:buNone/>
            </a:pPr>
            <a:r>
              <a:rPr lang="vi-VN" sz="2300" b="1">
                <a:solidFill>
                  <a:srgbClr val="BB542A"/>
                </a:solidFill>
                <a:latin typeface="Segoe UI" panose="020B0502040204020203" charset="0"/>
                <a:cs typeface="Segoe UI" panose="020B0502040204020203" charset="0"/>
              </a:rPr>
              <a:t>Gate fail: dừng challenger, giữ hoặc phục hồi champion</a:t>
            </a:r>
            <a:endParaRPr lang="vi-VN" sz="2300" b="1">
              <a:solidFill>
                <a:srgbClr val="BB542A"/>
              </a:solidFill>
              <a:latin typeface="Segoe UI" panose="020B0502040204020203" charset="0"/>
              <a:cs typeface="Segoe UI" panose="020B0502040204020203"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Mỗi canary stage đều cần đủ mẫu, thời gian và nhãn</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15</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Đây là cấu hình pilot hiện tại. Simulation dùng cấu hình rút ngắn riêng</a:t>
            </a:r>
            <a:endParaRPr lang="vi-VN" sz="1200">
              <a:solidFill>
                <a:srgbClr val="526673"/>
              </a:solidFill>
              <a:latin typeface="Segoe UI" panose="020B0502040204020203" charset="0"/>
              <a:cs typeface="Segoe UI" panose="020B0502040204020203" charset="0"/>
            </a:endParaRPr>
          </a:p>
        </p:txBody>
      </p:sp>
      <p:sp>
        <p:nvSpPr>
          <p:cNvPr id="6" name="Text Box 5"/>
          <p:cNvSpPr txBox="1"/>
          <p:nvPr/>
        </p:nvSpPr>
        <p:spPr>
          <a:xfrm>
            <a:off x="584200" y="1905000"/>
            <a:ext cx="11023600" cy="276860"/>
          </a:xfrm>
          <a:prstGeom prst="rect">
            <a:avLst/>
          </a:prstGeom>
          <a:noFill/>
        </p:spPr>
        <p:txBody>
          <a:bodyPr wrap="square" lIns="0" tIns="0" rIns="0" bIns="0" rtlCol="0" anchor="t">
            <a:noAutofit/>
          </a:bodyPr>
          <a:p>
            <a:pPr indent="0">
              <a:spcAft>
                <a:spcPts val="700"/>
              </a:spcAft>
              <a:buNone/>
            </a:pPr>
            <a:r>
              <a:rPr lang="vi-VN" sz="4200" b="1">
                <a:solidFill>
                  <a:srgbClr val="176E68"/>
                </a:solidFill>
                <a:latin typeface="Segoe UI" panose="020B0502040204020203" charset="0"/>
                <a:cs typeface="Segoe UI" panose="020B0502040204020203" charset="0"/>
              </a:rPr>
              <a:t>5%     10%     25%     50%     100%</a:t>
            </a:r>
            <a:endParaRPr lang="vi-VN" sz="4200" b="1">
              <a:solidFill>
                <a:srgbClr val="176E68"/>
              </a:solidFill>
              <a:latin typeface="Segoe UI" panose="020B0502040204020203" charset="0"/>
              <a:cs typeface="Segoe UI" panose="020B0502040204020203" charset="0"/>
            </a:endParaRPr>
          </a:p>
        </p:txBody>
      </p:sp>
      <p:sp>
        <p:nvSpPr>
          <p:cNvPr id="7" name="Rectangle 6"/>
          <p:cNvSpPr/>
          <p:nvPr/>
        </p:nvSpPr>
        <p:spPr>
          <a:xfrm>
            <a:off x="609600" y="3098800"/>
            <a:ext cx="76200" cy="317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8" name="Text Box 7"/>
          <p:cNvSpPr txBox="1"/>
          <p:nvPr/>
        </p:nvSpPr>
        <p:spPr>
          <a:xfrm>
            <a:off x="939800" y="3035300"/>
            <a:ext cx="10528300" cy="276860"/>
          </a:xfrm>
          <a:prstGeom prst="rect">
            <a:avLst/>
          </a:prstGeom>
          <a:noFill/>
        </p:spPr>
        <p:txBody>
          <a:bodyPr wrap="square" lIns="0" tIns="0" rIns="0" bIns="0" rtlCol="0" anchor="t">
            <a:noAutofit/>
          </a:bodyPr>
          <a:p>
            <a:pPr indent="0">
              <a:spcAft>
                <a:spcPts val="700"/>
              </a:spcAft>
              <a:buNone/>
            </a:pPr>
            <a:r>
              <a:rPr lang="vi-VN" sz="2400">
                <a:solidFill>
                  <a:srgbClr val="172F3C"/>
                </a:solidFill>
                <a:latin typeface="Segoe UI" panose="020B0502040204020203" charset="0"/>
                <a:cs typeface="Segoe UI" panose="020B0502040204020203" charset="0"/>
              </a:rPr>
              <a:t>FMR ≤ 1% và không tăng so với champion</a:t>
            </a:r>
            <a:endParaRPr lang="vi-VN" sz="2400">
              <a:solidFill>
                <a:srgbClr val="172F3C"/>
              </a:solidFill>
              <a:latin typeface="Segoe UI" panose="020B0502040204020203" charset="0"/>
              <a:cs typeface="Segoe UI" panose="020B0502040204020203" charset="0"/>
            </a:endParaRPr>
          </a:p>
        </p:txBody>
      </p:sp>
      <p:sp>
        <p:nvSpPr>
          <p:cNvPr id="9" name="Rectangle 8"/>
          <p:cNvSpPr/>
          <p:nvPr/>
        </p:nvSpPr>
        <p:spPr>
          <a:xfrm>
            <a:off x="609600" y="3771900"/>
            <a:ext cx="76200" cy="317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Text Box 9"/>
          <p:cNvSpPr txBox="1"/>
          <p:nvPr/>
        </p:nvSpPr>
        <p:spPr>
          <a:xfrm>
            <a:off x="939800" y="3708400"/>
            <a:ext cx="10528300" cy="276860"/>
          </a:xfrm>
          <a:prstGeom prst="rect">
            <a:avLst/>
          </a:prstGeom>
          <a:noFill/>
        </p:spPr>
        <p:txBody>
          <a:bodyPr wrap="square" lIns="0" tIns="0" rIns="0" bIns="0" rtlCol="0" anchor="t">
            <a:noAutofit/>
          </a:bodyPr>
          <a:p>
            <a:pPr indent="0">
              <a:spcAft>
                <a:spcPts val="700"/>
              </a:spcAft>
              <a:buNone/>
            </a:pPr>
            <a:r>
              <a:rPr lang="vi-VN" sz="2400">
                <a:solidFill>
                  <a:srgbClr val="172F3C"/>
                </a:solidFill>
                <a:latin typeface="Segoe UI" panose="020B0502040204020203" charset="0"/>
                <a:cs typeface="Segoe UI" panose="020B0502040204020203" charset="0"/>
              </a:rPr>
              <a:t>FNMR ≤ 5%, tăng tối đa 0,5 điểm phần trăm</a:t>
            </a:r>
            <a:endParaRPr lang="vi-VN" sz="2400">
              <a:solidFill>
                <a:srgbClr val="172F3C"/>
              </a:solidFill>
              <a:latin typeface="Segoe UI" panose="020B0502040204020203" charset="0"/>
              <a:cs typeface="Segoe UI" panose="020B0502040204020203" charset="0"/>
            </a:endParaRPr>
          </a:p>
        </p:txBody>
      </p:sp>
      <p:sp>
        <p:nvSpPr>
          <p:cNvPr id="11" name="Rectangle 10"/>
          <p:cNvSpPr/>
          <p:nvPr/>
        </p:nvSpPr>
        <p:spPr>
          <a:xfrm>
            <a:off x="609600" y="4445000"/>
            <a:ext cx="76200" cy="317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2" name="Text Box 11"/>
          <p:cNvSpPr txBox="1"/>
          <p:nvPr/>
        </p:nvSpPr>
        <p:spPr>
          <a:xfrm>
            <a:off x="939800" y="4381500"/>
            <a:ext cx="10528300" cy="276860"/>
          </a:xfrm>
          <a:prstGeom prst="rect">
            <a:avLst/>
          </a:prstGeom>
          <a:noFill/>
        </p:spPr>
        <p:txBody>
          <a:bodyPr wrap="square" lIns="0" tIns="0" rIns="0" bIns="0" rtlCol="0" anchor="t">
            <a:noAutofit/>
          </a:bodyPr>
          <a:p>
            <a:pPr indent="0">
              <a:spcAft>
                <a:spcPts val="700"/>
              </a:spcAft>
              <a:buNone/>
            </a:pPr>
            <a:r>
              <a:rPr lang="vi-VN" sz="2400">
                <a:solidFill>
                  <a:srgbClr val="172F3C"/>
                </a:solidFill>
                <a:latin typeface="Segoe UI" panose="020B0502040204020203" charset="0"/>
                <a:cs typeface="Segoe UI" panose="020B0502040204020203" charset="0"/>
              </a:rPr>
              <a:t>Mỗi stage: ≥ 1.000 mẫu và ≥ 3.600 giây</a:t>
            </a:r>
            <a:endParaRPr lang="vi-VN" sz="2400">
              <a:solidFill>
                <a:srgbClr val="172F3C"/>
              </a:solidFill>
              <a:latin typeface="Segoe UI" panose="020B0502040204020203" charset="0"/>
              <a:cs typeface="Segoe UI" panose="020B0502040204020203" charset="0"/>
            </a:endParaRPr>
          </a:p>
        </p:txBody>
      </p:sp>
      <p:sp>
        <p:nvSpPr>
          <p:cNvPr id="13" name="Rectangle 12"/>
          <p:cNvSpPr/>
          <p:nvPr/>
        </p:nvSpPr>
        <p:spPr>
          <a:xfrm>
            <a:off x="609600" y="5118100"/>
            <a:ext cx="76200" cy="317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4" name="Text Box 13"/>
          <p:cNvSpPr txBox="1"/>
          <p:nvPr/>
        </p:nvSpPr>
        <p:spPr>
          <a:xfrm>
            <a:off x="939800" y="5054600"/>
            <a:ext cx="10528300" cy="276860"/>
          </a:xfrm>
          <a:prstGeom prst="rect">
            <a:avLst/>
          </a:prstGeom>
          <a:noFill/>
        </p:spPr>
        <p:txBody>
          <a:bodyPr wrap="square" lIns="0" tIns="0" rIns="0" bIns="0" rtlCol="0" anchor="t">
            <a:noAutofit/>
          </a:bodyPr>
          <a:p>
            <a:pPr indent="0">
              <a:spcAft>
                <a:spcPts val="700"/>
              </a:spcAft>
              <a:buNone/>
            </a:pPr>
            <a:r>
              <a:rPr lang="vi-VN" sz="2400">
                <a:solidFill>
                  <a:srgbClr val="172F3C"/>
                </a:solidFill>
                <a:latin typeface="Segoe UI" panose="020B0502040204020203" charset="0"/>
                <a:cs typeface="Segoe UI" panose="020B0502040204020203" charset="0"/>
              </a:rPr>
              <a:t>Thiếu nhãn: chờ. Gate fail: traffic về champion</a:t>
            </a:r>
            <a:endParaRPr lang="vi-VN" sz="2400">
              <a:solidFill>
                <a:srgbClr val="172F3C"/>
              </a:solidFill>
              <a:latin typeface="Segoe UI" panose="020B0502040204020203" charset="0"/>
              <a:cs typeface="Segoe UI" panose="020B0502040204020203"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CI/CD cập nhật ứng dụng, lifecycle cập nhật policy</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16</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Ứng dụng đang deploy trên một máy Docker Desktop, chưa phải cloud hoặc application canary</a:t>
            </a:r>
            <a:endParaRPr lang="vi-VN" sz="1200">
              <a:solidFill>
                <a:srgbClr val="526673"/>
              </a:solidFill>
              <a:latin typeface="Segoe UI" panose="020B0502040204020203" charset="0"/>
              <a:cs typeface="Segoe UI" panose="020B0502040204020203" charset="0"/>
            </a:endParaRPr>
          </a:p>
        </p:txBody>
      </p:sp>
      <p:cxnSp>
        <p:nvCxnSpPr>
          <p:cNvPr id="6" name="Straight Connector 5"/>
          <p:cNvCxnSpPr/>
          <p:nvPr/>
        </p:nvCxnSpPr>
        <p:spPr>
          <a:xfrm>
            <a:off x="6057900" y="2006600"/>
            <a:ext cx="635" cy="3619500"/>
          </a:xfrm>
          <a:prstGeom prst="line">
            <a:avLst/>
          </a:prstGeom>
          <a:ln>
            <a:solidFill>
              <a:srgbClr val="CCD6D1"/>
            </a:solidFill>
          </a:ln>
        </p:spPr>
        <p:style>
          <a:lnRef idx="2">
            <a:schemeClr val="accent1"/>
          </a:lnRef>
          <a:fillRef idx="0">
            <a:srgbClr val="FFFFFF"/>
          </a:fillRef>
          <a:effectRef idx="0">
            <a:srgbClr val="FFFFFF"/>
          </a:effectRef>
          <a:fontRef idx="minor">
            <a:schemeClr val="tx1"/>
          </a:fontRef>
        </p:style>
      </p:cxnSp>
      <p:sp>
        <p:nvSpPr>
          <p:cNvPr id="7" name="Text Box 6"/>
          <p:cNvSpPr txBox="1"/>
          <p:nvPr/>
        </p:nvSpPr>
        <p:spPr>
          <a:xfrm>
            <a:off x="584200" y="2146300"/>
            <a:ext cx="5067300" cy="276860"/>
          </a:xfrm>
          <a:prstGeom prst="rect">
            <a:avLst/>
          </a:prstGeom>
          <a:noFill/>
        </p:spPr>
        <p:txBody>
          <a:bodyPr wrap="square" lIns="0" tIns="0" rIns="0" bIns="0" rtlCol="0" anchor="t">
            <a:noAutofit/>
          </a:bodyPr>
          <a:p>
            <a:pPr indent="0">
              <a:spcAft>
                <a:spcPts val="700"/>
              </a:spcAft>
              <a:buNone/>
            </a:pPr>
            <a:r>
              <a:rPr lang="vi-VN" sz="2800" b="1">
                <a:solidFill>
                  <a:srgbClr val="176E68"/>
                </a:solidFill>
                <a:latin typeface="Segoe UI" panose="020B0502040204020203" charset="0"/>
                <a:cs typeface="Segoe UI" panose="020B0502040204020203" charset="0"/>
              </a:rPr>
              <a:t>Ứng dụng</a:t>
            </a:r>
            <a:endParaRPr lang="vi-VN" sz="2800" b="1">
              <a:solidFill>
                <a:srgbClr val="176E68"/>
              </a:solidFill>
              <a:latin typeface="Segoe UI" panose="020B0502040204020203" charset="0"/>
              <a:cs typeface="Segoe UI" panose="020B0502040204020203" charset="0"/>
            </a:endParaRPr>
          </a:p>
        </p:txBody>
      </p:sp>
      <p:sp>
        <p:nvSpPr>
          <p:cNvPr id="8" name="Text Box 7"/>
          <p:cNvSpPr txBox="1"/>
          <p:nvPr/>
        </p:nvSpPr>
        <p:spPr>
          <a:xfrm>
            <a:off x="584200" y="3225800"/>
            <a:ext cx="4991100" cy="276860"/>
          </a:xfrm>
          <a:prstGeom prst="rect">
            <a:avLst/>
          </a:prstGeom>
          <a:noFill/>
        </p:spPr>
        <p:txBody>
          <a:bodyPr wrap="square" lIns="0" tIns="0" rIns="0" bIns="0" rtlCol="0" anchor="t">
            <a:noAutofit/>
          </a:bodyPr>
          <a:p>
            <a:pPr indent="0">
              <a:spcAft>
                <a:spcPts val="700"/>
              </a:spcAft>
              <a:buNone/>
            </a:pPr>
            <a:r>
              <a:rPr lang="vi-VN" sz="2500">
                <a:solidFill>
                  <a:srgbClr val="172F3C"/>
                </a:solidFill>
                <a:latin typeface="Segoe UI" panose="020B0502040204020203" charset="0"/>
                <a:cs typeface="Segoe UI" panose="020B0502040204020203" charset="0"/>
              </a:rPr>
              <a:t>Ubuntu quality + Windows preflight
Build images, Linux WSL runner
PowerShell và Docker Compose rollout</a:t>
            </a:r>
            <a:endParaRPr lang="vi-VN" sz="2500">
              <a:solidFill>
                <a:srgbClr val="172F3C"/>
              </a:solidFill>
              <a:latin typeface="Segoe UI" panose="020B0502040204020203" charset="0"/>
              <a:cs typeface="Segoe UI" panose="020B0502040204020203" charset="0"/>
            </a:endParaRPr>
          </a:p>
        </p:txBody>
      </p:sp>
      <p:sp>
        <p:nvSpPr>
          <p:cNvPr id="9" name="Text Box 8"/>
          <p:cNvSpPr txBox="1"/>
          <p:nvPr/>
        </p:nvSpPr>
        <p:spPr>
          <a:xfrm>
            <a:off x="6464300" y="2146300"/>
            <a:ext cx="5067300" cy="276860"/>
          </a:xfrm>
          <a:prstGeom prst="rect">
            <a:avLst/>
          </a:prstGeom>
          <a:noFill/>
        </p:spPr>
        <p:txBody>
          <a:bodyPr wrap="square" lIns="0" tIns="0" rIns="0" bIns="0" rtlCol="0" anchor="t">
            <a:noAutofit/>
          </a:bodyPr>
          <a:p>
            <a:pPr indent="0">
              <a:spcAft>
                <a:spcPts val="700"/>
              </a:spcAft>
              <a:buNone/>
            </a:pPr>
            <a:r>
              <a:rPr lang="vi-VN" sz="2800" b="1">
                <a:solidFill>
                  <a:srgbClr val="176E68"/>
                </a:solidFill>
                <a:latin typeface="Segoe UI" panose="020B0502040204020203" charset="0"/>
                <a:cs typeface="Segoe UI" panose="020B0502040204020203" charset="0"/>
              </a:rPr>
              <a:t>Policy Face / Voice</a:t>
            </a:r>
            <a:endParaRPr lang="vi-VN" sz="2800" b="1">
              <a:solidFill>
                <a:srgbClr val="176E68"/>
              </a:solidFill>
              <a:latin typeface="Segoe UI" panose="020B0502040204020203" charset="0"/>
              <a:cs typeface="Segoe UI" panose="020B0502040204020203" charset="0"/>
            </a:endParaRPr>
          </a:p>
        </p:txBody>
      </p:sp>
      <p:sp>
        <p:nvSpPr>
          <p:cNvPr id="10" name="Text Box 9"/>
          <p:cNvSpPr txBox="1"/>
          <p:nvPr/>
        </p:nvSpPr>
        <p:spPr>
          <a:xfrm>
            <a:off x="6464300" y="3225800"/>
            <a:ext cx="4991100" cy="276860"/>
          </a:xfrm>
          <a:prstGeom prst="rect">
            <a:avLst/>
          </a:prstGeom>
          <a:noFill/>
        </p:spPr>
        <p:txBody>
          <a:bodyPr wrap="square" lIns="0" tIns="0" rIns="0" bIns="0" rtlCol="0" anchor="t">
            <a:noAutofit/>
          </a:bodyPr>
          <a:p>
            <a:pPr indent="0">
              <a:spcAft>
                <a:spcPts val="700"/>
              </a:spcAft>
              <a:buNone/>
            </a:pPr>
            <a:r>
              <a:rPr lang="vi-VN" sz="2500">
                <a:solidFill>
                  <a:srgbClr val="172F3C"/>
                </a:solidFill>
                <a:latin typeface="Segoe UI" panose="020B0502040204020203" charset="0"/>
                <a:cs typeface="Segoe UI" panose="020B0502040204020203" charset="0"/>
              </a:rPr>
              <a:t>MLflow và trạng thái PostgreSQL
Shadow, canary và rollback
Prometheus / Grafana theo dõi</a:t>
            </a:r>
            <a:endParaRPr lang="vi-VN" sz="2500">
              <a:solidFill>
                <a:srgbClr val="172F3C"/>
              </a:solidFill>
              <a:latin typeface="Segoe UI" panose="020B0502040204020203" charset="0"/>
              <a:cs typeface="Segoe UI" panose="020B0502040204020203"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Những gì cần kiểm chứng trước khi triển khai cho doanh nghiệp</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17</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Chưa tuyên bố production-ready, phát hiện mọi cheating hoặc đáp ứng tải 50.000 người</a:t>
            </a:r>
            <a:endParaRPr lang="vi-VN" sz="1200">
              <a:solidFill>
                <a:srgbClr val="526673"/>
              </a:solidFill>
              <a:latin typeface="Segoe UI" panose="020B0502040204020203" charset="0"/>
              <a:cs typeface="Segoe UI" panose="020B0502040204020203" charset="0"/>
            </a:endParaRPr>
          </a:p>
        </p:txBody>
      </p:sp>
      <p:sp>
        <p:nvSpPr>
          <p:cNvPr id="6" name="Text Box 5"/>
          <p:cNvSpPr txBox="1"/>
          <p:nvPr/>
        </p:nvSpPr>
        <p:spPr>
          <a:xfrm>
            <a:off x="584200" y="1993900"/>
            <a:ext cx="3365500" cy="276860"/>
          </a:xfrm>
          <a:prstGeom prst="rect">
            <a:avLst/>
          </a:prstGeom>
          <a:noFill/>
        </p:spPr>
        <p:txBody>
          <a:bodyPr wrap="square" lIns="0" tIns="0" rIns="0" bIns="0" rtlCol="0" anchor="t">
            <a:noAutofit/>
          </a:bodyPr>
          <a:p>
            <a:pPr indent="0">
              <a:spcAft>
                <a:spcPts val="700"/>
              </a:spcAft>
              <a:buNone/>
            </a:pPr>
            <a:r>
              <a:rPr lang="vi-VN" sz="3800" b="1">
                <a:solidFill>
                  <a:srgbClr val="BB542A"/>
                </a:solidFill>
                <a:latin typeface="Segoe UI" panose="020B0502040204020203" charset="0"/>
                <a:cs typeface="Segoe UI" panose="020B0502040204020203" charset="0"/>
              </a:rPr>
              <a:t>01</a:t>
            </a:r>
            <a:endParaRPr lang="vi-VN" sz="3800" b="1">
              <a:solidFill>
                <a:srgbClr val="BB542A"/>
              </a:solidFill>
              <a:latin typeface="Segoe UI" panose="020B0502040204020203" charset="0"/>
              <a:cs typeface="Segoe UI" panose="020B0502040204020203" charset="0"/>
            </a:endParaRPr>
          </a:p>
        </p:txBody>
      </p:sp>
      <p:sp>
        <p:nvSpPr>
          <p:cNvPr id="7" name="Text Box 6"/>
          <p:cNvSpPr txBox="1"/>
          <p:nvPr/>
        </p:nvSpPr>
        <p:spPr>
          <a:xfrm>
            <a:off x="584200" y="2870200"/>
            <a:ext cx="3365500" cy="276860"/>
          </a:xfrm>
          <a:prstGeom prst="rect">
            <a:avLst/>
          </a:prstGeom>
          <a:noFill/>
        </p:spPr>
        <p:txBody>
          <a:bodyPr wrap="square" lIns="0" tIns="0" rIns="0" bIns="0" rtlCol="0" anchor="t">
            <a:noAutofit/>
          </a:bodyPr>
          <a:p>
            <a:pPr indent="0">
              <a:spcAft>
                <a:spcPts val="700"/>
              </a:spcAft>
              <a:buNone/>
            </a:pPr>
            <a:r>
              <a:rPr lang="vi-VN" sz="2600" b="1">
                <a:solidFill>
                  <a:srgbClr val="176E68"/>
                </a:solidFill>
                <a:latin typeface="Segoe UI" panose="020B0502040204020203" charset="0"/>
                <a:cs typeface="Segoe UI" panose="020B0502040204020203" charset="0"/>
              </a:rPr>
              <a:t>Dữ liệu thật</a:t>
            </a:r>
            <a:endParaRPr lang="vi-VN" sz="2600" b="1">
              <a:solidFill>
                <a:srgbClr val="176E68"/>
              </a:solidFill>
              <a:latin typeface="Segoe UI" panose="020B0502040204020203" charset="0"/>
              <a:cs typeface="Segoe UI" panose="020B0502040204020203" charset="0"/>
            </a:endParaRPr>
          </a:p>
        </p:txBody>
      </p:sp>
      <p:sp>
        <p:nvSpPr>
          <p:cNvPr id="8" name="Text Box 7"/>
          <p:cNvSpPr txBox="1"/>
          <p:nvPr/>
        </p:nvSpPr>
        <p:spPr>
          <a:xfrm>
            <a:off x="584200" y="4140200"/>
            <a:ext cx="3365500" cy="276860"/>
          </a:xfrm>
          <a:prstGeom prst="rect">
            <a:avLst/>
          </a:prstGeom>
          <a:noFill/>
        </p:spPr>
        <p:txBody>
          <a:bodyPr wrap="square" lIns="0" tIns="0" rIns="0" bIns="0" rtlCol="0" anchor="t">
            <a:noAutofit/>
          </a:bodyPr>
          <a:p>
            <a:pPr indent="0">
              <a:spcAft>
                <a:spcPts val="700"/>
              </a:spcAft>
              <a:buNone/>
            </a:pPr>
            <a:r>
              <a:rPr lang="vi-VN" sz="2300">
                <a:solidFill>
                  <a:srgbClr val="172F3C"/>
                </a:solidFill>
                <a:latin typeface="Segoe UI" panose="020B0502040204020203" charset="0"/>
                <a:cs typeface="Segoe UI" panose="020B0502040204020203" charset="0"/>
              </a:rPr>
              <a:t>Consented data, trusted labels
Accuracy và fairness theo cohort</a:t>
            </a:r>
            <a:endParaRPr lang="vi-VN" sz="2300">
              <a:solidFill>
                <a:srgbClr val="172F3C"/>
              </a:solidFill>
              <a:latin typeface="Segoe UI" panose="020B0502040204020203" charset="0"/>
              <a:cs typeface="Segoe UI" panose="020B0502040204020203" charset="0"/>
            </a:endParaRPr>
          </a:p>
        </p:txBody>
      </p:sp>
      <p:sp>
        <p:nvSpPr>
          <p:cNvPr id="9" name="Text Box 8"/>
          <p:cNvSpPr txBox="1"/>
          <p:nvPr/>
        </p:nvSpPr>
        <p:spPr>
          <a:xfrm>
            <a:off x="4381500" y="1993900"/>
            <a:ext cx="3365500" cy="276860"/>
          </a:xfrm>
          <a:prstGeom prst="rect">
            <a:avLst/>
          </a:prstGeom>
          <a:noFill/>
        </p:spPr>
        <p:txBody>
          <a:bodyPr wrap="square" lIns="0" tIns="0" rIns="0" bIns="0" rtlCol="0" anchor="t">
            <a:noAutofit/>
          </a:bodyPr>
          <a:p>
            <a:pPr indent="0">
              <a:spcAft>
                <a:spcPts val="700"/>
              </a:spcAft>
              <a:buNone/>
            </a:pPr>
            <a:r>
              <a:rPr lang="vi-VN" sz="3800" b="1">
                <a:solidFill>
                  <a:srgbClr val="BB542A"/>
                </a:solidFill>
                <a:latin typeface="Segoe UI" panose="020B0502040204020203" charset="0"/>
                <a:cs typeface="Segoe UI" panose="020B0502040204020203" charset="0"/>
              </a:rPr>
              <a:t>02</a:t>
            </a:r>
            <a:endParaRPr lang="vi-VN" sz="3800" b="1">
              <a:solidFill>
                <a:srgbClr val="BB542A"/>
              </a:solidFill>
              <a:latin typeface="Segoe UI" panose="020B0502040204020203" charset="0"/>
              <a:cs typeface="Segoe UI" panose="020B0502040204020203" charset="0"/>
            </a:endParaRPr>
          </a:p>
        </p:txBody>
      </p:sp>
      <p:sp>
        <p:nvSpPr>
          <p:cNvPr id="10" name="Text Box 9"/>
          <p:cNvSpPr txBox="1"/>
          <p:nvPr/>
        </p:nvSpPr>
        <p:spPr>
          <a:xfrm>
            <a:off x="4381500" y="2870200"/>
            <a:ext cx="3365500" cy="276860"/>
          </a:xfrm>
          <a:prstGeom prst="rect">
            <a:avLst/>
          </a:prstGeom>
          <a:noFill/>
        </p:spPr>
        <p:txBody>
          <a:bodyPr wrap="square" lIns="0" tIns="0" rIns="0" bIns="0" rtlCol="0" anchor="t">
            <a:noAutofit/>
          </a:bodyPr>
          <a:p>
            <a:pPr indent="0">
              <a:spcAft>
                <a:spcPts val="700"/>
              </a:spcAft>
              <a:buNone/>
            </a:pPr>
            <a:r>
              <a:rPr lang="vi-VN" sz="2600" b="1">
                <a:solidFill>
                  <a:srgbClr val="176E68"/>
                </a:solidFill>
                <a:latin typeface="Segoe UI" panose="020B0502040204020203" charset="0"/>
                <a:cs typeface="Segoe UI" panose="020B0502040204020203" charset="0"/>
              </a:rPr>
              <a:t>Tải và vận hành</a:t>
            </a:r>
            <a:endParaRPr lang="vi-VN" sz="2600" b="1">
              <a:solidFill>
                <a:srgbClr val="176E68"/>
              </a:solidFill>
              <a:latin typeface="Segoe UI" panose="020B0502040204020203" charset="0"/>
              <a:cs typeface="Segoe UI" panose="020B0502040204020203" charset="0"/>
            </a:endParaRPr>
          </a:p>
        </p:txBody>
      </p:sp>
      <p:sp>
        <p:nvSpPr>
          <p:cNvPr id="11" name="Text Box 10"/>
          <p:cNvSpPr txBox="1"/>
          <p:nvPr/>
        </p:nvSpPr>
        <p:spPr>
          <a:xfrm>
            <a:off x="4381500" y="4140200"/>
            <a:ext cx="3365500" cy="276860"/>
          </a:xfrm>
          <a:prstGeom prst="rect">
            <a:avLst/>
          </a:prstGeom>
          <a:noFill/>
        </p:spPr>
        <p:txBody>
          <a:bodyPr wrap="square" lIns="0" tIns="0" rIns="0" bIns="0" rtlCol="0" anchor="t">
            <a:noAutofit/>
          </a:bodyPr>
          <a:p>
            <a:pPr indent="0">
              <a:spcAft>
                <a:spcPts val="700"/>
              </a:spcAft>
              <a:buNone/>
            </a:pPr>
            <a:r>
              <a:rPr lang="vi-VN" sz="2300">
                <a:solidFill>
                  <a:srgbClr val="172F3C"/>
                </a:solidFill>
                <a:latin typeface="Segoe UI" panose="020B0502040204020203" charset="0"/>
                <a:cs typeface="Segoe UI" panose="020B0502040204020203" charset="0"/>
              </a:rPr>
              <a:t>Concurrency, latency và capacity
TLS, SSO, retention theo hợp đồng</a:t>
            </a:r>
            <a:endParaRPr lang="vi-VN" sz="2300">
              <a:solidFill>
                <a:srgbClr val="172F3C"/>
              </a:solidFill>
              <a:latin typeface="Segoe UI" panose="020B0502040204020203" charset="0"/>
              <a:cs typeface="Segoe UI" panose="020B0502040204020203" charset="0"/>
            </a:endParaRPr>
          </a:p>
        </p:txBody>
      </p:sp>
      <p:sp>
        <p:nvSpPr>
          <p:cNvPr id="12" name="Text Box 11"/>
          <p:cNvSpPr txBox="1"/>
          <p:nvPr/>
        </p:nvSpPr>
        <p:spPr>
          <a:xfrm>
            <a:off x="8178800" y="1993900"/>
            <a:ext cx="3365500" cy="276860"/>
          </a:xfrm>
          <a:prstGeom prst="rect">
            <a:avLst/>
          </a:prstGeom>
          <a:noFill/>
        </p:spPr>
        <p:txBody>
          <a:bodyPr wrap="square" lIns="0" tIns="0" rIns="0" bIns="0" rtlCol="0" anchor="t">
            <a:noAutofit/>
          </a:bodyPr>
          <a:p>
            <a:pPr indent="0">
              <a:spcAft>
                <a:spcPts val="700"/>
              </a:spcAft>
              <a:buNone/>
            </a:pPr>
            <a:r>
              <a:rPr lang="vi-VN" sz="3800" b="1">
                <a:solidFill>
                  <a:srgbClr val="BB542A"/>
                </a:solidFill>
                <a:latin typeface="Segoe UI" panose="020B0502040204020203" charset="0"/>
                <a:cs typeface="Segoe UI" panose="020B0502040204020203" charset="0"/>
              </a:rPr>
              <a:t>03</a:t>
            </a:r>
            <a:endParaRPr lang="vi-VN" sz="3800" b="1">
              <a:solidFill>
                <a:srgbClr val="BB542A"/>
              </a:solidFill>
              <a:latin typeface="Segoe UI" panose="020B0502040204020203" charset="0"/>
              <a:cs typeface="Segoe UI" panose="020B0502040204020203" charset="0"/>
            </a:endParaRPr>
          </a:p>
        </p:txBody>
      </p:sp>
      <p:sp>
        <p:nvSpPr>
          <p:cNvPr id="13" name="Text Box 12"/>
          <p:cNvSpPr txBox="1"/>
          <p:nvPr/>
        </p:nvSpPr>
        <p:spPr>
          <a:xfrm>
            <a:off x="8178800" y="2870200"/>
            <a:ext cx="3365500" cy="276860"/>
          </a:xfrm>
          <a:prstGeom prst="rect">
            <a:avLst/>
          </a:prstGeom>
          <a:noFill/>
        </p:spPr>
        <p:txBody>
          <a:bodyPr wrap="square" lIns="0" tIns="0" rIns="0" bIns="0" rtlCol="0" anchor="t">
            <a:noAutofit/>
          </a:bodyPr>
          <a:p>
            <a:pPr indent="0">
              <a:spcAft>
                <a:spcPts val="700"/>
              </a:spcAft>
              <a:buNone/>
            </a:pPr>
            <a:r>
              <a:rPr lang="vi-VN" sz="2600" b="1">
                <a:solidFill>
                  <a:srgbClr val="176E68"/>
                </a:solidFill>
                <a:latin typeface="Segoe UI" panose="020B0502040204020203" charset="0"/>
                <a:cs typeface="Segoe UI" panose="020B0502040204020203" charset="0"/>
              </a:rPr>
              <a:t>Gate và khởi tạo</a:t>
            </a:r>
            <a:endParaRPr lang="vi-VN" sz="2600" b="1">
              <a:solidFill>
                <a:srgbClr val="176E68"/>
              </a:solidFill>
              <a:latin typeface="Segoe UI" panose="020B0502040204020203" charset="0"/>
              <a:cs typeface="Segoe UI" panose="020B0502040204020203" charset="0"/>
            </a:endParaRPr>
          </a:p>
        </p:txBody>
      </p:sp>
      <p:sp>
        <p:nvSpPr>
          <p:cNvPr id="14" name="Text Box 13"/>
          <p:cNvSpPr txBox="1"/>
          <p:nvPr/>
        </p:nvSpPr>
        <p:spPr>
          <a:xfrm>
            <a:off x="8178800" y="4140200"/>
            <a:ext cx="3365500" cy="276860"/>
          </a:xfrm>
          <a:prstGeom prst="rect">
            <a:avLst/>
          </a:prstGeom>
          <a:noFill/>
        </p:spPr>
        <p:txBody>
          <a:bodyPr wrap="square" lIns="0" tIns="0" rIns="0" bIns="0" rtlCol="0" anchor="t">
            <a:noAutofit/>
          </a:bodyPr>
          <a:p>
            <a:pPr indent="0">
              <a:spcAft>
                <a:spcPts val="700"/>
              </a:spcAft>
              <a:buNone/>
            </a:pPr>
            <a:r>
              <a:rPr lang="vi-VN" sz="2300">
                <a:solidFill>
                  <a:srgbClr val="172F3C"/>
                </a:solidFill>
                <a:latin typeface="Segoe UI" panose="020B0502040204020203" charset="0"/>
                <a:cs typeface="Segoe UI" panose="020B0502040204020203" charset="0"/>
              </a:rPr>
              <a:t>Fairness gate ở lifecycle mới
Champion ban đầu cho registry rỗng</a:t>
            </a:r>
            <a:endParaRPr lang="vi-VN" sz="2300">
              <a:solidFill>
                <a:srgbClr val="172F3C"/>
              </a:solidFill>
              <a:latin typeface="Segoe UI" panose="020B0502040204020203" charset="0"/>
              <a:cs typeface="Segoe UI" panose="020B0502040204020203"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Xác minh danh tính và kiểm soát thay đổi model</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18</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Face + Voice Integrity     DDM501 / FSB-MSA36HN</a:t>
            </a:r>
            <a:endParaRPr lang="vi-VN" sz="1200">
              <a:solidFill>
                <a:srgbClr val="526673"/>
              </a:solidFill>
              <a:latin typeface="Segoe UI" panose="020B0502040204020203" charset="0"/>
              <a:cs typeface="Segoe UI" panose="020B0502040204020203" charset="0"/>
            </a:endParaRPr>
          </a:p>
        </p:txBody>
      </p:sp>
      <p:sp>
        <p:nvSpPr>
          <p:cNvPr id="6" name="Text Box 5"/>
          <p:cNvSpPr txBox="1"/>
          <p:nvPr/>
        </p:nvSpPr>
        <p:spPr>
          <a:xfrm>
            <a:off x="596900" y="2362200"/>
            <a:ext cx="10820400" cy="276860"/>
          </a:xfrm>
          <a:prstGeom prst="rect">
            <a:avLst/>
          </a:prstGeom>
          <a:noFill/>
        </p:spPr>
        <p:txBody>
          <a:bodyPr wrap="square" lIns="0" tIns="0" rIns="0" bIns="0" rtlCol="0" anchor="t">
            <a:noAutofit/>
          </a:bodyPr>
          <a:p>
            <a:pPr indent="0">
              <a:spcAft>
                <a:spcPts val="700"/>
              </a:spcAft>
              <a:buNone/>
            </a:pPr>
            <a:r>
              <a:rPr lang="vi-VN" sz="3100">
                <a:solidFill>
                  <a:srgbClr val="176E68"/>
                </a:solidFill>
                <a:latin typeface="Segoe UI" panose="020B0502040204020203" charset="0"/>
                <a:cs typeface="Segoe UI" panose="020B0502040204020203" charset="0"/>
              </a:rPr>
              <a:t>Xác minh theo từng capture</a:t>
            </a:r>
            <a:endParaRPr lang="vi-VN" sz="3100">
              <a:solidFill>
                <a:srgbClr val="176E68"/>
              </a:solidFill>
              <a:latin typeface="Segoe UI" panose="020B0502040204020203" charset="0"/>
              <a:cs typeface="Segoe UI" panose="020B0502040204020203" charset="0"/>
            </a:endParaRPr>
          </a:p>
        </p:txBody>
      </p:sp>
      <p:sp>
        <p:nvSpPr>
          <p:cNvPr id="7" name="Text Box 6"/>
          <p:cNvSpPr txBox="1"/>
          <p:nvPr/>
        </p:nvSpPr>
        <p:spPr>
          <a:xfrm>
            <a:off x="596900" y="3429000"/>
            <a:ext cx="10820400" cy="276860"/>
          </a:xfrm>
          <a:prstGeom prst="rect">
            <a:avLst/>
          </a:prstGeom>
          <a:noFill/>
        </p:spPr>
        <p:txBody>
          <a:bodyPr wrap="square" lIns="0" tIns="0" rIns="0" bIns="0" rtlCol="0" anchor="t">
            <a:noAutofit/>
          </a:bodyPr>
          <a:p>
            <a:pPr indent="0">
              <a:spcAft>
                <a:spcPts val="700"/>
              </a:spcAft>
              <a:buNone/>
            </a:pPr>
            <a:r>
              <a:rPr lang="vi-VN" sz="3100">
                <a:solidFill>
                  <a:srgbClr val="176E68"/>
                </a:solidFill>
                <a:latin typeface="Segoe UI" panose="020B0502040204020203" charset="0"/>
                <a:cs typeface="Segoe UI" panose="020B0502040204020203" charset="0"/>
              </a:rPr>
              <a:t>Giải thích nghi vấn và giữ bằng chứng</a:t>
            </a:r>
            <a:endParaRPr lang="vi-VN" sz="3100">
              <a:solidFill>
                <a:srgbClr val="176E68"/>
              </a:solidFill>
              <a:latin typeface="Segoe UI" panose="020B0502040204020203" charset="0"/>
              <a:cs typeface="Segoe UI" panose="020B0502040204020203" charset="0"/>
            </a:endParaRPr>
          </a:p>
        </p:txBody>
      </p:sp>
      <p:sp>
        <p:nvSpPr>
          <p:cNvPr id="8" name="Text Box 7"/>
          <p:cNvSpPr txBox="1"/>
          <p:nvPr/>
        </p:nvSpPr>
        <p:spPr>
          <a:xfrm>
            <a:off x="596900" y="4495800"/>
            <a:ext cx="10820400" cy="276860"/>
          </a:xfrm>
          <a:prstGeom prst="rect">
            <a:avLst/>
          </a:prstGeom>
          <a:noFill/>
        </p:spPr>
        <p:txBody>
          <a:bodyPr wrap="square" lIns="0" tIns="0" rIns="0" bIns="0" rtlCol="0" anchor="t">
            <a:noAutofit/>
          </a:bodyPr>
          <a:p>
            <a:pPr indent="0">
              <a:spcAft>
                <a:spcPts val="700"/>
              </a:spcAft>
              <a:buNone/>
            </a:pPr>
            <a:r>
              <a:rPr lang="vi-VN" sz="3100" b="1">
                <a:solidFill>
                  <a:srgbClr val="176E68"/>
                </a:solidFill>
                <a:latin typeface="Segoe UI" panose="020B0502040204020203" charset="0"/>
                <a:cs typeface="Segoe UI" panose="020B0502040204020203" charset="0"/>
              </a:rPr>
              <a:t>Cập nhật policy có gate và đường quay lại</a:t>
            </a:r>
            <a:endParaRPr lang="vi-VN" sz="3100" b="1">
              <a:solidFill>
                <a:srgbClr val="176E68"/>
              </a:solidFill>
              <a:latin typeface="Segoe UI" panose="020B0502040204020203" charset="0"/>
              <a:cs typeface="Segoe UI" panose="020B0502040204020203"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Demo sản phẩm: tạo nhân viên và ghi danh</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19</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Demo riêng 10–15 phút. Runbook thao tác chi tiết: DEMO_RUNBOOK.md</a:t>
            </a:r>
            <a:endParaRPr lang="vi-VN" sz="1200">
              <a:solidFill>
                <a:srgbClr val="526673"/>
              </a:solidFill>
              <a:latin typeface="Segoe UI" panose="020B0502040204020203" charset="0"/>
              <a:cs typeface="Segoe UI" panose="020B0502040204020203" charset="0"/>
            </a:endParaRPr>
          </a:p>
        </p:txBody>
      </p:sp>
      <p:sp>
        <p:nvSpPr>
          <p:cNvPr id="6" name="Text Box 5"/>
          <p:cNvSpPr txBox="1"/>
          <p:nvPr/>
        </p:nvSpPr>
        <p:spPr>
          <a:xfrm>
            <a:off x="584200" y="1993900"/>
            <a:ext cx="965200" cy="276860"/>
          </a:xfrm>
          <a:prstGeom prst="rect">
            <a:avLst/>
          </a:prstGeom>
          <a:noFill/>
        </p:spPr>
        <p:txBody>
          <a:bodyPr wrap="square" lIns="0" tIns="0" rIns="0" bIns="0" rtlCol="0" anchor="t">
            <a:noAutofit/>
          </a:bodyPr>
          <a:p>
            <a:pPr indent="0">
              <a:spcAft>
                <a:spcPts val="700"/>
              </a:spcAft>
              <a:buNone/>
            </a:pPr>
            <a:r>
              <a:rPr lang="vi-VN" sz="3900" b="1">
                <a:solidFill>
                  <a:srgbClr val="BB542A"/>
                </a:solidFill>
                <a:latin typeface="Segoe UI" panose="020B0502040204020203" charset="0"/>
                <a:cs typeface="Segoe UI" panose="020B0502040204020203" charset="0"/>
              </a:rPr>
              <a:t>01</a:t>
            </a:r>
            <a:endParaRPr lang="vi-VN" sz="3900" b="1">
              <a:solidFill>
                <a:srgbClr val="BB542A"/>
              </a:solidFill>
              <a:latin typeface="Segoe UI" panose="020B0502040204020203" charset="0"/>
              <a:cs typeface="Segoe UI" panose="020B0502040204020203" charset="0"/>
            </a:endParaRPr>
          </a:p>
        </p:txBody>
      </p:sp>
      <p:sp>
        <p:nvSpPr>
          <p:cNvPr id="7" name="Text Box 6"/>
          <p:cNvSpPr txBox="1"/>
          <p:nvPr/>
        </p:nvSpPr>
        <p:spPr>
          <a:xfrm>
            <a:off x="1816100" y="1993900"/>
            <a:ext cx="9728200" cy="276860"/>
          </a:xfrm>
          <a:prstGeom prst="rect">
            <a:avLst/>
          </a:prstGeom>
          <a:noFill/>
        </p:spPr>
        <p:txBody>
          <a:bodyPr wrap="square" lIns="0" tIns="0" rIns="0" bIns="0" rtlCol="0" anchor="t">
            <a:noAutofit/>
          </a:bodyPr>
          <a:p>
            <a:pPr indent="0">
              <a:spcAft>
                <a:spcPts val="700"/>
              </a:spcAft>
              <a:buNone/>
            </a:pPr>
            <a:r>
              <a:rPr lang="vi-VN" sz="2700" b="1">
                <a:solidFill>
                  <a:srgbClr val="176E68"/>
                </a:solidFill>
                <a:latin typeface="Segoe UI" panose="020B0502040204020203" charset="0"/>
                <a:cs typeface="Segoe UI" panose="020B0502040204020203" charset="0"/>
              </a:rPr>
              <a:t>Mở công ty demo A</a:t>
            </a:r>
            <a:endParaRPr lang="vi-VN" sz="2700" b="1">
              <a:solidFill>
                <a:srgbClr val="176E68"/>
              </a:solidFill>
              <a:latin typeface="Segoe UI" panose="020B0502040204020203" charset="0"/>
              <a:cs typeface="Segoe UI" panose="020B0502040204020203" charset="0"/>
            </a:endParaRPr>
          </a:p>
        </p:txBody>
      </p:sp>
      <p:sp>
        <p:nvSpPr>
          <p:cNvPr id="8" name="Text Box 7"/>
          <p:cNvSpPr txBox="1"/>
          <p:nvPr/>
        </p:nvSpPr>
        <p:spPr>
          <a:xfrm>
            <a:off x="1816100" y="2667000"/>
            <a:ext cx="97282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Nhân viên mới, operator đã đăng nhập</a:t>
            </a:r>
            <a:endParaRPr lang="vi-VN" sz="2000">
              <a:solidFill>
                <a:srgbClr val="172F3C"/>
              </a:solidFill>
              <a:latin typeface="Segoe UI" panose="020B0502040204020203" charset="0"/>
              <a:cs typeface="Segoe UI" panose="020B0502040204020203" charset="0"/>
            </a:endParaRPr>
          </a:p>
        </p:txBody>
      </p:sp>
      <p:sp>
        <p:nvSpPr>
          <p:cNvPr id="9" name="Text Box 8"/>
          <p:cNvSpPr txBox="1"/>
          <p:nvPr/>
        </p:nvSpPr>
        <p:spPr>
          <a:xfrm>
            <a:off x="584200" y="3289300"/>
            <a:ext cx="965200" cy="276860"/>
          </a:xfrm>
          <a:prstGeom prst="rect">
            <a:avLst/>
          </a:prstGeom>
          <a:noFill/>
        </p:spPr>
        <p:txBody>
          <a:bodyPr wrap="square" lIns="0" tIns="0" rIns="0" bIns="0" rtlCol="0" anchor="t">
            <a:noAutofit/>
          </a:bodyPr>
          <a:p>
            <a:pPr indent="0">
              <a:spcAft>
                <a:spcPts val="700"/>
              </a:spcAft>
              <a:buNone/>
            </a:pPr>
            <a:r>
              <a:rPr lang="vi-VN" sz="3900" b="1">
                <a:solidFill>
                  <a:srgbClr val="BB542A"/>
                </a:solidFill>
                <a:latin typeface="Segoe UI" panose="020B0502040204020203" charset="0"/>
                <a:cs typeface="Segoe UI" panose="020B0502040204020203" charset="0"/>
              </a:rPr>
              <a:t>02</a:t>
            </a:r>
            <a:endParaRPr lang="vi-VN" sz="3900" b="1">
              <a:solidFill>
                <a:srgbClr val="BB542A"/>
              </a:solidFill>
              <a:latin typeface="Segoe UI" panose="020B0502040204020203" charset="0"/>
              <a:cs typeface="Segoe UI" panose="020B0502040204020203" charset="0"/>
            </a:endParaRPr>
          </a:p>
        </p:txBody>
      </p:sp>
      <p:sp>
        <p:nvSpPr>
          <p:cNvPr id="10" name="Text Box 9"/>
          <p:cNvSpPr txBox="1"/>
          <p:nvPr/>
        </p:nvSpPr>
        <p:spPr>
          <a:xfrm>
            <a:off x="1816100" y="3289300"/>
            <a:ext cx="9728200" cy="276860"/>
          </a:xfrm>
          <a:prstGeom prst="rect">
            <a:avLst/>
          </a:prstGeom>
          <a:noFill/>
        </p:spPr>
        <p:txBody>
          <a:bodyPr wrap="square" lIns="0" tIns="0" rIns="0" bIns="0" rtlCol="0" anchor="t">
            <a:noAutofit/>
          </a:bodyPr>
          <a:p>
            <a:pPr indent="0">
              <a:spcAft>
                <a:spcPts val="700"/>
              </a:spcAft>
              <a:buNone/>
            </a:pPr>
            <a:r>
              <a:rPr lang="vi-VN" sz="2700" b="1">
                <a:solidFill>
                  <a:srgbClr val="176E68"/>
                </a:solidFill>
                <a:latin typeface="Segoe UI" panose="020B0502040204020203" charset="0"/>
                <a:cs typeface="Segoe UI" panose="020B0502040204020203" charset="0"/>
              </a:rPr>
              <a:t>Ghi danh Face và Voice</a:t>
            </a:r>
            <a:endParaRPr lang="vi-VN" sz="2700" b="1">
              <a:solidFill>
                <a:srgbClr val="176E68"/>
              </a:solidFill>
              <a:latin typeface="Segoe UI" panose="020B0502040204020203" charset="0"/>
              <a:cs typeface="Segoe UI" panose="020B0502040204020203" charset="0"/>
            </a:endParaRPr>
          </a:p>
        </p:txBody>
      </p:sp>
      <p:sp>
        <p:nvSpPr>
          <p:cNvPr id="11" name="Text Box 10"/>
          <p:cNvSpPr txBox="1"/>
          <p:nvPr/>
        </p:nvSpPr>
        <p:spPr>
          <a:xfrm>
            <a:off x="1816100" y="3962400"/>
            <a:ext cx="97282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Hai ảnh, hai WAV và xác nhận đồng ý hợp lệ</a:t>
            </a:r>
            <a:endParaRPr lang="vi-VN" sz="2000">
              <a:solidFill>
                <a:srgbClr val="172F3C"/>
              </a:solidFill>
              <a:latin typeface="Segoe UI" panose="020B0502040204020203" charset="0"/>
              <a:cs typeface="Segoe UI" panose="020B0502040204020203" charset="0"/>
            </a:endParaRPr>
          </a:p>
        </p:txBody>
      </p:sp>
      <p:sp>
        <p:nvSpPr>
          <p:cNvPr id="12" name="Text Box 11"/>
          <p:cNvSpPr txBox="1"/>
          <p:nvPr/>
        </p:nvSpPr>
        <p:spPr>
          <a:xfrm>
            <a:off x="584200" y="4584700"/>
            <a:ext cx="965200" cy="276860"/>
          </a:xfrm>
          <a:prstGeom prst="rect">
            <a:avLst/>
          </a:prstGeom>
          <a:noFill/>
        </p:spPr>
        <p:txBody>
          <a:bodyPr wrap="square" lIns="0" tIns="0" rIns="0" bIns="0" rtlCol="0" anchor="t">
            <a:noAutofit/>
          </a:bodyPr>
          <a:p>
            <a:pPr indent="0">
              <a:spcAft>
                <a:spcPts val="700"/>
              </a:spcAft>
              <a:buNone/>
            </a:pPr>
            <a:r>
              <a:rPr lang="vi-VN" sz="3900" b="1">
                <a:solidFill>
                  <a:srgbClr val="BB542A"/>
                </a:solidFill>
                <a:latin typeface="Segoe UI" panose="020B0502040204020203" charset="0"/>
                <a:cs typeface="Segoe UI" panose="020B0502040204020203" charset="0"/>
              </a:rPr>
              <a:t>03</a:t>
            </a:r>
            <a:endParaRPr lang="vi-VN" sz="3900" b="1">
              <a:solidFill>
                <a:srgbClr val="BB542A"/>
              </a:solidFill>
              <a:latin typeface="Segoe UI" panose="020B0502040204020203" charset="0"/>
              <a:cs typeface="Segoe UI" panose="020B0502040204020203" charset="0"/>
            </a:endParaRPr>
          </a:p>
        </p:txBody>
      </p:sp>
      <p:sp>
        <p:nvSpPr>
          <p:cNvPr id="13" name="Text Box 12"/>
          <p:cNvSpPr txBox="1"/>
          <p:nvPr/>
        </p:nvSpPr>
        <p:spPr>
          <a:xfrm>
            <a:off x="1816100" y="4584700"/>
            <a:ext cx="9728200" cy="276860"/>
          </a:xfrm>
          <a:prstGeom prst="rect">
            <a:avLst/>
          </a:prstGeom>
          <a:noFill/>
        </p:spPr>
        <p:txBody>
          <a:bodyPr wrap="square" lIns="0" tIns="0" rIns="0" bIns="0" rtlCol="0" anchor="t">
            <a:noAutofit/>
          </a:bodyPr>
          <a:p>
            <a:pPr indent="0">
              <a:spcAft>
                <a:spcPts val="700"/>
              </a:spcAft>
              <a:buNone/>
            </a:pPr>
            <a:r>
              <a:rPr lang="vi-VN" sz="2700" b="1">
                <a:solidFill>
                  <a:srgbClr val="176E68"/>
                </a:solidFill>
                <a:latin typeface="Segoe UI" panose="020B0502040204020203" charset="0"/>
                <a:cs typeface="Segoe UI" panose="020B0502040204020203" charset="0"/>
              </a:rPr>
              <a:t>Kiểm tra trạng thái đủ mẫu</a:t>
            </a:r>
            <a:endParaRPr lang="vi-VN" sz="2700" b="1">
              <a:solidFill>
                <a:srgbClr val="176E68"/>
              </a:solidFill>
              <a:latin typeface="Segoe UI" panose="020B0502040204020203" charset="0"/>
              <a:cs typeface="Segoe UI" panose="020B0502040204020203" charset="0"/>
            </a:endParaRPr>
          </a:p>
        </p:txBody>
      </p:sp>
      <p:sp>
        <p:nvSpPr>
          <p:cNvPr id="14" name="Text Box 13"/>
          <p:cNvSpPr txBox="1"/>
          <p:nvPr/>
        </p:nvSpPr>
        <p:spPr>
          <a:xfrm>
            <a:off x="1816100" y="5257800"/>
            <a:ext cx="97282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Dùng upload đã chuẩn bị để giữ thời gian</a:t>
            </a:r>
            <a:endParaRPr lang="vi-VN" sz="2000">
              <a:solidFill>
                <a:srgbClr val="172F3C"/>
              </a:solidFill>
              <a:latin typeface="Segoe UI" panose="020B0502040204020203" charset="0"/>
              <a:cs typeface="Segoe UI" panose="020B0502040204020203"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Demo xác minh: đúng người, nghi vấn và bằng chứng</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20</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Demo riêng 10–15 phút. Runbook thao tác chi tiết: DEMO_RUNBOOK.md</a:t>
            </a:r>
            <a:endParaRPr lang="vi-VN" sz="1200">
              <a:solidFill>
                <a:srgbClr val="526673"/>
              </a:solidFill>
              <a:latin typeface="Segoe UI" panose="020B0502040204020203" charset="0"/>
              <a:cs typeface="Segoe UI" panose="020B0502040204020203" charset="0"/>
            </a:endParaRPr>
          </a:p>
        </p:txBody>
      </p:sp>
      <p:sp>
        <p:nvSpPr>
          <p:cNvPr id="6" name="Text Box 5"/>
          <p:cNvSpPr txBox="1"/>
          <p:nvPr/>
        </p:nvSpPr>
        <p:spPr>
          <a:xfrm>
            <a:off x="584200" y="1993900"/>
            <a:ext cx="965200" cy="276860"/>
          </a:xfrm>
          <a:prstGeom prst="rect">
            <a:avLst/>
          </a:prstGeom>
          <a:noFill/>
        </p:spPr>
        <p:txBody>
          <a:bodyPr wrap="square" lIns="0" tIns="0" rIns="0" bIns="0" rtlCol="0" anchor="t">
            <a:noAutofit/>
          </a:bodyPr>
          <a:p>
            <a:pPr indent="0">
              <a:spcAft>
                <a:spcPts val="700"/>
              </a:spcAft>
              <a:buNone/>
            </a:pPr>
            <a:r>
              <a:rPr lang="vi-VN" sz="3900" b="1">
                <a:solidFill>
                  <a:srgbClr val="BB542A"/>
                </a:solidFill>
                <a:latin typeface="Segoe UI" panose="020B0502040204020203" charset="0"/>
                <a:cs typeface="Segoe UI" panose="020B0502040204020203" charset="0"/>
              </a:rPr>
              <a:t>01</a:t>
            </a:r>
            <a:endParaRPr lang="vi-VN" sz="3900" b="1">
              <a:solidFill>
                <a:srgbClr val="BB542A"/>
              </a:solidFill>
              <a:latin typeface="Segoe UI" panose="020B0502040204020203" charset="0"/>
              <a:cs typeface="Segoe UI" panose="020B0502040204020203" charset="0"/>
            </a:endParaRPr>
          </a:p>
        </p:txBody>
      </p:sp>
      <p:sp>
        <p:nvSpPr>
          <p:cNvPr id="7" name="Text Box 6"/>
          <p:cNvSpPr txBox="1"/>
          <p:nvPr/>
        </p:nvSpPr>
        <p:spPr>
          <a:xfrm>
            <a:off x="1816100" y="1993900"/>
            <a:ext cx="9728200" cy="276860"/>
          </a:xfrm>
          <a:prstGeom prst="rect">
            <a:avLst/>
          </a:prstGeom>
          <a:noFill/>
        </p:spPr>
        <p:txBody>
          <a:bodyPr wrap="square" lIns="0" tIns="0" rIns="0" bIns="0" rtlCol="0" anchor="t">
            <a:noAutofit/>
          </a:bodyPr>
          <a:p>
            <a:pPr indent="0">
              <a:spcAft>
                <a:spcPts val="700"/>
              </a:spcAft>
              <a:buNone/>
            </a:pPr>
            <a:r>
              <a:rPr lang="vi-VN" sz="2700" b="1">
                <a:solidFill>
                  <a:srgbClr val="176E68"/>
                </a:solidFill>
                <a:latin typeface="Segoe UI" panose="020B0502040204020203" charset="0"/>
                <a:cs typeface="Segoe UI" panose="020B0502040204020203" charset="0"/>
              </a:rPr>
              <a:t>Gửi capture của người A</a:t>
            </a:r>
            <a:endParaRPr lang="vi-VN" sz="2700" b="1">
              <a:solidFill>
                <a:srgbClr val="176E68"/>
              </a:solidFill>
              <a:latin typeface="Segoe UI" panose="020B0502040204020203" charset="0"/>
              <a:cs typeface="Segoe UI" panose="020B0502040204020203" charset="0"/>
            </a:endParaRPr>
          </a:p>
        </p:txBody>
      </p:sp>
      <p:sp>
        <p:nvSpPr>
          <p:cNvPr id="8" name="Text Box 7"/>
          <p:cNvSpPr txBox="1"/>
          <p:nvPr/>
        </p:nvSpPr>
        <p:spPr>
          <a:xfrm>
            <a:off x="1816100" y="2667000"/>
            <a:ext cx="97282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Xem face/voice match, reason và policy versions</a:t>
            </a:r>
            <a:endParaRPr lang="vi-VN" sz="2000">
              <a:solidFill>
                <a:srgbClr val="172F3C"/>
              </a:solidFill>
              <a:latin typeface="Segoe UI" panose="020B0502040204020203" charset="0"/>
              <a:cs typeface="Segoe UI" panose="020B0502040204020203" charset="0"/>
            </a:endParaRPr>
          </a:p>
        </p:txBody>
      </p:sp>
      <p:sp>
        <p:nvSpPr>
          <p:cNvPr id="9" name="Text Box 8"/>
          <p:cNvSpPr txBox="1"/>
          <p:nvPr/>
        </p:nvSpPr>
        <p:spPr>
          <a:xfrm>
            <a:off x="584200" y="3289300"/>
            <a:ext cx="965200" cy="276860"/>
          </a:xfrm>
          <a:prstGeom prst="rect">
            <a:avLst/>
          </a:prstGeom>
          <a:noFill/>
        </p:spPr>
        <p:txBody>
          <a:bodyPr wrap="square" lIns="0" tIns="0" rIns="0" bIns="0" rtlCol="0" anchor="t">
            <a:noAutofit/>
          </a:bodyPr>
          <a:p>
            <a:pPr indent="0">
              <a:spcAft>
                <a:spcPts val="700"/>
              </a:spcAft>
              <a:buNone/>
            </a:pPr>
            <a:r>
              <a:rPr lang="vi-VN" sz="3900" b="1">
                <a:solidFill>
                  <a:srgbClr val="BB542A"/>
                </a:solidFill>
                <a:latin typeface="Segoe UI" panose="020B0502040204020203" charset="0"/>
                <a:cs typeface="Segoe UI" panose="020B0502040204020203" charset="0"/>
              </a:rPr>
              <a:t>02</a:t>
            </a:r>
            <a:endParaRPr lang="vi-VN" sz="3900" b="1">
              <a:solidFill>
                <a:srgbClr val="BB542A"/>
              </a:solidFill>
              <a:latin typeface="Segoe UI" panose="020B0502040204020203" charset="0"/>
              <a:cs typeface="Segoe UI" panose="020B0502040204020203" charset="0"/>
            </a:endParaRPr>
          </a:p>
        </p:txBody>
      </p:sp>
      <p:sp>
        <p:nvSpPr>
          <p:cNvPr id="10" name="Text Box 9"/>
          <p:cNvSpPr txBox="1"/>
          <p:nvPr/>
        </p:nvSpPr>
        <p:spPr>
          <a:xfrm>
            <a:off x="1816100" y="3289300"/>
            <a:ext cx="9728200" cy="276860"/>
          </a:xfrm>
          <a:prstGeom prst="rect">
            <a:avLst/>
          </a:prstGeom>
          <a:noFill/>
        </p:spPr>
        <p:txBody>
          <a:bodyPr wrap="square" lIns="0" tIns="0" rIns="0" bIns="0" rtlCol="0" anchor="t">
            <a:noAutofit/>
          </a:bodyPr>
          <a:p>
            <a:pPr indent="0">
              <a:spcAft>
                <a:spcPts val="700"/>
              </a:spcAft>
              <a:buNone/>
            </a:pPr>
            <a:r>
              <a:rPr lang="vi-VN" sz="2700" b="1">
                <a:solidFill>
                  <a:srgbClr val="176E68"/>
                </a:solidFill>
                <a:latin typeface="Segoe UI" panose="020B0502040204020203" charset="0"/>
                <a:cs typeface="Segoe UI" panose="020B0502040204020203" charset="0"/>
              </a:rPr>
              <a:t>Khai báo A, gửi capture người B</a:t>
            </a:r>
            <a:endParaRPr lang="vi-VN" sz="2700" b="1">
              <a:solidFill>
                <a:srgbClr val="176E68"/>
              </a:solidFill>
              <a:latin typeface="Segoe UI" panose="020B0502040204020203" charset="0"/>
              <a:cs typeface="Segoe UI" panose="020B0502040204020203" charset="0"/>
            </a:endParaRPr>
          </a:p>
        </p:txBody>
      </p:sp>
      <p:sp>
        <p:nvSpPr>
          <p:cNvPr id="11" name="Text Box 10"/>
          <p:cNvSpPr txBox="1"/>
          <p:nvPr/>
        </p:nvSpPr>
        <p:spPr>
          <a:xfrm>
            <a:off x="1816100" y="3962400"/>
            <a:ext cx="97282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Đọc tín hiệu mismatch và trạng thái thực tế</a:t>
            </a:r>
            <a:endParaRPr lang="vi-VN" sz="2000">
              <a:solidFill>
                <a:srgbClr val="172F3C"/>
              </a:solidFill>
              <a:latin typeface="Segoe UI" panose="020B0502040204020203" charset="0"/>
              <a:cs typeface="Segoe UI" panose="020B0502040204020203" charset="0"/>
            </a:endParaRPr>
          </a:p>
        </p:txBody>
      </p:sp>
      <p:sp>
        <p:nvSpPr>
          <p:cNvPr id="12" name="Text Box 11"/>
          <p:cNvSpPr txBox="1"/>
          <p:nvPr/>
        </p:nvSpPr>
        <p:spPr>
          <a:xfrm>
            <a:off x="584200" y="4584700"/>
            <a:ext cx="965200" cy="276860"/>
          </a:xfrm>
          <a:prstGeom prst="rect">
            <a:avLst/>
          </a:prstGeom>
          <a:noFill/>
        </p:spPr>
        <p:txBody>
          <a:bodyPr wrap="square" lIns="0" tIns="0" rIns="0" bIns="0" rtlCol="0" anchor="t">
            <a:noAutofit/>
          </a:bodyPr>
          <a:p>
            <a:pPr indent="0">
              <a:spcAft>
                <a:spcPts val="700"/>
              </a:spcAft>
              <a:buNone/>
            </a:pPr>
            <a:r>
              <a:rPr lang="vi-VN" sz="3900" b="1">
                <a:solidFill>
                  <a:srgbClr val="BB542A"/>
                </a:solidFill>
                <a:latin typeface="Segoe UI" panose="020B0502040204020203" charset="0"/>
                <a:cs typeface="Segoe UI" panose="020B0502040204020203" charset="0"/>
              </a:rPr>
              <a:t>03</a:t>
            </a:r>
            <a:endParaRPr lang="vi-VN" sz="3900" b="1">
              <a:solidFill>
                <a:srgbClr val="BB542A"/>
              </a:solidFill>
              <a:latin typeface="Segoe UI" panose="020B0502040204020203" charset="0"/>
              <a:cs typeface="Segoe UI" panose="020B0502040204020203" charset="0"/>
            </a:endParaRPr>
          </a:p>
        </p:txBody>
      </p:sp>
      <p:sp>
        <p:nvSpPr>
          <p:cNvPr id="13" name="Text Box 12"/>
          <p:cNvSpPr txBox="1"/>
          <p:nvPr/>
        </p:nvSpPr>
        <p:spPr>
          <a:xfrm>
            <a:off x="1816100" y="4584700"/>
            <a:ext cx="9728200" cy="276860"/>
          </a:xfrm>
          <a:prstGeom prst="rect">
            <a:avLst/>
          </a:prstGeom>
          <a:noFill/>
        </p:spPr>
        <p:txBody>
          <a:bodyPr wrap="square" lIns="0" tIns="0" rIns="0" bIns="0" rtlCol="0" anchor="t">
            <a:noAutofit/>
          </a:bodyPr>
          <a:p>
            <a:pPr indent="0">
              <a:spcAft>
                <a:spcPts val="700"/>
              </a:spcAft>
              <a:buNone/>
            </a:pPr>
            <a:r>
              <a:rPr lang="vi-VN" sz="2700" b="1">
                <a:solidFill>
                  <a:srgbClr val="176E68"/>
                </a:solidFill>
                <a:latin typeface="Segoe UI" panose="020B0502040204020203" charset="0"/>
                <a:cs typeface="Segoe UI" panose="020B0502040204020203" charset="0"/>
              </a:rPr>
              <a:t>Lịch sử, evidence và webhook</a:t>
            </a:r>
            <a:endParaRPr lang="vi-VN" sz="2700" b="1">
              <a:solidFill>
                <a:srgbClr val="176E68"/>
              </a:solidFill>
              <a:latin typeface="Segoe UI" panose="020B0502040204020203" charset="0"/>
              <a:cs typeface="Segoe UI" panose="020B0502040204020203" charset="0"/>
            </a:endParaRPr>
          </a:p>
        </p:txBody>
      </p:sp>
      <p:sp>
        <p:nvSpPr>
          <p:cNvPr id="14" name="Text Box 13"/>
          <p:cNvSpPr txBox="1"/>
          <p:nvPr/>
        </p:nvSpPr>
        <p:spPr>
          <a:xfrm>
            <a:off x="1816100" y="5257800"/>
            <a:ext cx="97282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Lọc phiên demo, xuất báo cáo, đối chiếu delivery</a:t>
            </a:r>
            <a:endParaRPr lang="vi-VN" sz="2000">
              <a:solidFill>
                <a:srgbClr val="172F3C"/>
              </a:solidFill>
              <a:latin typeface="Segoe UI" panose="020B0502040204020203" charset="0"/>
              <a:cs typeface="Segoe UI" panose="020B0502040204020203"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Demo vận hành: monitoring và khởi động simulation</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21</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Demo riêng 10–15 phút. Runbook thao tác chi tiết: DEMO_RUNBOOK.md</a:t>
            </a:r>
            <a:endParaRPr lang="vi-VN" sz="1200">
              <a:solidFill>
                <a:srgbClr val="526673"/>
              </a:solidFill>
              <a:latin typeface="Segoe UI" panose="020B0502040204020203" charset="0"/>
              <a:cs typeface="Segoe UI" panose="020B0502040204020203" charset="0"/>
            </a:endParaRPr>
          </a:p>
        </p:txBody>
      </p:sp>
      <p:sp>
        <p:nvSpPr>
          <p:cNvPr id="6" name="Text Box 5"/>
          <p:cNvSpPr txBox="1"/>
          <p:nvPr/>
        </p:nvSpPr>
        <p:spPr>
          <a:xfrm>
            <a:off x="584200" y="1993900"/>
            <a:ext cx="965200" cy="276860"/>
          </a:xfrm>
          <a:prstGeom prst="rect">
            <a:avLst/>
          </a:prstGeom>
          <a:noFill/>
        </p:spPr>
        <p:txBody>
          <a:bodyPr wrap="square" lIns="0" tIns="0" rIns="0" bIns="0" rtlCol="0" anchor="t">
            <a:noAutofit/>
          </a:bodyPr>
          <a:p>
            <a:pPr indent="0">
              <a:spcAft>
                <a:spcPts val="700"/>
              </a:spcAft>
              <a:buNone/>
            </a:pPr>
            <a:r>
              <a:rPr lang="vi-VN" sz="3900" b="1">
                <a:solidFill>
                  <a:srgbClr val="BB542A"/>
                </a:solidFill>
                <a:latin typeface="Segoe UI" panose="020B0502040204020203" charset="0"/>
                <a:cs typeface="Segoe UI" panose="020B0502040204020203" charset="0"/>
              </a:rPr>
              <a:t>01</a:t>
            </a:r>
            <a:endParaRPr lang="vi-VN" sz="3900" b="1">
              <a:solidFill>
                <a:srgbClr val="BB542A"/>
              </a:solidFill>
              <a:latin typeface="Segoe UI" panose="020B0502040204020203" charset="0"/>
              <a:cs typeface="Segoe UI" panose="020B0502040204020203" charset="0"/>
            </a:endParaRPr>
          </a:p>
        </p:txBody>
      </p:sp>
      <p:sp>
        <p:nvSpPr>
          <p:cNvPr id="7" name="Text Box 6"/>
          <p:cNvSpPr txBox="1"/>
          <p:nvPr/>
        </p:nvSpPr>
        <p:spPr>
          <a:xfrm>
            <a:off x="1816100" y="1993900"/>
            <a:ext cx="9728200" cy="276860"/>
          </a:xfrm>
          <a:prstGeom prst="rect">
            <a:avLst/>
          </a:prstGeom>
          <a:noFill/>
        </p:spPr>
        <p:txBody>
          <a:bodyPr wrap="square" lIns="0" tIns="0" rIns="0" bIns="0" rtlCol="0" anchor="t">
            <a:noAutofit/>
          </a:bodyPr>
          <a:p>
            <a:pPr indent="0">
              <a:spcAft>
                <a:spcPts val="700"/>
              </a:spcAft>
              <a:buNone/>
            </a:pPr>
            <a:r>
              <a:rPr lang="vi-VN" sz="2700" b="1">
                <a:solidFill>
                  <a:srgbClr val="176E68"/>
                </a:solidFill>
                <a:latin typeface="Segoe UI" panose="020B0502040204020203" charset="0"/>
                <a:cs typeface="Segoe UI" panose="020B0502040204020203" charset="0"/>
              </a:rPr>
              <a:t>Mở Grafana và Airflow</a:t>
            </a:r>
            <a:endParaRPr lang="vi-VN" sz="2700" b="1">
              <a:solidFill>
                <a:srgbClr val="176E68"/>
              </a:solidFill>
              <a:latin typeface="Segoe UI" panose="020B0502040204020203" charset="0"/>
              <a:cs typeface="Segoe UI" panose="020B0502040204020203" charset="0"/>
            </a:endParaRPr>
          </a:p>
        </p:txBody>
      </p:sp>
      <p:sp>
        <p:nvSpPr>
          <p:cNvPr id="8" name="Text Box 7"/>
          <p:cNvSpPr txBox="1"/>
          <p:nvPr/>
        </p:nvSpPr>
        <p:spPr>
          <a:xfrm>
            <a:off x="1816100" y="2667000"/>
            <a:ext cx="97282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Readiness, request, latency, freshness và DAG</a:t>
            </a:r>
            <a:endParaRPr lang="vi-VN" sz="2000">
              <a:solidFill>
                <a:srgbClr val="172F3C"/>
              </a:solidFill>
              <a:latin typeface="Segoe UI" panose="020B0502040204020203" charset="0"/>
              <a:cs typeface="Segoe UI" panose="020B0502040204020203" charset="0"/>
            </a:endParaRPr>
          </a:p>
        </p:txBody>
      </p:sp>
      <p:sp>
        <p:nvSpPr>
          <p:cNvPr id="9" name="Text Box 8"/>
          <p:cNvSpPr txBox="1"/>
          <p:nvPr/>
        </p:nvSpPr>
        <p:spPr>
          <a:xfrm>
            <a:off x="584200" y="3289300"/>
            <a:ext cx="965200" cy="276860"/>
          </a:xfrm>
          <a:prstGeom prst="rect">
            <a:avLst/>
          </a:prstGeom>
          <a:noFill/>
        </p:spPr>
        <p:txBody>
          <a:bodyPr wrap="square" lIns="0" tIns="0" rIns="0" bIns="0" rtlCol="0" anchor="t">
            <a:noAutofit/>
          </a:bodyPr>
          <a:p>
            <a:pPr indent="0">
              <a:spcAft>
                <a:spcPts val="700"/>
              </a:spcAft>
              <a:buNone/>
            </a:pPr>
            <a:r>
              <a:rPr lang="vi-VN" sz="3900" b="1">
                <a:solidFill>
                  <a:srgbClr val="BB542A"/>
                </a:solidFill>
                <a:latin typeface="Segoe UI" panose="020B0502040204020203" charset="0"/>
                <a:cs typeface="Segoe UI" panose="020B0502040204020203" charset="0"/>
              </a:rPr>
              <a:t>02</a:t>
            </a:r>
            <a:endParaRPr lang="vi-VN" sz="3900" b="1">
              <a:solidFill>
                <a:srgbClr val="BB542A"/>
              </a:solidFill>
              <a:latin typeface="Segoe UI" panose="020B0502040204020203" charset="0"/>
              <a:cs typeface="Segoe UI" panose="020B0502040204020203" charset="0"/>
            </a:endParaRPr>
          </a:p>
        </p:txBody>
      </p:sp>
      <p:sp>
        <p:nvSpPr>
          <p:cNvPr id="10" name="Text Box 9"/>
          <p:cNvSpPr txBox="1"/>
          <p:nvPr/>
        </p:nvSpPr>
        <p:spPr>
          <a:xfrm>
            <a:off x="1816100" y="3289300"/>
            <a:ext cx="9728200" cy="276860"/>
          </a:xfrm>
          <a:prstGeom prst="rect">
            <a:avLst/>
          </a:prstGeom>
          <a:noFill/>
        </p:spPr>
        <p:txBody>
          <a:bodyPr wrap="square" lIns="0" tIns="0" rIns="0" bIns="0" rtlCol="0" anchor="t">
            <a:noAutofit/>
          </a:bodyPr>
          <a:p>
            <a:pPr indent="0">
              <a:spcAft>
                <a:spcPts val="700"/>
              </a:spcAft>
              <a:buNone/>
            </a:pPr>
            <a:r>
              <a:rPr lang="vi-VN" sz="2700" b="1">
                <a:solidFill>
                  <a:srgbClr val="176E68"/>
                </a:solidFill>
                <a:latin typeface="Segoe UI" panose="020B0502040204020203" charset="0"/>
                <a:cs typeface="Segoe UI" panose="020B0502040204020203" charset="0"/>
              </a:rPr>
              <a:t>Vào platform Simulation MLOps</a:t>
            </a:r>
            <a:endParaRPr lang="vi-VN" sz="2700" b="1">
              <a:solidFill>
                <a:srgbClr val="176E68"/>
              </a:solidFill>
              <a:latin typeface="Segoe UI" panose="020B0502040204020203" charset="0"/>
              <a:cs typeface="Segoe UI" panose="020B0502040204020203" charset="0"/>
            </a:endParaRPr>
          </a:p>
        </p:txBody>
      </p:sp>
      <p:sp>
        <p:nvSpPr>
          <p:cNvPr id="11" name="Text Box 10"/>
          <p:cNvSpPr txBox="1"/>
          <p:nvPr/>
        </p:nvSpPr>
        <p:spPr>
          <a:xfrm>
            <a:off x="1816100" y="3962400"/>
            <a:ext cx="97282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Chọn Voice, ghi nhận baseline simulation</a:t>
            </a:r>
            <a:endParaRPr lang="vi-VN" sz="2000">
              <a:solidFill>
                <a:srgbClr val="172F3C"/>
              </a:solidFill>
              <a:latin typeface="Segoe UI" panose="020B0502040204020203" charset="0"/>
              <a:cs typeface="Segoe UI" panose="020B0502040204020203" charset="0"/>
            </a:endParaRPr>
          </a:p>
        </p:txBody>
      </p:sp>
      <p:sp>
        <p:nvSpPr>
          <p:cNvPr id="12" name="Text Box 11"/>
          <p:cNvSpPr txBox="1"/>
          <p:nvPr/>
        </p:nvSpPr>
        <p:spPr>
          <a:xfrm>
            <a:off x="584200" y="4584700"/>
            <a:ext cx="965200" cy="276860"/>
          </a:xfrm>
          <a:prstGeom prst="rect">
            <a:avLst/>
          </a:prstGeom>
          <a:noFill/>
        </p:spPr>
        <p:txBody>
          <a:bodyPr wrap="square" lIns="0" tIns="0" rIns="0" bIns="0" rtlCol="0" anchor="t">
            <a:noAutofit/>
          </a:bodyPr>
          <a:p>
            <a:pPr indent="0">
              <a:spcAft>
                <a:spcPts val="700"/>
              </a:spcAft>
              <a:buNone/>
            </a:pPr>
            <a:r>
              <a:rPr lang="vi-VN" sz="3900" b="1">
                <a:solidFill>
                  <a:srgbClr val="BB542A"/>
                </a:solidFill>
                <a:latin typeface="Segoe UI" panose="020B0502040204020203" charset="0"/>
                <a:cs typeface="Segoe UI" panose="020B0502040204020203" charset="0"/>
              </a:rPr>
              <a:t>03</a:t>
            </a:r>
            <a:endParaRPr lang="vi-VN" sz="3900" b="1">
              <a:solidFill>
                <a:srgbClr val="BB542A"/>
              </a:solidFill>
              <a:latin typeface="Segoe UI" panose="020B0502040204020203" charset="0"/>
              <a:cs typeface="Segoe UI" panose="020B0502040204020203" charset="0"/>
            </a:endParaRPr>
          </a:p>
        </p:txBody>
      </p:sp>
      <p:sp>
        <p:nvSpPr>
          <p:cNvPr id="13" name="Text Box 12"/>
          <p:cNvSpPr txBox="1"/>
          <p:nvPr/>
        </p:nvSpPr>
        <p:spPr>
          <a:xfrm>
            <a:off x="1816100" y="4584700"/>
            <a:ext cx="9728200" cy="276860"/>
          </a:xfrm>
          <a:prstGeom prst="rect">
            <a:avLst/>
          </a:prstGeom>
          <a:noFill/>
        </p:spPr>
        <p:txBody>
          <a:bodyPr wrap="square" lIns="0" tIns="0" rIns="0" bIns="0" rtlCol="0" anchor="t">
            <a:noAutofit/>
          </a:bodyPr>
          <a:p>
            <a:pPr indent="0">
              <a:spcAft>
                <a:spcPts val="700"/>
              </a:spcAft>
              <a:buNone/>
            </a:pPr>
            <a:r>
              <a:rPr lang="vi-VN" sz="2700" b="1">
                <a:solidFill>
                  <a:srgbClr val="176E68"/>
                </a:solidFill>
                <a:latin typeface="Segoe UI" panose="020B0502040204020203" charset="0"/>
                <a:cs typeface="Segoe UI" panose="020B0502040204020203" charset="0"/>
              </a:rPr>
              <a:t>Bấm Drift → nâng cấp champion</a:t>
            </a:r>
            <a:endParaRPr lang="vi-VN" sz="2700" b="1">
              <a:solidFill>
                <a:srgbClr val="176E68"/>
              </a:solidFill>
              <a:latin typeface="Segoe UI" panose="020B0502040204020203" charset="0"/>
              <a:cs typeface="Segoe UI" panose="020B0502040204020203" charset="0"/>
            </a:endParaRPr>
          </a:p>
        </p:txBody>
      </p:sp>
      <p:sp>
        <p:nvSpPr>
          <p:cNvPr id="14" name="Text Box 13"/>
          <p:cNvSpPr txBox="1"/>
          <p:nvPr/>
        </p:nvSpPr>
        <p:spPr>
          <a:xfrm>
            <a:off x="1816100" y="5257800"/>
            <a:ext cx="97282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Theo dõi cùng run ID trên portal và Airflow</a:t>
            </a:r>
            <a:endParaRPr lang="vi-VN" sz="2000">
              <a:solidFill>
                <a:srgbClr val="172F3C"/>
              </a:solidFill>
              <a:latin typeface="Segoe UI" panose="020B0502040204020203" charset="0"/>
              <a:cs typeface="Segoe UI" panose="020B0502040204020203"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Demo promotion: alert, các gate và champion</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22</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http://localhost:18501     MLflow simulation: http://localhost:15031</a:t>
            </a:r>
            <a:endParaRPr lang="vi-VN" sz="1200">
              <a:solidFill>
                <a:srgbClr val="526673"/>
              </a:solidFill>
              <a:latin typeface="Segoe UI" panose="020B0502040204020203" charset="0"/>
              <a:cs typeface="Segoe UI" panose="020B0502040204020203" charset="0"/>
            </a:endParaRPr>
          </a:p>
        </p:txBody>
      </p:sp>
      <p:sp>
        <p:nvSpPr>
          <p:cNvPr id="6" name="Text Box 5"/>
          <p:cNvSpPr txBox="1"/>
          <p:nvPr/>
        </p:nvSpPr>
        <p:spPr>
          <a:xfrm>
            <a:off x="584200" y="1993900"/>
            <a:ext cx="965200" cy="276860"/>
          </a:xfrm>
          <a:prstGeom prst="rect">
            <a:avLst/>
          </a:prstGeom>
          <a:noFill/>
        </p:spPr>
        <p:txBody>
          <a:bodyPr wrap="square" lIns="0" tIns="0" rIns="0" bIns="0" rtlCol="0" anchor="t">
            <a:noAutofit/>
          </a:bodyPr>
          <a:p>
            <a:pPr indent="0">
              <a:spcAft>
                <a:spcPts val="700"/>
              </a:spcAft>
              <a:buNone/>
            </a:pPr>
            <a:r>
              <a:rPr lang="vi-VN" sz="3900" b="1">
                <a:solidFill>
                  <a:srgbClr val="BB542A"/>
                </a:solidFill>
                <a:latin typeface="Segoe UI" panose="020B0502040204020203" charset="0"/>
                <a:cs typeface="Segoe UI" panose="020B0502040204020203" charset="0"/>
              </a:rPr>
              <a:t>01</a:t>
            </a:r>
            <a:endParaRPr lang="vi-VN" sz="3900" b="1">
              <a:solidFill>
                <a:srgbClr val="BB542A"/>
              </a:solidFill>
              <a:latin typeface="Segoe UI" panose="020B0502040204020203" charset="0"/>
              <a:cs typeface="Segoe UI" panose="020B0502040204020203" charset="0"/>
            </a:endParaRPr>
          </a:p>
        </p:txBody>
      </p:sp>
      <p:sp>
        <p:nvSpPr>
          <p:cNvPr id="7" name="Text Box 6"/>
          <p:cNvSpPr txBox="1"/>
          <p:nvPr/>
        </p:nvSpPr>
        <p:spPr>
          <a:xfrm>
            <a:off x="1816100" y="1993900"/>
            <a:ext cx="9728200" cy="276860"/>
          </a:xfrm>
          <a:prstGeom prst="rect">
            <a:avLst/>
          </a:prstGeom>
          <a:noFill/>
        </p:spPr>
        <p:txBody>
          <a:bodyPr wrap="square" lIns="0" tIns="0" rIns="0" bIns="0" rtlCol="0" anchor="t">
            <a:noAutofit/>
          </a:bodyPr>
          <a:p>
            <a:pPr indent="0">
              <a:spcAft>
                <a:spcPts val="700"/>
              </a:spcAft>
              <a:buNone/>
            </a:pPr>
            <a:r>
              <a:rPr lang="vi-VN" sz="2700" b="1">
                <a:solidFill>
                  <a:srgbClr val="176E68"/>
                </a:solidFill>
                <a:latin typeface="Segoe UI" panose="020B0502040204020203" charset="0"/>
                <a:cs typeface="Segoe UI" panose="020B0502040204020203" charset="0"/>
              </a:rPr>
              <a:t>Theo dõi run Voice vừa tạo</a:t>
            </a:r>
            <a:endParaRPr lang="vi-VN" sz="2700" b="1">
              <a:solidFill>
                <a:srgbClr val="176E68"/>
              </a:solidFill>
              <a:latin typeface="Segoe UI" panose="020B0502040204020203" charset="0"/>
              <a:cs typeface="Segoe UI" panose="020B0502040204020203" charset="0"/>
            </a:endParaRPr>
          </a:p>
        </p:txBody>
      </p:sp>
      <p:sp>
        <p:nvSpPr>
          <p:cNvPr id="8" name="Text Box 7"/>
          <p:cNvSpPr txBox="1"/>
          <p:nvPr/>
        </p:nvSpPr>
        <p:spPr>
          <a:xfrm>
            <a:off x="1816100" y="2667000"/>
            <a:ext cx="97282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Đối chiếu run ID, alert receipt và Airflow</a:t>
            </a:r>
            <a:endParaRPr lang="vi-VN" sz="2000">
              <a:solidFill>
                <a:srgbClr val="172F3C"/>
              </a:solidFill>
              <a:latin typeface="Segoe UI" panose="020B0502040204020203" charset="0"/>
              <a:cs typeface="Segoe UI" panose="020B0502040204020203" charset="0"/>
            </a:endParaRPr>
          </a:p>
        </p:txBody>
      </p:sp>
      <p:sp>
        <p:nvSpPr>
          <p:cNvPr id="9" name="Text Box 8"/>
          <p:cNvSpPr txBox="1"/>
          <p:nvPr/>
        </p:nvSpPr>
        <p:spPr>
          <a:xfrm>
            <a:off x="584200" y="3289300"/>
            <a:ext cx="965200" cy="276860"/>
          </a:xfrm>
          <a:prstGeom prst="rect">
            <a:avLst/>
          </a:prstGeom>
          <a:noFill/>
        </p:spPr>
        <p:txBody>
          <a:bodyPr wrap="square" lIns="0" tIns="0" rIns="0" bIns="0" rtlCol="0" anchor="t">
            <a:noAutofit/>
          </a:bodyPr>
          <a:p>
            <a:pPr indent="0">
              <a:spcAft>
                <a:spcPts val="700"/>
              </a:spcAft>
              <a:buNone/>
            </a:pPr>
            <a:r>
              <a:rPr lang="vi-VN" sz="3900" b="1">
                <a:solidFill>
                  <a:srgbClr val="BB542A"/>
                </a:solidFill>
                <a:latin typeface="Segoe UI" panose="020B0502040204020203" charset="0"/>
                <a:cs typeface="Segoe UI" panose="020B0502040204020203" charset="0"/>
              </a:rPr>
              <a:t>02</a:t>
            </a:r>
            <a:endParaRPr lang="vi-VN" sz="3900" b="1">
              <a:solidFill>
                <a:srgbClr val="BB542A"/>
              </a:solidFill>
              <a:latin typeface="Segoe UI" panose="020B0502040204020203" charset="0"/>
              <a:cs typeface="Segoe UI" panose="020B0502040204020203" charset="0"/>
            </a:endParaRPr>
          </a:p>
        </p:txBody>
      </p:sp>
      <p:sp>
        <p:nvSpPr>
          <p:cNvPr id="10" name="Text Box 9"/>
          <p:cNvSpPr txBox="1"/>
          <p:nvPr/>
        </p:nvSpPr>
        <p:spPr>
          <a:xfrm>
            <a:off x="1816100" y="3289300"/>
            <a:ext cx="9728200" cy="276860"/>
          </a:xfrm>
          <a:prstGeom prst="rect">
            <a:avLst/>
          </a:prstGeom>
          <a:noFill/>
        </p:spPr>
        <p:txBody>
          <a:bodyPr wrap="square" lIns="0" tIns="0" rIns="0" bIns="0" rtlCol="0" anchor="t">
            <a:noAutofit/>
          </a:bodyPr>
          <a:p>
            <a:pPr indent="0">
              <a:spcAft>
                <a:spcPts val="700"/>
              </a:spcAft>
              <a:buNone/>
            </a:pPr>
            <a:r>
              <a:rPr lang="vi-VN" sz="2700" b="1">
                <a:solidFill>
                  <a:srgbClr val="176E68"/>
                </a:solidFill>
                <a:latin typeface="Segoe UI" panose="020B0502040204020203" charset="0"/>
                <a:cs typeface="Segoe UI" panose="020B0502040204020203" charset="0"/>
              </a:rPr>
              <a:t>Quan sát các gate</a:t>
            </a:r>
            <a:endParaRPr lang="vi-VN" sz="2700" b="1">
              <a:solidFill>
                <a:srgbClr val="176E68"/>
              </a:solidFill>
              <a:latin typeface="Segoe UI" panose="020B0502040204020203" charset="0"/>
              <a:cs typeface="Segoe UI" panose="020B0502040204020203" charset="0"/>
            </a:endParaRPr>
          </a:p>
        </p:txBody>
      </p:sp>
      <p:sp>
        <p:nvSpPr>
          <p:cNvPr id="11" name="Text Box 10"/>
          <p:cNvSpPr txBox="1"/>
          <p:nvPr/>
        </p:nvSpPr>
        <p:spPr>
          <a:xfrm>
            <a:off x="1816100" y="3962400"/>
            <a:ext cx="97282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Offline, shadow rồi canary qua từng stage</a:t>
            </a:r>
            <a:endParaRPr lang="vi-VN" sz="2000">
              <a:solidFill>
                <a:srgbClr val="172F3C"/>
              </a:solidFill>
              <a:latin typeface="Segoe UI" panose="020B0502040204020203" charset="0"/>
              <a:cs typeface="Segoe UI" panose="020B0502040204020203" charset="0"/>
            </a:endParaRPr>
          </a:p>
        </p:txBody>
      </p:sp>
      <p:sp>
        <p:nvSpPr>
          <p:cNvPr id="12" name="Text Box 11"/>
          <p:cNvSpPr txBox="1"/>
          <p:nvPr/>
        </p:nvSpPr>
        <p:spPr>
          <a:xfrm>
            <a:off x="584200" y="4584700"/>
            <a:ext cx="965200" cy="276860"/>
          </a:xfrm>
          <a:prstGeom prst="rect">
            <a:avLst/>
          </a:prstGeom>
          <a:noFill/>
        </p:spPr>
        <p:txBody>
          <a:bodyPr wrap="square" lIns="0" tIns="0" rIns="0" bIns="0" rtlCol="0" anchor="t">
            <a:noAutofit/>
          </a:bodyPr>
          <a:p>
            <a:pPr indent="0">
              <a:spcAft>
                <a:spcPts val="700"/>
              </a:spcAft>
              <a:buNone/>
            </a:pPr>
            <a:r>
              <a:rPr lang="vi-VN" sz="3900" b="1">
                <a:solidFill>
                  <a:srgbClr val="BB542A"/>
                </a:solidFill>
                <a:latin typeface="Segoe UI" panose="020B0502040204020203" charset="0"/>
                <a:cs typeface="Segoe UI" panose="020B0502040204020203" charset="0"/>
              </a:rPr>
              <a:t>03</a:t>
            </a:r>
            <a:endParaRPr lang="vi-VN" sz="3900" b="1">
              <a:solidFill>
                <a:srgbClr val="BB542A"/>
              </a:solidFill>
              <a:latin typeface="Segoe UI" panose="020B0502040204020203" charset="0"/>
              <a:cs typeface="Segoe UI" panose="020B0502040204020203" charset="0"/>
            </a:endParaRPr>
          </a:p>
        </p:txBody>
      </p:sp>
      <p:sp>
        <p:nvSpPr>
          <p:cNvPr id="13" name="Text Box 12"/>
          <p:cNvSpPr txBox="1"/>
          <p:nvPr/>
        </p:nvSpPr>
        <p:spPr>
          <a:xfrm>
            <a:off x="1816100" y="4584700"/>
            <a:ext cx="9728200" cy="276860"/>
          </a:xfrm>
          <a:prstGeom prst="rect">
            <a:avLst/>
          </a:prstGeom>
          <a:noFill/>
        </p:spPr>
        <p:txBody>
          <a:bodyPr wrap="square" lIns="0" tIns="0" rIns="0" bIns="0" rtlCol="0" anchor="t">
            <a:noAutofit/>
          </a:bodyPr>
          <a:p>
            <a:pPr indent="0">
              <a:spcAft>
                <a:spcPts val="700"/>
              </a:spcAft>
              <a:buNone/>
            </a:pPr>
            <a:r>
              <a:rPr lang="vi-VN" sz="2700" b="1">
                <a:solidFill>
                  <a:srgbClr val="176E68"/>
                </a:solidFill>
                <a:latin typeface="Segoe UI" panose="020B0502040204020203" charset="0"/>
                <a:cs typeface="Segoe UI" panose="020B0502040204020203" charset="0"/>
              </a:rPr>
              <a:t>Kiểm tra bằng chứng</a:t>
            </a:r>
            <a:endParaRPr lang="vi-VN" sz="2700" b="1">
              <a:solidFill>
                <a:srgbClr val="176E68"/>
              </a:solidFill>
              <a:latin typeface="Segoe UI" panose="020B0502040204020203" charset="0"/>
              <a:cs typeface="Segoe UI" panose="020B0502040204020203" charset="0"/>
            </a:endParaRPr>
          </a:p>
        </p:txBody>
      </p:sp>
      <p:sp>
        <p:nvSpPr>
          <p:cNvPr id="14" name="Text Box 13"/>
          <p:cNvSpPr txBox="1"/>
          <p:nvPr/>
        </p:nvSpPr>
        <p:spPr>
          <a:xfrm>
            <a:off x="1816100" y="5257800"/>
            <a:ext cx="97282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Model version, routed counts và JSON report</a:t>
            </a:r>
            <a:endParaRPr lang="vi-VN" sz="2000">
              <a:solidFill>
                <a:srgbClr val="172F3C"/>
              </a:solidFill>
              <a:latin typeface="Segoe UI" panose="020B0502040204020203" charset="0"/>
              <a:cs typeface="Segoe UI" panose="020B0502040204020203"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Lượt promotion đã ghi nhận có traffic thực qua từng stage</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23</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Simulation Voice ngày 03/10/2026. Sau promotion: 200/200 probe dùng version 2</a:t>
            </a:r>
            <a:endParaRPr lang="vi-VN" sz="1200">
              <a:solidFill>
                <a:srgbClr val="526673"/>
              </a:solidFill>
              <a:latin typeface="Segoe UI" panose="020B0502040204020203" charset="0"/>
              <a:cs typeface="Segoe UI" panose="020B0502040204020203" charset="0"/>
            </a:endParaRPr>
          </a:p>
        </p:txBody>
      </p:sp>
      <p:graphicFrame>
        <p:nvGraphicFramePr>
          <p:cNvPr id="6" name="Table 5"/>
          <p:cNvGraphicFramePr/>
          <p:nvPr/>
        </p:nvGraphicFramePr>
        <p:xfrm>
          <a:off x="584200" y="1879600"/>
          <a:ext cx="11023600" cy="3911600"/>
        </p:xfrm>
        <a:graphic>
          <a:graphicData uri="http://schemas.openxmlformats.org/drawingml/2006/table">
            <a:tbl>
              <a:tblPr firstRow="1" bandRow="1">
                <a:tableStyleId>{5C22544A-7EE6-4342-B048-85BDC9FD1C3A}</a:tableStyleId>
              </a:tblPr>
              <a:tblGrid>
                <a:gridCol w="2921000"/>
                <a:gridCol w="4038600"/>
                <a:gridCol w="4064000"/>
              </a:tblGrid>
              <a:tr h="558800">
                <a:tc>
                  <a:txBody>
                    <a:bodyPr/>
                    <a:p>
                      <a:pPr indent="0">
                        <a:spcAft>
                          <a:spcPts val="0"/>
                        </a:spcAft>
                        <a:buNone/>
                      </a:pPr>
                      <a:r>
                        <a:rPr lang="vi-VN" sz="1900" b="1">
                          <a:solidFill>
                            <a:srgbClr val="FFFFFF"/>
                          </a:solidFill>
                          <a:latin typeface="Segoe UI" panose="020B0502040204020203" charset="0"/>
                          <a:cs typeface="Segoe UI" panose="020B0502040204020203" charset="0"/>
                        </a:rPr>
                        <a:t>Stage</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c>
                  <a:txBody>
                    <a:bodyPr/>
                    <a:p>
                      <a:pPr indent="0">
                        <a:spcAft>
                          <a:spcPts val="0"/>
                        </a:spcAft>
                        <a:buNone/>
                      </a:pPr>
                      <a:r>
                        <a:rPr lang="vi-VN" sz="1900" b="1">
                          <a:solidFill>
                            <a:srgbClr val="FFFFFF"/>
                          </a:solidFill>
                          <a:latin typeface="Segoe UI" panose="020B0502040204020203" charset="0"/>
                          <a:cs typeface="Segoe UI" panose="020B0502040204020203" charset="0"/>
                        </a:rPr>
                        <a:t>Request dùng challenger</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c>
                  <a:txBody>
                    <a:bodyPr/>
                    <a:p>
                      <a:pPr indent="0">
                        <a:spcAft>
                          <a:spcPts val="0"/>
                        </a:spcAft>
                        <a:buNone/>
                      </a:pPr>
                      <a:r>
                        <a:rPr lang="vi-VN" sz="1900" b="1">
                          <a:solidFill>
                            <a:srgbClr val="FFFFFF"/>
                          </a:solidFill>
                          <a:latin typeface="Segoe UI" panose="020B0502040204020203" charset="0"/>
                          <a:cs typeface="Segoe UI" panose="020B0502040204020203" charset="0"/>
                        </a:rPr>
                        <a:t>Tổng request</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Shadow</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0</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200</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Canary 5%</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13</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200</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Canary 10%</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22</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200</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Canary 25%</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57</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200</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Canary 50%</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99</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200</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Canary 100%</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200</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200</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Demo 2: lỗi canary phải dừng rollout</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24</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Kết quả lifecycle mong đợi: FAILED_CANARY. Đây là demo thành công của cơ chế chặn lỗi</a:t>
            </a:r>
            <a:endParaRPr lang="vi-VN" sz="1200">
              <a:solidFill>
                <a:srgbClr val="526673"/>
              </a:solidFill>
              <a:latin typeface="Segoe UI" panose="020B0502040204020203" charset="0"/>
              <a:cs typeface="Segoe UI" panose="020B0502040204020203" charset="0"/>
            </a:endParaRPr>
          </a:p>
        </p:txBody>
      </p:sp>
      <p:sp>
        <p:nvSpPr>
          <p:cNvPr id="6" name="Text Box 5"/>
          <p:cNvSpPr txBox="1"/>
          <p:nvPr/>
        </p:nvSpPr>
        <p:spPr>
          <a:xfrm>
            <a:off x="584200" y="1993900"/>
            <a:ext cx="965200" cy="276860"/>
          </a:xfrm>
          <a:prstGeom prst="rect">
            <a:avLst/>
          </a:prstGeom>
          <a:noFill/>
        </p:spPr>
        <p:txBody>
          <a:bodyPr wrap="square" lIns="0" tIns="0" rIns="0" bIns="0" rtlCol="0" anchor="t">
            <a:noAutofit/>
          </a:bodyPr>
          <a:p>
            <a:pPr indent="0">
              <a:spcAft>
                <a:spcPts val="700"/>
              </a:spcAft>
              <a:buNone/>
            </a:pPr>
            <a:r>
              <a:rPr lang="vi-VN" sz="3900" b="1">
                <a:solidFill>
                  <a:srgbClr val="BB542A"/>
                </a:solidFill>
                <a:latin typeface="Segoe UI" panose="020B0502040204020203" charset="0"/>
                <a:cs typeface="Segoe UI" panose="020B0502040204020203" charset="0"/>
              </a:rPr>
              <a:t>01</a:t>
            </a:r>
            <a:endParaRPr lang="vi-VN" sz="3900" b="1">
              <a:solidFill>
                <a:srgbClr val="BB542A"/>
              </a:solidFill>
              <a:latin typeface="Segoe UI" panose="020B0502040204020203" charset="0"/>
              <a:cs typeface="Segoe UI" panose="020B0502040204020203" charset="0"/>
            </a:endParaRPr>
          </a:p>
        </p:txBody>
      </p:sp>
      <p:sp>
        <p:nvSpPr>
          <p:cNvPr id="7" name="Text Box 6"/>
          <p:cNvSpPr txBox="1"/>
          <p:nvPr/>
        </p:nvSpPr>
        <p:spPr>
          <a:xfrm>
            <a:off x="1816100" y="1993900"/>
            <a:ext cx="9728200" cy="276860"/>
          </a:xfrm>
          <a:prstGeom prst="rect">
            <a:avLst/>
          </a:prstGeom>
          <a:noFill/>
        </p:spPr>
        <p:txBody>
          <a:bodyPr wrap="square" lIns="0" tIns="0" rIns="0" bIns="0" rtlCol="0" anchor="t">
            <a:noAutofit/>
          </a:bodyPr>
          <a:p>
            <a:pPr indent="0">
              <a:spcAft>
                <a:spcPts val="700"/>
              </a:spcAft>
              <a:buNone/>
            </a:pPr>
            <a:r>
              <a:rPr lang="vi-VN" sz="2700" b="1">
                <a:solidFill>
                  <a:srgbClr val="176E68"/>
                </a:solidFill>
                <a:latin typeface="Segoe UI" panose="020B0502040204020203" charset="0"/>
                <a:cs typeface="Segoe UI" panose="020B0502040204020203" charset="0"/>
              </a:rPr>
              <a:t>Khôi phục baseline demo</a:t>
            </a:r>
            <a:endParaRPr lang="vi-VN" sz="2700" b="1">
              <a:solidFill>
                <a:srgbClr val="176E68"/>
              </a:solidFill>
              <a:latin typeface="Segoe UI" panose="020B0502040204020203" charset="0"/>
              <a:cs typeface="Segoe UI" panose="020B0502040204020203" charset="0"/>
            </a:endParaRPr>
          </a:p>
        </p:txBody>
      </p:sp>
      <p:sp>
        <p:nvSpPr>
          <p:cNvPr id="8" name="Text Box 7"/>
          <p:cNvSpPr txBox="1"/>
          <p:nvPr/>
        </p:nvSpPr>
        <p:spPr>
          <a:xfrm>
            <a:off x="1816100" y="2667000"/>
            <a:ext cx="97282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Giữ history và audit</a:t>
            </a:r>
            <a:endParaRPr lang="vi-VN" sz="2000">
              <a:solidFill>
                <a:srgbClr val="172F3C"/>
              </a:solidFill>
              <a:latin typeface="Segoe UI" panose="020B0502040204020203" charset="0"/>
              <a:cs typeface="Segoe UI" panose="020B0502040204020203" charset="0"/>
            </a:endParaRPr>
          </a:p>
        </p:txBody>
      </p:sp>
      <p:sp>
        <p:nvSpPr>
          <p:cNvPr id="9" name="Text Box 8"/>
          <p:cNvSpPr txBox="1"/>
          <p:nvPr/>
        </p:nvSpPr>
        <p:spPr>
          <a:xfrm>
            <a:off x="584200" y="3289300"/>
            <a:ext cx="965200" cy="276860"/>
          </a:xfrm>
          <a:prstGeom prst="rect">
            <a:avLst/>
          </a:prstGeom>
          <a:noFill/>
        </p:spPr>
        <p:txBody>
          <a:bodyPr wrap="square" lIns="0" tIns="0" rIns="0" bIns="0" rtlCol="0" anchor="t">
            <a:noAutofit/>
          </a:bodyPr>
          <a:p>
            <a:pPr indent="0">
              <a:spcAft>
                <a:spcPts val="700"/>
              </a:spcAft>
              <a:buNone/>
            </a:pPr>
            <a:r>
              <a:rPr lang="vi-VN" sz="3900" b="1">
                <a:solidFill>
                  <a:srgbClr val="BB542A"/>
                </a:solidFill>
                <a:latin typeface="Segoe UI" panose="020B0502040204020203" charset="0"/>
                <a:cs typeface="Segoe UI" panose="020B0502040204020203" charset="0"/>
              </a:rPr>
              <a:t>02</a:t>
            </a:r>
            <a:endParaRPr lang="vi-VN" sz="3900" b="1">
              <a:solidFill>
                <a:srgbClr val="BB542A"/>
              </a:solidFill>
              <a:latin typeface="Segoe UI" panose="020B0502040204020203" charset="0"/>
              <a:cs typeface="Segoe UI" panose="020B0502040204020203" charset="0"/>
            </a:endParaRPr>
          </a:p>
        </p:txBody>
      </p:sp>
      <p:sp>
        <p:nvSpPr>
          <p:cNvPr id="10" name="Text Box 9"/>
          <p:cNvSpPr txBox="1"/>
          <p:nvPr/>
        </p:nvSpPr>
        <p:spPr>
          <a:xfrm>
            <a:off x="1816100" y="3289300"/>
            <a:ext cx="9728200" cy="276860"/>
          </a:xfrm>
          <a:prstGeom prst="rect">
            <a:avLst/>
          </a:prstGeom>
          <a:noFill/>
        </p:spPr>
        <p:txBody>
          <a:bodyPr wrap="square" lIns="0" tIns="0" rIns="0" bIns="0" rtlCol="0" anchor="t">
            <a:noAutofit/>
          </a:bodyPr>
          <a:p>
            <a:pPr indent="0">
              <a:spcAft>
                <a:spcPts val="700"/>
              </a:spcAft>
              <a:buNone/>
            </a:pPr>
            <a:r>
              <a:rPr lang="vi-VN" sz="2700" b="1">
                <a:solidFill>
                  <a:srgbClr val="176E68"/>
                </a:solidFill>
                <a:latin typeface="Segoe UI" panose="020B0502040204020203" charset="0"/>
                <a:cs typeface="Segoe UI" panose="020B0502040204020203" charset="0"/>
              </a:rPr>
              <a:t>Chọn Face, bấm Canary lỗi → rollback</a:t>
            </a:r>
            <a:endParaRPr lang="vi-VN" sz="2700" b="1">
              <a:solidFill>
                <a:srgbClr val="176E68"/>
              </a:solidFill>
              <a:latin typeface="Segoe UI" panose="020B0502040204020203" charset="0"/>
              <a:cs typeface="Segoe UI" panose="020B0502040204020203" charset="0"/>
            </a:endParaRPr>
          </a:p>
        </p:txBody>
      </p:sp>
      <p:sp>
        <p:nvSpPr>
          <p:cNvPr id="11" name="Text Box 10"/>
          <p:cNvSpPr txBox="1"/>
          <p:nvPr/>
        </p:nvSpPr>
        <p:spPr>
          <a:xfrm>
            <a:off x="1816100" y="3962400"/>
            <a:ext cx="97282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Kịch bản tiêm impostor score cao ở 25%</a:t>
            </a:r>
            <a:endParaRPr lang="vi-VN" sz="2000">
              <a:solidFill>
                <a:srgbClr val="172F3C"/>
              </a:solidFill>
              <a:latin typeface="Segoe UI" panose="020B0502040204020203" charset="0"/>
              <a:cs typeface="Segoe UI" panose="020B0502040204020203" charset="0"/>
            </a:endParaRPr>
          </a:p>
        </p:txBody>
      </p:sp>
      <p:sp>
        <p:nvSpPr>
          <p:cNvPr id="12" name="Text Box 11"/>
          <p:cNvSpPr txBox="1"/>
          <p:nvPr/>
        </p:nvSpPr>
        <p:spPr>
          <a:xfrm>
            <a:off x="584200" y="4584700"/>
            <a:ext cx="965200" cy="276860"/>
          </a:xfrm>
          <a:prstGeom prst="rect">
            <a:avLst/>
          </a:prstGeom>
          <a:noFill/>
        </p:spPr>
        <p:txBody>
          <a:bodyPr wrap="square" lIns="0" tIns="0" rIns="0" bIns="0" rtlCol="0" anchor="t">
            <a:noAutofit/>
          </a:bodyPr>
          <a:p>
            <a:pPr indent="0">
              <a:spcAft>
                <a:spcPts val="700"/>
              </a:spcAft>
              <a:buNone/>
            </a:pPr>
            <a:r>
              <a:rPr lang="vi-VN" sz="3900" b="1">
                <a:solidFill>
                  <a:srgbClr val="BB542A"/>
                </a:solidFill>
                <a:latin typeface="Segoe UI" panose="020B0502040204020203" charset="0"/>
                <a:cs typeface="Segoe UI" panose="020B0502040204020203" charset="0"/>
              </a:rPr>
              <a:t>03</a:t>
            </a:r>
            <a:endParaRPr lang="vi-VN" sz="3900" b="1">
              <a:solidFill>
                <a:srgbClr val="BB542A"/>
              </a:solidFill>
              <a:latin typeface="Segoe UI" panose="020B0502040204020203" charset="0"/>
              <a:cs typeface="Segoe UI" panose="020B0502040204020203" charset="0"/>
            </a:endParaRPr>
          </a:p>
        </p:txBody>
      </p:sp>
      <p:sp>
        <p:nvSpPr>
          <p:cNvPr id="13" name="Text Box 12"/>
          <p:cNvSpPr txBox="1"/>
          <p:nvPr/>
        </p:nvSpPr>
        <p:spPr>
          <a:xfrm>
            <a:off x="1816100" y="4584700"/>
            <a:ext cx="9728200" cy="276860"/>
          </a:xfrm>
          <a:prstGeom prst="rect">
            <a:avLst/>
          </a:prstGeom>
          <a:noFill/>
        </p:spPr>
        <p:txBody>
          <a:bodyPr wrap="square" lIns="0" tIns="0" rIns="0" bIns="0" rtlCol="0" anchor="t">
            <a:noAutofit/>
          </a:bodyPr>
          <a:p>
            <a:pPr indent="0">
              <a:spcAft>
                <a:spcPts val="700"/>
              </a:spcAft>
              <a:buNone/>
            </a:pPr>
            <a:r>
              <a:rPr lang="vi-VN" sz="2700" b="1">
                <a:solidFill>
                  <a:srgbClr val="176E68"/>
                </a:solidFill>
                <a:latin typeface="Segoe UI" panose="020B0502040204020203" charset="0"/>
                <a:cs typeface="Segoe UI" panose="020B0502040204020203" charset="0"/>
              </a:rPr>
              <a:t>Đối chiếu sau rollback</a:t>
            </a:r>
            <a:endParaRPr lang="vi-VN" sz="2700" b="1">
              <a:solidFill>
                <a:srgbClr val="176E68"/>
              </a:solidFill>
              <a:latin typeface="Segoe UI" panose="020B0502040204020203" charset="0"/>
              <a:cs typeface="Segoe UI" panose="020B0502040204020203" charset="0"/>
            </a:endParaRPr>
          </a:p>
        </p:txBody>
      </p:sp>
      <p:sp>
        <p:nvSpPr>
          <p:cNvPr id="14" name="Text Box 13"/>
          <p:cNvSpPr txBox="1"/>
          <p:nvPr/>
        </p:nvSpPr>
        <p:spPr>
          <a:xfrm>
            <a:off x="1816100" y="5257800"/>
            <a:ext cx="97282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Champion giữ nguyên, challenger traffic về 0</a:t>
            </a:r>
            <a:endParaRPr lang="vi-VN" sz="2000">
              <a:solidFill>
                <a:srgbClr val="172F3C"/>
              </a:solidFill>
              <a:latin typeface="Segoe UI" panose="020B0502040204020203" charset="0"/>
              <a:cs typeface="Segoe UI" panose="020B0502040204020203"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Rollback giữ lại model ổn định và bằng chứng thất bại</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25</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Simulation Face ngày 03/10/2026. Production policies trước và sau hai demo không đổi</a:t>
            </a:r>
            <a:endParaRPr lang="vi-VN" sz="1200">
              <a:solidFill>
                <a:srgbClr val="526673"/>
              </a:solidFill>
              <a:latin typeface="Segoe UI" panose="020B0502040204020203" charset="0"/>
              <a:cs typeface="Segoe UI" panose="020B0502040204020203" charset="0"/>
            </a:endParaRPr>
          </a:p>
        </p:txBody>
      </p:sp>
      <p:sp>
        <p:nvSpPr>
          <p:cNvPr id="6" name="Text Box 5"/>
          <p:cNvSpPr txBox="1"/>
          <p:nvPr/>
        </p:nvSpPr>
        <p:spPr>
          <a:xfrm>
            <a:off x="584200" y="2044700"/>
            <a:ext cx="4495800" cy="276860"/>
          </a:xfrm>
          <a:prstGeom prst="rect">
            <a:avLst/>
          </a:prstGeom>
          <a:noFill/>
        </p:spPr>
        <p:txBody>
          <a:bodyPr wrap="square" lIns="0" tIns="0" rIns="0" bIns="0" rtlCol="0" anchor="t">
            <a:noAutofit/>
          </a:bodyPr>
          <a:p>
            <a:pPr indent="0">
              <a:spcAft>
                <a:spcPts val="700"/>
              </a:spcAft>
              <a:buNone/>
            </a:pPr>
            <a:r>
              <a:rPr lang="vi-VN" sz="5900" b="1">
                <a:solidFill>
                  <a:srgbClr val="BB542A"/>
                </a:solidFill>
                <a:latin typeface="Segoe UI" panose="020B0502040204020203" charset="0"/>
                <a:cs typeface="Segoe UI" panose="020B0502040204020203" charset="0"/>
              </a:rPr>
              <a:t>25%</a:t>
            </a:r>
            <a:endParaRPr lang="vi-VN" sz="5900" b="1">
              <a:solidFill>
                <a:srgbClr val="BB542A"/>
              </a:solidFill>
              <a:latin typeface="Segoe UI" panose="020B0502040204020203" charset="0"/>
              <a:cs typeface="Segoe UI" panose="020B0502040204020203" charset="0"/>
            </a:endParaRPr>
          </a:p>
        </p:txBody>
      </p:sp>
      <p:sp>
        <p:nvSpPr>
          <p:cNvPr id="7" name="Text Box 6"/>
          <p:cNvSpPr txBox="1"/>
          <p:nvPr/>
        </p:nvSpPr>
        <p:spPr>
          <a:xfrm>
            <a:off x="584200" y="3238500"/>
            <a:ext cx="4495800" cy="276860"/>
          </a:xfrm>
          <a:prstGeom prst="rect">
            <a:avLst/>
          </a:prstGeom>
          <a:noFill/>
        </p:spPr>
        <p:txBody>
          <a:bodyPr wrap="square" lIns="0" tIns="0" rIns="0" bIns="0" rtlCol="0" anchor="t">
            <a:noAutofit/>
          </a:bodyPr>
          <a:p>
            <a:pPr indent="0">
              <a:spcAft>
                <a:spcPts val="700"/>
              </a:spcAft>
              <a:buNone/>
            </a:pPr>
            <a:r>
              <a:rPr lang="vi-VN" sz="2300">
                <a:solidFill>
                  <a:srgbClr val="172F3C"/>
                </a:solidFill>
                <a:latin typeface="Segoe UI" panose="020B0502040204020203" charset="0"/>
                <a:cs typeface="Segoe UI" panose="020B0502040204020203" charset="0"/>
              </a:rPr>
              <a:t>Stage phát hiện regression</a:t>
            </a:r>
            <a:endParaRPr lang="vi-VN" sz="2300">
              <a:solidFill>
                <a:srgbClr val="172F3C"/>
              </a:solidFill>
              <a:latin typeface="Segoe UI" panose="020B0502040204020203" charset="0"/>
              <a:cs typeface="Segoe UI" panose="020B0502040204020203" charset="0"/>
            </a:endParaRPr>
          </a:p>
        </p:txBody>
      </p:sp>
      <p:sp>
        <p:nvSpPr>
          <p:cNvPr id="8" name="Text Box 7"/>
          <p:cNvSpPr txBox="1"/>
          <p:nvPr/>
        </p:nvSpPr>
        <p:spPr>
          <a:xfrm>
            <a:off x="584200" y="4102100"/>
            <a:ext cx="4622800" cy="276860"/>
          </a:xfrm>
          <a:prstGeom prst="rect">
            <a:avLst/>
          </a:prstGeom>
          <a:noFill/>
        </p:spPr>
        <p:txBody>
          <a:bodyPr wrap="square" lIns="0" tIns="0" rIns="0" bIns="0" rtlCol="0" anchor="t">
            <a:noAutofit/>
          </a:bodyPr>
          <a:p>
            <a:pPr indent="0">
              <a:spcAft>
                <a:spcPts val="700"/>
              </a:spcAft>
              <a:buNone/>
            </a:pPr>
            <a:r>
              <a:rPr lang="vi-VN" sz="4800" b="1">
                <a:solidFill>
                  <a:srgbClr val="176E68"/>
                </a:solidFill>
                <a:latin typeface="Segoe UI" panose="020B0502040204020203" charset="0"/>
                <a:cs typeface="Segoe UI" panose="020B0502040204020203" charset="0"/>
              </a:rPr>
              <a:t>200 / 200</a:t>
            </a:r>
            <a:endParaRPr lang="vi-VN" sz="4800" b="1">
              <a:solidFill>
                <a:srgbClr val="176E68"/>
              </a:solidFill>
              <a:latin typeface="Segoe UI" panose="020B0502040204020203" charset="0"/>
              <a:cs typeface="Segoe UI" panose="020B0502040204020203" charset="0"/>
            </a:endParaRPr>
          </a:p>
        </p:txBody>
      </p:sp>
      <p:sp>
        <p:nvSpPr>
          <p:cNvPr id="9" name="Text Box 8"/>
          <p:cNvSpPr txBox="1"/>
          <p:nvPr/>
        </p:nvSpPr>
        <p:spPr>
          <a:xfrm>
            <a:off x="584200" y="5105400"/>
            <a:ext cx="4622800" cy="276860"/>
          </a:xfrm>
          <a:prstGeom prst="rect">
            <a:avLst/>
          </a:prstGeom>
          <a:noFill/>
        </p:spPr>
        <p:txBody>
          <a:bodyPr wrap="square" lIns="0" tIns="0" rIns="0" bIns="0" rtlCol="0" anchor="t">
            <a:noAutofit/>
          </a:bodyPr>
          <a:p>
            <a:pPr indent="0">
              <a:spcAft>
                <a:spcPts val="700"/>
              </a:spcAft>
              <a:buNone/>
            </a:pPr>
            <a:r>
              <a:rPr lang="vi-VN" sz="2100">
                <a:solidFill>
                  <a:srgbClr val="172F3C"/>
                </a:solidFill>
                <a:latin typeface="Segoe UI" panose="020B0502040204020203" charset="0"/>
                <a:cs typeface="Segoe UI" panose="020B0502040204020203" charset="0"/>
              </a:rPr>
              <a:t>Probe sau rollback dùng version 1</a:t>
            </a:r>
            <a:endParaRPr lang="vi-VN" sz="2100">
              <a:solidFill>
                <a:srgbClr val="172F3C"/>
              </a:solidFill>
              <a:latin typeface="Segoe UI" panose="020B0502040204020203" charset="0"/>
              <a:cs typeface="Segoe UI" panose="020B0502040204020203" charset="0"/>
            </a:endParaRPr>
          </a:p>
        </p:txBody>
      </p:sp>
      <p:sp>
        <p:nvSpPr>
          <p:cNvPr id="10" name="Text Box 9"/>
          <p:cNvSpPr txBox="1"/>
          <p:nvPr/>
        </p:nvSpPr>
        <p:spPr>
          <a:xfrm>
            <a:off x="6057900" y="2692400"/>
            <a:ext cx="5334000" cy="276860"/>
          </a:xfrm>
          <a:prstGeom prst="rect">
            <a:avLst/>
          </a:prstGeom>
          <a:noFill/>
        </p:spPr>
        <p:txBody>
          <a:bodyPr wrap="square" lIns="0" tIns="0" rIns="0" bIns="0" rtlCol="0" anchor="t">
            <a:noAutofit/>
          </a:bodyPr>
          <a:p>
            <a:pPr indent="0">
              <a:spcAft>
                <a:spcPts val="700"/>
              </a:spcAft>
              <a:buNone/>
            </a:pPr>
            <a:r>
              <a:rPr lang="vi-VN" sz="2700" b="1">
                <a:solidFill>
                  <a:srgbClr val="172F3C"/>
                </a:solidFill>
                <a:latin typeface="Segoe UI" panose="020B0502040204020203" charset="0"/>
                <a:cs typeface="Segoe UI" panose="020B0502040204020203" charset="0"/>
              </a:rPr>
              <a:t>Champion giữ nguyên
Challenger traffic = 0
Model lỗi và audit được giữ lại</a:t>
            </a:r>
            <a:endParaRPr lang="vi-VN" sz="2700" b="1">
              <a:solidFill>
                <a:srgbClr val="172F3C"/>
              </a:solidFill>
              <a:latin typeface="Segoe UI" panose="020B0502040204020203" charset="0"/>
              <a:cs typeface="Segoe UI" panose="020B0502040204020203"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Kết thúc demo: phục hồi baseline và giữ audit</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26</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Demo riêng 10–15 phút. Runbook thao tác chi tiết: DEMO_RUNBOOK.md</a:t>
            </a:r>
            <a:endParaRPr lang="vi-VN" sz="1200">
              <a:solidFill>
                <a:srgbClr val="526673"/>
              </a:solidFill>
              <a:latin typeface="Segoe UI" panose="020B0502040204020203" charset="0"/>
              <a:cs typeface="Segoe UI" panose="020B0502040204020203" charset="0"/>
            </a:endParaRPr>
          </a:p>
        </p:txBody>
      </p:sp>
      <p:sp>
        <p:nvSpPr>
          <p:cNvPr id="6" name="Text Box 5"/>
          <p:cNvSpPr txBox="1"/>
          <p:nvPr/>
        </p:nvSpPr>
        <p:spPr>
          <a:xfrm>
            <a:off x="584200" y="1993900"/>
            <a:ext cx="965200" cy="276860"/>
          </a:xfrm>
          <a:prstGeom prst="rect">
            <a:avLst/>
          </a:prstGeom>
          <a:noFill/>
        </p:spPr>
        <p:txBody>
          <a:bodyPr wrap="square" lIns="0" tIns="0" rIns="0" bIns="0" rtlCol="0" anchor="t">
            <a:noAutofit/>
          </a:bodyPr>
          <a:p>
            <a:pPr indent="0">
              <a:spcAft>
                <a:spcPts val="700"/>
              </a:spcAft>
              <a:buNone/>
            </a:pPr>
            <a:r>
              <a:rPr lang="vi-VN" sz="3900" b="1">
                <a:solidFill>
                  <a:srgbClr val="BB542A"/>
                </a:solidFill>
                <a:latin typeface="Segoe UI" panose="020B0502040204020203" charset="0"/>
                <a:cs typeface="Segoe UI" panose="020B0502040204020203" charset="0"/>
              </a:rPr>
              <a:t>01</a:t>
            </a:r>
            <a:endParaRPr lang="vi-VN" sz="3900" b="1">
              <a:solidFill>
                <a:srgbClr val="BB542A"/>
              </a:solidFill>
              <a:latin typeface="Segoe UI" panose="020B0502040204020203" charset="0"/>
              <a:cs typeface="Segoe UI" panose="020B0502040204020203" charset="0"/>
            </a:endParaRPr>
          </a:p>
        </p:txBody>
      </p:sp>
      <p:sp>
        <p:nvSpPr>
          <p:cNvPr id="7" name="Text Box 6"/>
          <p:cNvSpPr txBox="1"/>
          <p:nvPr/>
        </p:nvSpPr>
        <p:spPr>
          <a:xfrm>
            <a:off x="1816100" y="1993900"/>
            <a:ext cx="9728200" cy="276860"/>
          </a:xfrm>
          <a:prstGeom prst="rect">
            <a:avLst/>
          </a:prstGeom>
          <a:noFill/>
        </p:spPr>
        <p:txBody>
          <a:bodyPr wrap="square" lIns="0" tIns="0" rIns="0" bIns="0" rtlCol="0" anchor="t">
            <a:noAutofit/>
          </a:bodyPr>
          <a:p>
            <a:pPr indent="0">
              <a:spcAft>
                <a:spcPts val="700"/>
              </a:spcAft>
              <a:buNone/>
            </a:pPr>
            <a:r>
              <a:rPr lang="vi-VN" sz="2700" b="1">
                <a:solidFill>
                  <a:srgbClr val="176E68"/>
                </a:solidFill>
                <a:latin typeface="Segoe UI" panose="020B0502040204020203" charset="0"/>
                <a:cs typeface="Segoe UI" panose="020B0502040204020203" charset="0"/>
              </a:rPr>
              <a:t>Bấm Khôi phục baseline demo</a:t>
            </a:r>
            <a:endParaRPr lang="vi-VN" sz="2700" b="1">
              <a:solidFill>
                <a:srgbClr val="176E68"/>
              </a:solidFill>
              <a:latin typeface="Segoe UI" panose="020B0502040204020203" charset="0"/>
              <a:cs typeface="Segoe UI" panose="020B0502040204020203" charset="0"/>
            </a:endParaRPr>
          </a:p>
        </p:txBody>
      </p:sp>
      <p:sp>
        <p:nvSpPr>
          <p:cNvPr id="8" name="Text Box 7"/>
          <p:cNvSpPr txBox="1"/>
          <p:nvPr/>
        </p:nvSpPr>
        <p:spPr>
          <a:xfrm>
            <a:off x="1816100" y="2667000"/>
            <a:ext cx="97282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Đợi trạng thái reset được xác nhận</a:t>
            </a:r>
            <a:endParaRPr lang="vi-VN" sz="2000">
              <a:solidFill>
                <a:srgbClr val="172F3C"/>
              </a:solidFill>
              <a:latin typeface="Segoe UI" panose="020B0502040204020203" charset="0"/>
              <a:cs typeface="Segoe UI" panose="020B0502040204020203" charset="0"/>
            </a:endParaRPr>
          </a:p>
        </p:txBody>
      </p:sp>
      <p:sp>
        <p:nvSpPr>
          <p:cNvPr id="9" name="Text Box 8"/>
          <p:cNvSpPr txBox="1"/>
          <p:nvPr/>
        </p:nvSpPr>
        <p:spPr>
          <a:xfrm>
            <a:off x="584200" y="3289300"/>
            <a:ext cx="965200" cy="276860"/>
          </a:xfrm>
          <a:prstGeom prst="rect">
            <a:avLst/>
          </a:prstGeom>
          <a:noFill/>
        </p:spPr>
        <p:txBody>
          <a:bodyPr wrap="square" lIns="0" tIns="0" rIns="0" bIns="0" rtlCol="0" anchor="t">
            <a:noAutofit/>
          </a:bodyPr>
          <a:p>
            <a:pPr indent="0">
              <a:spcAft>
                <a:spcPts val="700"/>
              </a:spcAft>
              <a:buNone/>
            </a:pPr>
            <a:r>
              <a:rPr lang="vi-VN" sz="3900" b="1">
                <a:solidFill>
                  <a:srgbClr val="BB542A"/>
                </a:solidFill>
                <a:latin typeface="Segoe UI" panose="020B0502040204020203" charset="0"/>
                <a:cs typeface="Segoe UI" panose="020B0502040204020203" charset="0"/>
              </a:rPr>
              <a:t>02</a:t>
            </a:r>
            <a:endParaRPr lang="vi-VN" sz="3900" b="1">
              <a:solidFill>
                <a:srgbClr val="BB542A"/>
              </a:solidFill>
              <a:latin typeface="Segoe UI" panose="020B0502040204020203" charset="0"/>
              <a:cs typeface="Segoe UI" panose="020B0502040204020203" charset="0"/>
            </a:endParaRPr>
          </a:p>
        </p:txBody>
      </p:sp>
      <p:sp>
        <p:nvSpPr>
          <p:cNvPr id="10" name="Text Box 9"/>
          <p:cNvSpPr txBox="1"/>
          <p:nvPr/>
        </p:nvSpPr>
        <p:spPr>
          <a:xfrm>
            <a:off x="1816100" y="3289300"/>
            <a:ext cx="9728200" cy="276860"/>
          </a:xfrm>
          <a:prstGeom prst="rect">
            <a:avLst/>
          </a:prstGeom>
          <a:noFill/>
        </p:spPr>
        <p:txBody>
          <a:bodyPr wrap="square" lIns="0" tIns="0" rIns="0" bIns="0" rtlCol="0" anchor="t">
            <a:noAutofit/>
          </a:bodyPr>
          <a:p>
            <a:pPr indent="0">
              <a:spcAft>
                <a:spcPts val="700"/>
              </a:spcAft>
              <a:buNone/>
            </a:pPr>
            <a:r>
              <a:rPr lang="vi-VN" sz="2700" b="1">
                <a:solidFill>
                  <a:srgbClr val="176E68"/>
                </a:solidFill>
                <a:latin typeface="Segoe UI" panose="020B0502040204020203" charset="0"/>
                <a:cs typeface="Segoe UI" panose="020B0502040204020203" charset="0"/>
              </a:rPr>
              <a:t>Giữ evidence của hai kịch bản</a:t>
            </a:r>
            <a:endParaRPr lang="vi-VN" sz="2700" b="1">
              <a:solidFill>
                <a:srgbClr val="176E68"/>
              </a:solidFill>
              <a:latin typeface="Segoe UI" panose="020B0502040204020203" charset="0"/>
              <a:cs typeface="Segoe UI" panose="020B0502040204020203" charset="0"/>
            </a:endParaRPr>
          </a:p>
        </p:txBody>
      </p:sp>
      <p:sp>
        <p:nvSpPr>
          <p:cNvPr id="11" name="Text Box 10"/>
          <p:cNvSpPr txBox="1"/>
          <p:nvPr/>
        </p:nvSpPr>
        <p:spPr>
          <a:xfrm>
            <a:off x="1816100" y="3962400"/>
            <a:ext cx="97282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Run ID, version, gates và probes</a:t>
            </a:r>
            <a:endParaRPr lang="vi-VN" sz="2000">
              <a:solidFill>
                <a:srgbClr val="172F3C"/>
              </a:solidFill>
              <a:latin typeface="Segoe UI" panose="020B0502040204020203" charset="0"/>
              <a:cs typeface="Segoe UI" panose="020B0502040204020203" charset="0"/>
            </a:endParaRPr>
          </a:p>
        </p:txBody>
      </p:sp>
      <p:sp>
        <p:nvSpPr>
          <p:cNvPr id="12" name="Text Box 11"/>
          <p:cNvSpPr txBox="1"/>
          <p:nvPr/>
        </p:nvSpPr>
        <p:spPr>
          <a:xfrm>
            <a:off x="584200" y="4584700"/>
            <a:ext cx="965200" cy="276860"/>
          </a:xfrm>
          <a:prstGeom prst="rect">
            <a:avLst/>
          </a:prstGeom>
          <a:noFill/>
        </p:spPr>
        <p:txBody>
          <a:bodyPr wrap="square" lIns="0" tIns="0" rIns="0" bIns="0" rtlCol="0" anchor="t">
            <a:noAutofit/>
          </a:bodyPr>
          <a:p>
            <a:pPr indent="0">
              <a:spcAft>
                <a:spcPts val="700"/>
              </a:spcAft>
              <a:buNone/>
            </a:pPr>
            <a:r>
              <a:rPr lang="vi-VN" sz="3900" b="1">
                <a:solidFill>
                  <a:srgbClr val="BB542A"/>
                </a:solidFill>
                <a:latin typeface="Segoe UI" panose="020B0502040204020203" charset="0"/>
                <a:cs typeface="Segoe UI" panose="020B0502040204020203" charset="0"/>
              </a:rPr>
              <a:t>03</a:t>
            </a:r>
            <a:endParaRPr lang="vi-VN" sz="3900" b="1">
              <a:solidFill>
                <a:srgbClr val="BB542A"/>
              </a:solidFill>
              <a:latin typeface="Segoe UI" panose="020B0502040204020203" charset="0"/>
              <a:cs typeface="Segoe UI" panose="020B0502040204020203" charset="0"/>
            </a:endParaRPr>
          </a:p>
        </p:txBody>
      </p:sp>
      <p:sp>
        <p:nvSpPr>
          <p:cNvPr id="13" name="Text Box 12"/>
          <p:cNvSpPr txBox="1"/>
          <p:nvPr/>
        </p:nvSpPr>
        <p:spPr>
          <a:xfrm>
            <a:off x="1816100" y="4584700"/>
            <a:ext cx="9728200" cy="276860"/>
          </a:xfrm>
          <a:prstGeom prst="rect">
            <a:avLst/>
          </a:prstGeom>
          <a:noFill/>
        </p:spPr>
        <p:txBody>
          <a:bodyPr wrap="square" lIns="0" tIns="0" rIns="0" bIns="0" rtlCol="0" anchor="t">
            <a:noAutofit/>
          </a:bodyPr>
          <a:p>
            <a:pPr indent="0">
              <a:spcAft>
                <a:spcPts val="700"/>
              </a:spcAft>
              <a:buNone/>
            </a:pPr>
            <a:r>
              <a:rPr lang="vi-VN" sz="2700" b="1">
                <a:solidFill>
                  <a:srgbClr val="176E68"/>
                </a:solidFill>
                <a:latin typeface="Segoe UI" panose="020B0502040204020203" charset="0"/>
                <a:cs typeface="Segoe UI" panose="020B0502040204020203" charset="0"/>
              </a:rPr>
              <a:t>Đối chiếu production policy</a:t>
            </a:r>
            <a:endParaRPr lang="vi-VN" sz="2700" b="1">
              <a:solidFill>
                <a:srgbClr val="176E68"/>
              </a:solidFill>
              <a:latin typeface="Segoe UI" panose="020B0502040204020203" charset="0"/>
              <a:cs typeface="Segoe UI" panose="020B0502040204020203" charset="0"/>
            </a:endParaRPr>
          </a:p>
        </p:txBody>
      </p:sp>
      <p:sp>
        <p:nvSpPr>
          <p:cNvPr id="14" name="Text Box 13"/>
          <p:cNvSpPr txBox="1"/>
          <p:nvPr/>
        </p:nvSpPr>
        <p:spPr>
          <a:xfrm>
            <a:off x="1816100" y="5257800"/>
            <a:ext cx="97282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So snapshot trước/sau nếu đã chuẩn bị</a:t>
            </a:r>
            <a:endParaRPr lang="vi-VN" sz="2000">
              <a:solidFill>
                <a:srgbClr val="172F3C"/>
              </a:solidFill>
              <a:latin typeface="Segoe UI" panose="020B0502040204020203" charset="0"/>
              <a:cs typeface="Segoe UI" panose="020B0502040204020203"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Trao đổi và phản biện</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27</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10 phút Q&amp;A. Ưu tiên câu hỏi từ giảng viên, mỗi câu trả lời 60–90 giây</a:t>
            </a:r>
            <a:endParaRPr lang="vi-VN" sz="1200">
              <a:solidFill>
                <a:srgbClr val="526673"/>
              </a:solidFill>
              <a:latin typeface="Segoe UI" panose="020B0502040204020203" charset="0"/>
              <a:cs typeface="Segoe UI" panose="020B0502040204020203" charset="0"/>
            </a:endParaRPr>
          </a:p>
        </p:txBody>
      </p:sp>
      <p:sp>
        <p:nvSpPr>
          <p:cNvPr id="6" name="Text Box 5"/>
          <p:cNvSpPr txBox="1"/>
          <p:nvPr/>
        </p:nvSpPr>
        <p:spPr>
          <a:xfrm>
            <a:off x="596900" y="2362200"/>
            <a:ext cx="10820400" cy="276860"/>
          </a:xfrm>
          <a:prstGeom prst="rect">
            <a:avLst/>
          </a:prstGeom>
          <a:noFill/>
        </p:spPr>
        <p:txBody>
          <a:bodyPr wrap="square" lIns="0" tIns="0" rIns="0" bIns="0" rtlCol="0" anchor="t">
            <a:noAutofit/>
          </a:bodyPr>
          <a:p>
            <a:pPr indent="0">
              <a:spcAft>
                <a:spcPts val="700"/>
              </a:spcAft>
              <a:buNone/>
            </a:pPr>
            <a:r>
              <a:rPr lang="vi-VN" sz="3100">
                <a:solidFill>
                  <a:srgbClr val="176E68"/>
                </a:solidFill>
                <a:latin typeface="Segoe UI" panose="020B0502040204020203" charset="0"/>
                <a:cs typeface="Segoe UI" panose="020B0502040204020203" charset="0"/>
              </a:rPr>
              <a:t>Drift và độ tin cậy của nhãn</a:t>
            </a:r>
            <a:endParaRPr lang="vi-VN" sz="3100">
              <a:solidFill>
                <a:srgbClr val="176E68"/>
              </a:solidFill>
              <a:latin typeface="Segoe UI" panose="020B0502040204020203" charset="0"/>
              <a:cs typeface="Segoe UI" panose="020B0502040204020203" charset="0"/>
            </a:endParaRPr>
          </a:p>
        </p:txBody>
      </p:sp>
      <p:sp>
        <p:nvSpPr>
          <p:cNvPr id="7" name="Text Box 6"/>
          <p:cNvSpPr txBox="1"/>
          <p:nvPr/>
        </p:nvSpPr>
        <p:spPr>
          <a:xfrm>
            <a:off x="596900" y="3429000"/>
            <a:ext cx="10820400" cy="276860"/>
          </a:xfrm>
          <a:prstGeom prst="rect">
            <a:avLst/>
          </a:prstGeom>
          <a:noFill/>
        </p:spPr>
        <p:txBody>
          <a:bodyPr wrap="square" lIns="0" tIns="0" rIns="0" bIns="0" rtlCol="0" anchor="t">
            <a:noAutofit/>
          </a:bodyPr>
          <a:p>
            <a:pPr indent="0">
              <a:spcAft>
                <a:spcPts val="700"/>
              </a:spcAft>
              <a:buNone/>
            </a:pPr>
            <a:r>
              <a:rPr lang="vi-VN" sz="3100">
                <a:solidFill>
                  <a:srgbClr val="176E68"/>
                </a:solidFill>
                <a:latin typeface="Segoe UI" panose="020B0502040204020203" charset="0"/>
                <a:cs typeface="Segoe UI" panose="020B0502040204020203" charset="0"/>
              </a:rPr>
              <a:t>Champion, canary và rollback</a:t>
            </a:r>
            <a:endParaRPr lang="vi-VN" sz="3100">
              <a:solidFill>
                <a:srgbClr val="176E68"/>
              </a:solidFill>
              <a:latin typeface="Segoe UI" panose="020B0502040204020203" charset="0"/>
              <a:cs typeface="Segoe UI" panose="020B0502040204020203" charset="0"/>
            </a:endParaRPr>
          </a:p>
        </p:txBody>
      </p:sp>
      <p:sp>
        <p:nvSpPr>
          <p:cNvPr id="8" name="Text Box 7"/>
          <p:cNvSpPr txBox="1"/>
          <p:nvPr/>
        </p:nvSpPr>
        <p:spPr>
          <a:xfrm>
            <a:off x="596900" y="4495800"/>
            <a:ext cx="10820400" cy="276860"/>
          </a:xfrm>
          <a:prstGeom prst="rect">
            <a:avLst/>
          </a:prstGeom>
          <a:noFill/>
        </p:spPr>
        <p:txBody>
          <a:bodyPr wrap="square" lIns="0" tIns="0" rIns="0" bIns="0" rtlCol="0" anchor="t">
            <a:noAutofit/>
          </a:bodyPr>
          <a:p>
            <a:pPr indent="0">
              <a:spcAft>
                <a:spcPts val="700"/>
              </a:spcAft>
              <a:buNone/>
            </a:pPr>
            <a:r>
              <a:rPr lang="vi-VN" sz="3100" b="1">
                <a:solidFill>
                  <a:srgbClr val="176E68"/>
                </a:solidFill>
                <a:latin typeface="Segoe UI" panose="020B0502040204020203" charset="0"/>
                <a:cs typeface="Segoe UI" panose="020B0502040204020203" charset="0"/>
              </a:rPr>
              <a:t>Khả năng triển khai và giới hạn</a:t>
            </a:r>
            <a:endParaRPr lang="vi-VN" sz="3100" b="1">
              <a:solidFill>
                <a:srgbClr val="176E68"/>
              </a:solidFill>
              <a:latin typeface="Segoe UI" panose="020B0502040204020203" charset="0"/>
              <a:cs typeface="Segoe UI" panose="020B0502040204020203"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Phụ lục: công thức và dữ liệu đầu vào</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28</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1905000"/>
            <a:ext cx="11023600" cy="276860"/>
          </a:xfrm>
          <a:prstGeom prst="rect">
            <a:avLst/>
          </a:prstGeom>
          <a:noFill/>
        </p:spPr>
        <p:txBody>
          <a:bodyPr wrap="square" lIns="0" tIns="0" rIns="0" bIns="0" rtlCol="0" anchor="t">
            <a:noAutofit/>
          </a:bodyPr>
          <a:p>
            <a:pPr indent="0">
              <a:spcAft>
                <a:spcPts val="700"/>
              </a:spcAft>
              <a:buNone/>
            </a:pPr>
            <a:r>
              <a:rPr lang="vi-VN" sz="2400">
                <a:solidFill>
                  <a:srgbClr val="172F3C"/>
                </a:solidFill>
                <a:latin typeface="Segoe UI" panose="020B0502040204020203" charset="0"/>
                <a:cs typeface="Segoe UI" panose="020B0502040204020203" charset="0"/>
              </a:rPr>
              <a:t>PSI = Σ (cᵢ − rᵢ) ln(cᵢ / rᵢ)</a:t>
            </a:r>
            <a:endParaRPr lang="vi-VN" sz="2400">
              <a:solidFill>
                <a:srgbClr val="172F3C"/>
              </a:solidFill>
              <a:latin typeface="Segoe UI" panose="020B0502040204020203" charset="0"/>
              <a:cs typeface="Segoe UI" panose="020B0502040204020203" charset="0"/>
            </a:endParaRPr>
          </a:p>
        </p:txBody>
      </p:sp>
      <p:sp>
        <p:nvSpPr>
          <p:cNvPr id="6" name="Text Box 5"/>
          <p:cNvSpPr txBox="1"/>
          <p:nvPr/>
        </p:nvSpPr>
        <p:spPr>
          <a:xfrm>
            <a:off x="584200" y="2552700"/>
            <a:ext cx="110236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10 bins theo quantile reference, clip xác suất ở 10⁻⁶</a:t>
            </a:r>
            <a:endParaRPr lang="vi-VN" sz="2000">
              <a:solidFill>
                <a:srgbClr val="172F3C"/>
              </a:solidFill>
              <a:latin typeface="Segoe UI" panose="020B0502040204020203" charset="0"/>
              <a:cs typeface="Segoe UI" panose="020B0502040204020203" charset="0"/>
            </a:endParaRPr>
          </a:p>
        </p:txBody>
      </p:sp>
      <p:sp>
        <p:nvSpPr>
          <p:cNvPr id="7" name="Text Box 6"/>
          <p:cNvSpPr txBox="1"/>
          <p:nvPr/>
        </p:nvSpPr>
        <p:spPr>
          <a:xfrm>
            <a:off x="584200" y="3200400"/>
            <a:ext cx="11023600" cy="276860"/>
          </a:xfrm>
          <a:prstGeom prst="rect">
            <a:avLst/>
          </a:prstGeom>
          <a:noFill/>
        </p:spPr>
        <p:txBody>
          <a:bodyPr wrap="square" lIns="0" tIns="0" rIns="0" bIns="0" rtlCol="0" anchor="t">
            <a:noAutofit/>
          </a:bodyPr>
          <a:p>
            <a:pPr indent="0">
              <a:spcAft>
                <a:spcPts val="700"/>
              </a:spcAft>
              <a:buNone/>
            </a:pPr>
            <a:r>
              <a:rPr lang="vi-VN" sz="2400">
                <a:solidFill>
                  <a:srgbClr val="172F3C"/>
                </a:solidFill>
                <a:latin typeface="Segoe UI" panose="020B0502040204020203" charset="0"/>
                <a:cs typeface="Segoe UI" panose="020B0502040204020203" charset="0"/>
              </a:rPr>
              <a:t>MMD² = mean(Krr) + mean(Kcc) − 2 mean(Krc)</a:t>
            </a:r>
            <a:endParaRPr lang="vi-VN" sz="2400">
              <a:solidFill>
                <a:srgbClr val="172F3C"/>
              </a:solidFill>
              <a:latin typeface="Segoe UI" panose="020B0502040204020203" charset="0"/>
              <a:cs typeface="Segoe UI" panose="020B0502040204020203" charset="0"/>
            </a:endParaRPr>
          </a:p>
        </p:txBody>
      </p:sp>
      <p:sp>
        <p:nvSpPr>
          <p:cNvPr id="8" name="Text Box 7"/>
          <p:cNvSpPr txBox="1"/>
          <p:nvPr/>
        </p:nvSpPr>
        <p:spPr>
          <a:xfrm>
            <a:off x="584200" y="3848100"/>
            <a:ext cx="110236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RBF K(x,y) = exp(−‖x−y‖² / 2), vector chuẩn hóa</a:t>
            </a:r>
            <a:endParaRPr lang="vi-VN" sz="2000">
              <a:solidFill>
                <a:srgbClr val="172F3C"/>
              </a:solidFill>
              <a:latin typeface="Segoe UI" panose="020B0502040204020203" charset="0"/>
              <a:cs typeface="Segoe UI" panose="020B0502040204020203" charset="0"/>
            </a:endParaRPr>
          </a:p>
        </p:txBody>
      </p:sp>
      <p:sp>
        <p:nvSpPr>
          <p:cNvPr id="9" name="Text Box 8"/>
          <p:cNvSpPr txBox="1"/>
          <p:nvPr/>
        </p:nvSpPr>
        <p:spPr>
          <a:xfrm>
            <a:off x="584200" y="4495800"/>
            <a:ext cx="11023600" cy="276860"/>
          </a:xfrm>
          <a:prstGeom prst="rect">
            <a:avLst/>
          </a:prstGeom>
          <a:noFill/>
        </p:spPr>
        <p:txBody>
          <a:bodyPr wrap="square" lIns="0" tIns="0" rIns="0" bIns="0" rtlCol="0" anchor="t">
            <a:noAutofit/>
          </a:bodyPr>
          <a:p>
            <a:pPr indent="0">
              <a:spcAft>
                <a:spcPts val="700"/>
              </a:spcAft>
              <a:buNone/>
            </a:pPr>
            <a:r>
              <a:rPr lang="vi-VN" sz="2400">
                <a:solidFill>
                  <a:srgbClr val="172F3C"/>
                </a:solidFill>
                <a:latin typeface="Segoe UI" panose="020B0502040204020203" charset="0"/>
                <a:cs typeface="Segoe UI" panose="020B0502040204020203" charset="0"/>
              </a:rPr>
              <a:t>FMR = false accepts / reviewed impostors</a:t>
            </a:r>
            <a:endParaRPr lang="vi-VN" sz="2400">
              <a:solidFill>
                <a:srgbClr val="172F3C"/>
              </a:solidFill>
              <a:latin typeface="Segoe UI" panose="020B0502040204020203" charset="0"/>
              <a:cs typeface="Segoe UI" panose="020B0502040204020203" charset="0"/>
            </a:endParaRPr>
          </a:p>
        </p:txBody>
      </p:sp>
      <p:sp>
        <p:nvSpPr>
          <p:cNvPr id="10" name="Text Box 9"/>
          <p:cNvSpPr txBox="1"/>
          <p:nvPr/>
        </p:nvSpPr>
        <p:spPr>
          <a:xfrm>
            <a:off x="584200" y="5143500"/>
            <a:ext cx="11023600" cy="276860"/>
          </a:xfrm>
          <a:prstGeom prst="rect">
            <a:avLst/>
          </a:prstGeom>
          <a:noFill/>
        </p:spPr>
        <p:txBody>
          <a:bodyPr wrap="square" lIns="0" tIns="0" rIns="0" bIns="0" rtlCol="0" anchor="t">
            <a:noAutofit/>
          </a:bodyPr>
          <a:p>
            <a:pPr indent="0">
              <a:spcAft>
                <a:spcPts val="700"/>
              </a:spcAft>
              <a:buNone/>
            </a:pPr>
            <a:r>
              <a:rPr lang="vi-VN" sz="2000">
                <a:solidFill>
                  <a:srgbClr val="172F3C"/>
                </a:solidFill>
                <a:latin typeface="Segoe UI" panose="020B0502040204020203" charset="0"/>
                <a:cs typeface="Segoe UI" panose="020B0502040204020203" charset="0"/>
              </a:rPr>
              <a:t>FNMR = false rejects / reviewed genuine</a:t>
            </a:r>
            <a:endParaRPr lang="vi-VN" sz="2000">
              <a:solidFill>
                <a:srgbClr val="172F3C"/>
              </a:solidFill>
              <a:latin typeface="Segoe UI" panose="020B0502040204020203" charset="0"/>
              <a:cs typeface="Segoe UI" panose="020B0502040204020203" charset="0"/>
            </a:endParaRPr>
          </a:p>
        </p:txBody>
      </p:sp>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Phụ lục: cấu hình thật và cấu hình simulation</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29</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FMR ≤1%, FNMR ≤5% và không hồi quy FMR vẫn được kiểm tra trong simulation</a:t>
            </a:r>
            <a:endParaRPr lang="vi-VN" sz="1200">
              <a:solidFill>
                <a:srgbClr val="526673"/>
              </a:solidFill>
              <a:latin typeface="Segoe UI" panose="020B0502040204020203" charset="0"/>
              <a:cs typeface="Segoe UI" panose="020B0502040204020203" charset="0"/>
            </a:endParaRPr>
          </a:p>
        </p:txBody>
      </p:sp>
      <p:graphicFrame>
        <p:nvGraphicFramePr>
          <p:cNvPr id="6" name="Table 5"/>
          <p:cNvGraphicFramePr/>
          <p:nvPr/>
        </p:nvGraphicFramePr>
        <p:xfrm>
          <a:off x="584200" y="1879600"/>
          <a:ext cx="11023600" cy="3911600"/>
        </p:xfrm>
        <a:graphic>
          <a:graphicData uri="http://schemas.openxmlformats.org/drawingml/2006/table">
            <a:tbl>
              <a:tblPr firstRow="1" bandRow="1">
                <a:tableStyleId>{5C22544A-7EE6-4342-B048-85BDC9FD1C3A}</a:tableStyleId>
              </a:tblPr>
              <a:tblGrid>
                <a:gridCol w="2921000"/>
                <a:gridCol w="4038600"/>
                <a:gridCol w="4064000"/>
              </a:tblGrid>
              <a:tr h="558800">
                <a:tc>
                  <a:txBody>
                    <a:bodyPr/>
                    <a:p>
                      <a:pPr indent="0">
                        <a:spcAft>
                          <a:spcPts val="0"/>
                        </a:spcAft>
                        <a:buNone/>
                      </a:pPr>
                      <a:r>
                        <a:rPr lang="vi-VN" sz="1900" b="1">
                          <a:solidFill>
                            <a:srgbClr val="FFFFFF"/>
                          </a:solidFill>
                          <a:latin typeface="Segoe UI" panose="020B0502040204020203" charset="0"/>
                          <a:cs typeface="Segoe UI" panose="020B0502040204020203" charset="0"/>
                        </a:rPr>
                        <a:t>Gate</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c>
                  <a:txBody>
                    <a:bodyPr/>
                    <a:p>
                      <a:pPr indent="0">
                        <a:spcAft>
                          <a:spcPts val="0"/>
                        </a:spcAft>
                        <a:buNone/>
                      </a:pPr>
                      <a:r>
                        <a:rPr lang="vi-VN" sz="1900" b="1">
                          <a:solidFill>
                            <a:srgbClr val="FFFFFF"/>
                          </a:solidFill>
                          <a:latin typeface="Segoe UI" panose="020B0502040204020203" charset="0"/>
                          <a:cs typeface="Segoe UI" panose="020B0502040204020203" charset="0"/>
                        </a:rPr>
                        <a:t>Lifecycle mặc định</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c>
                  <a:txBody>
                    <a:bodyPr/>
                    <a:p>
                      <a:pPr indent="0">
                        <a:spcAft>
                          <a:spcPts val="0"/>
                        </a:spcAft>
                        <a:buNone/>
                      </a:pPr>
                      <a:r>
                        <a:rPr lang="vi-VN" sz="1900" b="1">
                          <a:solidFill>
                            <a:srgbClr val="FFFFFF"/>
                          </a:solidFill>
                          <a:latin typeface="Segoe UI" panose="020B0502040204020203" charset="0"/>
                          <a:cs typeface="Segoe UI" panose="020B0502040204020203" charset="0"/>
                        </a:rPr>
                        <a:t>Simulation</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PSI / MMD²</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0,2 / 0,02</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0,2 / 0,02</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Drift persistence</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3 cửa sổ mới</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3 cửa sổ synthetic</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Mẫu / stage</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≥1.000</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200 HTTP request</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Thời gian / stage</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≥3.600 giây</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≥5 giây</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Nhãn / class cho rollout</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30</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20</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Disagreement tối đa</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0,1</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0,6</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r>
            </a:tbl>
          </a:graphicData>
        </a:graphic>
      </p:graphicFrame>
    </p:spTree>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Phụ lục: bốn câu hỏi dễ bị hiểu nhầm</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30</a:t>
            </a:r>
            <a:endParaRPr lang="vi-VN" sz="1000">
              <a:solidFill>
                <a:srgbClr val="526673"/>
              </a:solidFill>
              <a:latin typeface="Segoe UI" panose="020B0502040204020203" charset="0"/>
              <a:cs typeface="Segoe UI" panose="020B0502040204020203" charset="0"/>
            </a:endParaRPr>
          </a:p>
        </p:txBody>
      </p:sp>
      <p:graphicFrame>
        <p:nvGraphicFramePr>
          <p:cNvPr id="5" name="Table 4"/>
          <p:cNvGraphicFramePr/>
          <p:nvPr/>
        </p:nvGraphicFramePr>
        <p:xfrm>
          <a:off x="584200" y="1879600"/>
          <a:ext cx="11023600" cy="2794000"/>
        </p:xfrm>
        <a:graphic>
          <a:graphicData uri="http://schemas.openxmlformats.org/drawingml/2006/table">
            <a:tbl>
              <a:tblPr firstRow="1" bandRow="1">
                <a:tableStyleId>{5C22544A-7EE6-4342-B048-85BDC9FD1C3A}</a:tableStyleId>
              </a:tblPr>
              <a:tblGrid>
                <a:gridCol w="4000500"/>
                <a:gridCol w="7023100"/>
              </a:tblGrid>
              <a:tr h="558800">
                <a:tc>
                  <a:txBody>
                    <a:bodyPr/>
                    <a:p>
                      <a:pPr indent="0">
                        <a:spcAft>
                          <a:spcPts val="0"/>
                        </a:spcAft>
                        <a:buNone/>
                      </a:pPr>
                      <a:r>
                        <a:rPr lang="vi-VN" sz="1900" b="1">
                          <a:solidFill>
                            <a:srgbClr val="FFFFFF"/>
                          </a:solidFill>
                          <a:latin typeface="Segoe UI" panose="020B0502040204020203" charset="0"/>
                          <a:cs typeface="Segoe UI" panose="020B0502040204020203" charset="0"/>
                        </a:rPr>
                        <a:t>Câu hỏi</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c>
                  <a:txBody>
                    <a:bodyPr/>
                    <a:p>
                      <a:pPr indent="0">
                        <a:spcAft>
                          <a:spcPts val="0"/>
                        </a:spcAft>
                        <a:buNone/>
                      </a:pPr>
                      <a:r>
                        <a:rPr lang="vi-VN" sz="1900" b="1">
                          <a:solidFill>
                            <a:srgbClr val="FFFFFF"/>
                          </a:solidFill>
                          <a:latin typeface="Segoe UI" panose="020B0502040204020203" charset="0"/>
                          <a:cs typeface="Segoe UI" panose="020B0502040204020203" charset="0"/>
                        </a:rPr>
                        <a:t>Trả lời theo implementation</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Có retrain encoder không?</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Chỉ hiệu chỉnh threshold policy Face / Voice</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Có embedding DB không?</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Embedding JSON trong PostgreSQL, xác minh 1:1</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Deploy có phải canary không?</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Policy có canary. App dùng Compose replacement</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Simulation có dùng dữ liệu thật không?</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Vector / labels tổng hợp, DB / Registry riêng</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r>
            </a:tbl>
          </a:graphicData>
        </a:graphic>
      </p:graphicFrame>
    </p:spTree>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Bằng chứng hiện có tập trung vào luồng và tính an toàn</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31</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Kết quả lịch sử đã ghi nhận. Không phải lần chạy lại hôm nay hoặc benchmark accuracy người thật</a:t>
            </a:r>
            <a:endParaRPr lang="vi-VN" sz="1200">
              <a:solidFill>
                <a:srgbClr val="526673"/>
              </a:solidFill>
              <a:latin typeface="Segoe UI" panose="020B0502040204020203" charset="0"/>
              <a:cs typeface="Segoe UI" panose="020B0502040204020203" charset="0"/>
            </a:endParaRPr>
          </a:p>
        </p:txBody>
      </p:sp>
      <p:sp>
        <p:nvSpPr>
          <p:cNvPr id="6" name="Text Box 5"/>
          <p:cNvSpPr txBox="1"/>
          <p:nvPr/>
        </p:nvSpPr>
        <p:spPr>
          <a:xfrm>
            <a:off x="584200" y="2197100"/>
            <a:ext cx="3467100" cy="276860"/>
          </a:xfrm>
          <a:prstGeom prst="rect">
            <a:avLst/>
          </a:prstGeom>
          <a:noFill/>
        </p:spPr>
        <p:txBody>
          <a:bodyPr wrap="square" lIns="0" tIns="0" rIns="0" bIns="0" rtlCol="0" anchor="t">
            <a:noAutofit/>
          </a:bodyPr>
          <a:p>
            <a:pPr indent="0">
              <a:spcAft>
                <a:spcPts val="700"/>
              </a:spcAft>
              <a:buNone/>
            </a:pPr>
            <a:r>
              <a:rPr lang="vi-VN" sz="5200" b="1">
                <a:solidFill>
                  <a:srgbClr val="176E68"/>
                </a:solidFill>
                <a:latin typeface="Segoe UI" panose="020B0502040204020203" charset="0"/>
                <a:cs typeface="Segoe UI" panose="020B0502040204020203" charset="0"/>
              </a:rPr>
              <a:t>153</a:t>
            </a:r>
            <a:endParaRPr lang="vi-VN" sz="5200" b="1">
              <a:solidFill>
                <a:srgbClr val="176E68"/>
              </a:solidFill>
              <a:latin typeface="Segoe UI" panose="020B0502040204020203" charset="0"/>
              <a:cs typeface="Segoe UI" panose="020B0502040204020203" charset="0"/>
            </a:endParaRPr>
          </a:p>
        </p:txBody>
      </p:sp>
      <p:sp>
        <p:nvSpPr>
          <p:cNvPr id="7" name="Text Box 6"/>
          <p:cNvSpPr txBox="1"/>
          <p:nvPr/>
        </p:nvSpPr>
        <p:spPr>
          <a:xfrm>
            <a:off x="584200" y="3492500"/>
            <a:ext cx="3302000" cy="276860"/>
          </a:xfrm>
          <a:prstGeom prst="rect">
            <a:avLst/>
          </a:prstGeom>
          <a:noFill/>
        </p:spPr>
        <p:txBody>
          <a:bodyPr wrap="square" lIns="0" tIns="0" rIns="0" bIns="0" rtlCol="0" anchor="t">
            <a:noAutofit/>
          </a:bodyPr>
          <a:p>
            <a:pPr indent="0">
              <a:spcAft>
                <a:spcPts val="700"/>
              </a:spcAft>
              <a:buNone/>
            </a:pPr>
            <a:r>
              <a:rPr lang="vi-VN" sz="2500" b="1">
                <a:solidFill>
                  <a:srgbClr val="172F3C"/>
                </a:solidFill>
                <a:latin typeface="Segoe UI" panose="020B0502040204020203" charset="0"/>
                <a:cs typeface="Segoe UI" panose="020B0502040204020203" charset="0"/>
              </a:rPr>
              <a:t>tests passed</a:t>
            </a:r>
            <a:endParaRPr lang="vi-VN" sz="2500" b="1">
              <a:solidFill>
                <a:srgbClr val="172F3C"/>
              </a:solidFill>
              <a:latin typeface="Segoe UI" panose="020B0502040204020203" charset="0"/>
              <a:cs typeface="Segoe UI" panose="020B0502040204020203" charset="0"/>
            </a:endParaRPr>
          </a:p>
        </p:txBody>
      </p:sp>
      <p:sp>
        <p:nvSpPr>
          <p:cNvPr id="8" name="Text Box 7"/>
          <p:cNvSpPr txBox="1"/>
          <p:nvPr/>
        </p:nvSpPr>
        <p:spPr>
          <a:xfrm>
            <a:off x="584200" y="4508500"/>
            <a:ext cx="3302000" cy="276860"/>
          </a:xfrm>
          <a:prstGeom prst="rect">
            <a:avLst/>
          </a:prstGeom>
          <a:noFill/>
        </p:spPr>
        <p:txBody>
          <a:bodyPr wrap="square" lIns="0" tIns="0" rIns="0" bIns="0" rtlCol="0" anchor="t">
            <a:noAutofit/>
          </a:bodyPr>
          <a:p>
            <a:pPr indent="0">
              <a:spcAft>
                <a:spcPts val="700"/>
              </a:spcAft>
              <a:buNone/>
            </a:pPr>
            <a:r>
              <a:rPr lang="vi-VN" sz="2100">
                <a:solidFill>
                  <a:srgbClr val="172F3C"/>
                </a:solidFill>
                <a:latin typeface="Segoe UI" panose="020B0502040204020203" charset="0"/>
                <a:cs typeface="Segoe UI" panose="020B0502040204020203" charset="0"/>
              </a:rPr>
              <a:t>Lần kiểm chứng local ngày 03/10</a:t>
            </a:r>
            <a:endParaRPr lang="vi-VN" sz="2100">
              <a:solidFill>
                <a:srgbClr val="172F3C"/>
              </a:solidFill>
              <a:latin typeface="Segoe UI" panose="020B0502040204020203" charset="0"/>
              <a:cs typeface="Segoe UI" panose="020B0502040204020203" charset="0"/>
            </a:endParaRPr>
          </a:p>
        </p:txBody>
      </p:sp>
      <p:sp>
        <p:nvSpPr>
          <p:cNvPr id="9" name="Text Box 8"/>
          <p:cNvSpPr txBox="1"/>
          <p:nvPr/>
        </p:nvSpPr>
        <p:spPr>
          <a:xfrm>
            <a:off x="4381500" y="2197100"/>
            <a:ext cx="3467100" cy="276860"/>
          </a:xfrm>
          <a:prstGeom prst="rect">
            <a:avLst/>
          </a:prstGeom>
          <a:noFill/>
        </p:spPr>
        <p:txBody>
          <a:bodyPr wrap="square" lIns="0" tIns="0" rIns="0" bIns="0" rtlCol="0" anchor="t">
            <a:noAutofit/>
          </a:bodyPr>
          <a:p>
            <a:pPr indent="0">
              <a:spcAft>
                <a:spcPts val="700"/>
              </a:spcAft>
              <a:buNone/>
            </a:pPr>
            <a:r>
              <a:rPr lang="vi-VN" sz="5200" b="1">
                <a:solidFill>
                  <a:srgbClr val="176E68"/>
                </a:solidFill>
                <a:latin typeface="Segoe UI" panose="020B0502040204020203" charset="0"/>
                <a:cs typeface="Segoe UI" panose="020B0502040204020203" charset="0"/>
              </a:rPr>
              <a:t>82,03%</a:t>
            </a:r>
            <a:endParaRPr lang="vi-VN" sz="5200" b="1">
              <a:solidFill>
                <a:srgbClr val="176E68"/>
              </a:solidFill>
              <a:latin typeface="Segoe UI" panose="020B0502040204020203" charset="0"/>
              <a:cs typeface="Segoe UI" panose="020B0502040204020203" charset="0"/>
            </a:endParaRPr>
          </a:p>
        </p:txBody>
      </p:sp>
      <p:sp>
        <p:nvSpPr>
          <p:cNvPr id="10" name="Text Box 9"/>
          <p:cNvSpPr txBox="1"/>
          <p:nvPr/>
        </p:nvSpPr>
        <p:spPr>
          <a:xfrm>
            <a:off x="4381500" y="3492500"/>
            <a:ext cx="3302000" cy="276860"/>
          </a:xfrm>
          <a:prstGeom prst="rect">
            <a:avLst/>
          </a:prstGeom>
          <a:noFill/>
        </p:spPr>
        <p:txBody>
          <a:bodyPr wrap="square" lIns="0" tIns="0" rIns="0" bIns="0" rtlCol="0" anchor="t">
            <a:noAutofit/>
          </a:bodyPr>
          <a:p>
            <a:pPr indent="0">
              <a:spcAft>
                <a:spcPts val="700"/>
              </a:spcAft>
              <a:buNone/>
            </a:pPr>
            <a:r>
              <a:rPr lang="vi-VN" sz="2500" b="1">
                <a:solidFill>
                  <a:srgbClr val="172F3C"/>
                </a:solidFill>
                <a:latin typeface="Segoe UI" panose="020B0502040204020203" charset="0"/>
                <a:cs typeface="Segoe UI" panose="020B0502040204020203" charset="0"/>
              </a:rPr>
              <a:t>coverage</a:t>
            </a:r>
            <a:endParaRPr lang="vi-VN" sz="2500" b="1">
              <a:solidFill>
                <a:srgbClr val="172F3C"/>
              </a:solidFill>
              <a:latin typeface="Segoe UI" panose="020B0502040204020203" charset="0"/>
              <a:cs typeface="Segoe UI" panose="020B0502040204020203" charset="0"/>
            </a:endParaRPr>
          </a:p>
        </p:txBody>
      </p:sp>
      <p:sp>
        <p:nvSpPr>
          <p:cNvPr id="11" name="Text Box 10"/>
          <p:cNvSpPr txBox="1"/>
          <p:nvPr/>
        </p:nvSpPr>
        <p:spPr>
          <a:xfrm>
            <a:off x="4381500" y="4508500"/>
            <a:ext cx="3302000" cy="276860"/>
          </a:xfrm>
          <a:prstGeom prst="rect">
            <a:avLst/>
          </a:prstGeom>
          <a:noFill/>
        </p:spPr>
        <p:txBody>
          <a:bodyPr wrap="square" lIns="0" tIns="0" rIns="0" bIns="0" rtlCol="0" anchor="t">
            <a:noAutofit/>
          </a:bodyPr>
          <a:p>
            <a:pPr indent="0">
              <a:spcAft>
                <a:spcPts val="700"/>
              </a:spcAft>
              <a:buNone/>
            </a:pPr>
            <a:r>
              <a:rPr lang="vi-VN" sz="2100">
                <a:solidFill>
                  <a:srgbClr val="172F3C"/>
                </a:solidFill>
                <a:latin typeface="Segoe UI" panose="020B0502040204020203" charset="0"/>
                <a:cs typeface="Segoe UI" panose="020B0502040204020203" charset="0"/>
              </a:rPr>
              <a:t>Trong phạm vi coverage CI khai báo</a:t>
            </a:r>
            <a:endParaRPr lang="vi-VN" sz="2100">
              <a:solidFill>
                <a:srgbClr val="172F3C"/>
              </a:solidFill>
              <a:latin typeface="Segoe UI" panose="020B0502040204020203" charset="0"/>
              <a:cs typeface="Segoe UI" panose="020B0502040204020203" charset="0"/>
            </a:endParaRPr>
          </a:p>
        </p:txBody>
      </p:sp>
      <p:sp>
        <p:nvSpPr>
          <p:cNvPr id="12" name="Text Box 11"/>
          <p:cNvSpPr txBox="1"/>
          <p:nvPr/>
        </p:nvSpPr>
        <p:spPr>
          <a:xfrm>
            <a:off x="8178800" y="2197100"/>
            <a:ext cx="3467100" cy="276860"/>
          </a:xfrm>
          <a:prstGeom prst="rect">
            <a:avLst/>
          </a:prstGeom>
          <a:noFill/>
        </p:spPr>
        <p:txBody>
          <a:bodyPr wrap="square" lIns="0" tIns="0" rIns="0" bIns="0" rtlCol="0" anchor="t">
            <a:noAutofit/>
          </a:bodyPr>
          <a:p>
            <a:pPr indent="0">
              <a:spcAft>
                <a:spcPts val="700"/>
              </a:spcAft>
              <a:buNone/>
            </a:pPr>
            <a:r>
              <a:rPr lang="vi-VN" sz="5200" b="1">
                <a:solidFill>
                  <a:srgbClr val="176E68"/>
                </a:solidFill>
                <a:latin typeface="Segoe UI" panose="020B0502040204020203" charset="0"/>
                <a:cs typeface="Segoe UI" panose="020B0502040204020203" charset="0"/>
              </a:rPr>
              <a:t>2</a:t>
            </a:r>
            <a:endParaRPr lang="vi-VN" sz="5200" b="1">
              <a:solidFill>
                <a:srgbClr val="176E68"/>
              </a:solidFill>
              <a:latin typeface="Segoe UI" panose="020B0502040204020203" charset="0"/>
              <a:cs typeface="Segoe UI" panose="020B0502040204020203" charset="0"/>
            </a:endParaRPr>
          </a:p>
        </p:txBody>
      </p:sp>
      <p:sp>
        <p:nvSpPr>
          <p:cNvPr id="13" name="Text Box 12"/>
          <p:cNvSpPr txBox="1"/>
          <p:nvPr/>
        </p:nvSpPr>
        <p:spPr>
          <a:xfrm>
            <a:off x="8178800" y="3492500"/>
            <a:ext cx="3302000" cy="276860"/>
          </a:xfrm>
          <a:prstGeom prst="rect">
            <a:avLst/>
          </a:prstGeom>
          <a:noFill/>
        </p:spPr>
        <p:txBody>
          <a:bodyPr wrap="square" lIns="0" tIns="0" rIns="0" bIns="0" rtlCol="0" anchor="t">
            <a:noAutofit/>
          </a:bodyPr>
          <a:p>
            <a:pPr indent="0">
              <a:spcAft>
                <a:spcPts val="700"/>
              </a:spcAft>
              <a:buNone/>
            </a:pPr>
            <a:r>
              <a:rPr lang="vi-VN" sz="2500" b="1">
                <a:solidFill>
                  <a:srgbClr val="172F3C"/>
                </a:solidFill>
                <a:latin typeface="Segoe UI" panose="020B0502040204020203" charset="0"/>
                <a:cs typeface="Segoe UI" panose="020B0502040204020203" charset="0"/>
              </a:rPr>
              <a:t>kịch bản simulation</a:t>
            </a:r>
            <a:endParaRPr lang="vi-VN" sz="2500" b="1">
              <a:solidFill>
                <a:srgbClr val="172F3C"/>
              </a:solidFill>
              <a:latin typeface="Segoe UI" panose="020B0502040204020203" charset="0"/>
              <a:cs typeface="Segoe UI" panose="020B0502040204020203" charset="0"/>
            </a:endParaRPr>
          </a:p>
        </p:txBody>
      </p:sp>
      <p:sp>
        <p:nvSpPr>
          <p:cNvPr id="14" name="Text Box 13"/>
          <p:cNvSpPr txBox="1"/>
          <p:nvPr/>
        </p:nvSpPr>
        <p:spPr>
          <a:xfrm>
            <a:off x="8178800" y="4508500"/>
            <a:ext cx="3302000" cy="276860"/>
          </a:xfrm>
          <a:prstGeom prst="rect">
            <a:avLst/>
          </a:prstGeom>
          <a:noFill/>
        </p:spPr>
        <p:txBody>
          <a:bodyPr wrap="square" lIns="0" tIns="0" rIns="0" bIns="0" rtlCol="0" anchor="t">
            <a:noAutofit/>
          </a:bodyPr>
          <a:p>
            <a:pPr indent="0">
              <a:spcAft>
                <a:spcPts val="700"/>
              </a:spcAft>
              <a:buNone/>
            </a:pPr>
            <a:r>
              <a:rPr lang="vi-VN" sz="2100">
                <a:solidFill>
                  <a:srgbClr val="172F3C"/>
                </a:solidFill>
                <a:latin typeface="Segoe UI" panose="020B0502040204020203" charset="0"/>
                <a:cs typeface="Segoe UI" panose="020B0502040204020203" charset="0"/>
              </a:rPr>
              <a:t>Promotion và rollback có evidence</a:t>
            </a:r>
            <a:endParaRPr lang="vi-VN" sz="2100">
              <a:solidFill>
                <a:srgbClr val="172F3C"/>
              </a:solidFill>
              <a:latin typeface="Segoe UI" panose="020B0502040204020203" charset="0"/>
              <a:cs typeface="Segoe UI" panose="020B0502040204020203" charset="0"/>
            </a:endParaRPr>
          </a:p>
        </p:txBody>
      </p:sp>
    </p:spTree>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Trách nhiệm được chia theo các phần của hệ thống</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32</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Phân công trách nhiệm. Đóng góp thực tế cần đối chiếu công việc, PR và review</a:t>
            </a:r>
            <a:endParaRPr lang="vi-VN" sz="1200">
              <a:solidFill>
                <a:srgbClr val="526673"/>
              </a:solidFill>
              <a:latin typeface="Segoe UI" panose="020B0502040204020203" charset="0"/>
              <a:cs typeface="Segoe UI" panose="020B0502040204020203" charset="0"/>
            </a:endParaRPr>
          </a:p>
        </p:txBody>
      </p:sp>
      <p:graphicFrame>
        <p:nvGraphicFramePr>
          <p:cNvPr id="6" name="Table 5"/>
          <p:cNvGraphicFramePr/>
          <p:nvPr/>
        </p:nvGraphicFramePr>
        <p:xfrm>
          <a:off x="584200" y="1879600"/>
          <a:ext cx="11023600" cy="2794000"/>
        </p:xfrm>
        <a:graphic>
          <a:graphicData uri="http://schemas.openxmlformats.org/drawingml/2006/table">
            <a:tbl>
              <a:tblPr firstRow="1" bandRow="1">
                <a:tableStyleId>{5C22544A-7EE6-4342-B048-85BDC9FD1C3A}</a:tableStyleId>
              </a:tblPr>
              <a:tblGrid>
                <a:gridCol w="2921000"/>
                <a:gridCol w="4038600"/>
                <a:gridCol w="4064000"/>
              </a:tblGrid>
              <a:tr h="558800">
                <a:tc>
                  <a:txBody>
                    <a:bodyPr/>
                    <a:p>
                      <a:pPr indent="0">
                        <a:spcAft>
                          <a:spcPts val="0"/>
                        </a:spcAft>
                        <a:buNone/>
                      </a:pPr>
                      <a:r>
                        <a:rPr lang="vi-VN" sz="1900" b="1">
                          <a:solidFill>
                            <a:srgbClr val="FFFFFF"/>
                          </a:solidFill>
                          <a:latin typeface="Segoe UI" panose="020B0502040204020203" charset="0"/>
                          <a:cs typeface="Segoe UI" panose="020B0502040204020203" charset="0"/>
                        </a:rPr>
                        <a:t>Thành viên</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c>
                  <a:txBody>
                    <a:bodyPr/>
                    <a:p>
                      <a:pPr indent="0">
                        <a:spcAft>
                          <a:spcPts val="0"/>
                        </a:spcAft>
                        <a:buNone/>
                      </a:pPr>
                      <a:r>
                        <a:rPr lang="vi-VN" sz="1900" b="1">
                          <a:solidFill>
                            <a:srgbClr val="FFFFFF"/>
                          </a:solidFill>
                          <a:latin typeface="Segoe UI" panose="020B0502040204020203" charset="0"/>
                          <a:cs typeface="Segoe UI" panose="020B0502040204020203" charset="0"/>
                        </a:rPr>
                        <a:t>Phụ trách</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c>
                  <a:txBody>
                    <a:bodyPr/>
                    <a:p>
                      <a:pPr indent="0">
                        <a:spcAft>
                          <a:spcPts val="0"/>
                        </a:spcAft>
                        <a:buNone/>
                      </a:pPr>
                      <a:r>
                        <a:rPr lang="vi-VN" sz="1900" b="1">
                          <a:solidFill>
                            <a:srgbClr val="FFFFFF"/>
                          </a:solidFill>
                          <a:latin typeface="Segoe UI" panose="020B0502040204020203" charset="0"/>
                          <a:cs typeface="Segoe UI" panose="020B0502040204020203" charset="0"/>
                        </a:rPr>
                        <a:t>Bàn giao</a:t>
                      </a:r>
                      <a:endParaRPr lang="vi-VN" sz="1900" b="1">
                        <a:solidFill>
                          <a:srgbClr val="FFFFFF"/>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38100" cmpd="sng">
                      <a:solidFill>
                        <a:srgbClr val="F7F4ED"/>
                      </a:solidFill>
                    </a:lnB>
                    <a:solidFill>
                      <a:srgbClr val="176E68"/>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Trịnh Đức Dương</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Core service và ML lifecycle</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Kiến trúc, policy, integration review</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38100" cmpd="sng">
                      <a:solidFill>
                        <a:srgbClr val="F7F4ED"/>
                      </a:solidFill>
                    </a:lnT>
                    <a:lnB w="12700" cmpd="sng">
                      <a:solidFill>
                        <a:srgbClr val="F7F4ED"/>
                      </a:solidFill>
                    </a:lnB>
                    <a:solidFill>
                      <a:srgbClr val="E4EEEA"/>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Do Quang Hiep</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QA và evaluation validation</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Test, reproducibility, evidence</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To Thanh Hai</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Platform và CI/CD</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Docker, runner, deployment, recovery</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E4EEEA"/>
                    </a:solidFill>
                  </a:tcPr>
                </a:tc>
              </a:tr>
              <a:tr h="558800">
                <a:tc>
                  <a:txBody>
                    <a:bodyPr/>
                    <a:p>
                      <a:pPr indent="0">
                        <a:spcAft>
                          <a:spcPts val="0"/>
                        </a:spcAft>
                        <a:buNone/>
                      </a:pPr>
                      <a:r>
                        <a:rPr lang="vi-VN" sz="1800" b="0">
                          <a:solidFill>
                            <a:srgbClr val="172F3C"/>
                          </a:solidFill>
                          <a:latin typeface="Segoe UI" panose="020B0502040204020203" charset="0"/>
                          <a:cs typeface="Segoe UI" panose="020B0502040204020203" charset="0"/>
                        </a:rPr>
                        <a:t>Ngo Anh Duc</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Report và trình bày</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c>
                  <a:txBody>
                    <a:bodyPr/>
                    <a:p>
                      <a:pPr indent="0">
                        <a:spcAft>
                          <a:spcPts val="0"/>
                        </a:spcAft>
                        <a:buNone/>
                      </a:pPr>
                      <a:r>
                        <a:rPr lang="vi-VN" sz="1800" b="0">
                          <a:solidFill>
                            <a:srgbClr val="172F3C"/>
                          </a:solidFill>
                          <a:latin typeface="Segoe UI" panose="020B0502040204020203" charset="0"/>
                          <a:cs typeface="Segoe UI" panose="020B0502040204020203" charset="0"/>
                        </a:rPr>
                        <a:t>Tài liệu, sơ đồ, slide, kịch bản demo</a:t>
                      </a:r>
                      <a:endParaRPr lang="vi-VN" sz="1800" b="0">
                        <a:solidFill>
                          <a:srgbClr val="172F3C"/>
                        </a:solidFill>
                        <a:latin typeface="Segoe UI" panose="020B0502040204020203" charset="0"/>
                        <a:cs typeface="Segoe UI" panose="020B0502040204020203" charset="0"/>
                      </a:endParaRPr>
                    </a:p>
                  </a:txBody>
                  <a:tcPr marL="152400" marR="127000" marT="88900" marB="88900" anchor="ctr">
                    <a:lnL w="12700" cmpd="sng">
                      <a:solidFill>
                        <a:srgbClr val="F7F4ED"/>
                      </a:solidFill>
                    </a:lnL>
                    <a:lnR w="12700" cmpd="sng">
                      <a:solidFill>
                        <a:srgbClr val="F7F4ED"/>
                      </a:solidFill>
                    </a:lnR>
                    <a:lnT w="12700" cmpd="sng">
                      <a:solidFill>
                        <a:srgbClr val="F7F4ED"/>
                      </a:solidFill>
                    </a:lnT>
                    <a:lnB w="12700" cmpd="sng">
                      <a:solidFill>
                        <a:srgbClr val="F7F4ED"/>
                      </a:solidFill>
                    </a:lnB>
                    <a:solidFill>
                      <a:srgbClr val="F7F4ED"/>
                    </a:solidFill>
                  </a:tcPr>
                </a:tc>
              </a:tr>
            </a:tbl>
          </a:graphicData>
        </a:graphic>
      </p:graphicFrame>
    </p:spTree>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F7F4ED"/>
        </a:solidFill>
        <a:effectLst/>
      </p:bgPr>
    </p:bg>
    <p:spTree>
      <p:nvGrpSpPr>
        <p:cNvPr id="1" name=""/>
        <p:cNvGrpSpPr/>
        <p:nvPr/>
      </p:nvGrpSpPr>
      <p:grpSpPr/>
      <p:sp>
        <p:nvSpPr>
          <p:cNvPr id="2" name="Rectangle 1"/>
          <p:cNvSpPr/>
          <p:nvPr/>
        </p:nvSpPr>
        <p:spPr>
          <a:xfrm>
            <a:off x="584200" y="317500"/>
            <a:ext cx="660400" cy="63500"/>
          </a:xfrm>
          <a:prstGeom prst="rect">
            <a:avLst/>
          </a:prstGeom>
          <a:solidFill>
            <a:srgbClr val="BB542A"/>
          </a:solidFill>
          <a:ln w="12700" cap="flat" cmpd="sng" algn="ctr">
            <a:noFill/>
            <a:prstDash val="solid"/>
            <a:miter lim="800000"/>
          </a:ln>
          <a:extLst>
            <a:ext uri="{91240B29-F687-4F45-9708-019B960494DF}">
              <a14:hiddenLine xmlns:a14="http://schemas.microsoft.com/office/drawing/2010/main" w="12700" cap="flat" cmpd="sng" algn="ctr">
                <a:solidFill>
                  <a:schemeClr val="accent1">
                    <a:lumMod val="75000"/>
                  </a:schemeClr>
                </a:solidFill>
                <a:prstDash val="solid"/>
                <a:miter lim="800000"/>
                <a:headEnd/>
                <a:tailEnd/>
              </a14:hiddenLine>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ext Box 2"/>
          <p:cNvSpPr txBox="1"/>
          <p:nvPr/>
        </p:nvSpPr>
        <p:spPr>
          <a:xfrm>
            <a:off x="584200" y="546100"/>
            <a:ext cx="11023600" cy="276860"/>
          </a:xfrm>
          <a:prstGeom prst="rect">
            <a:avLst/>
          </a:prstGeom>
          <a:noFill/>
        </p:spPr>
        <p:txBody>
          <a:bodyPr wrap="square" lIns="0" tIns="0" rIns="0" bIns="0" rtlCol="0" anchor="t">
            <a:noAutofit/>
          </a:bodyPr>
          <a:p>
            <a:pPr indent="0">
              <a:spcAft>
                <a:spcPts val="700"/>
              </a:spcAft>
              <a:buNone/>
            </a:pPr>
            <a:r>
              <a:rPr lang="vi-VN" sz="3200" b="1">
                <a:solidFill>
                  <a:srgbClr val="172F3C"/>
                </a:solidFill>
                <a:latin typeface="Segoe UI" panose="020B0502040204020203" charset="0"/>
                <a:cs typeface="Segoe UI" panose="020B0502040204020203" charset="0"/>
              </a:rPr>
              <a:t>Phụ lục: nguồn và cách đối chiếu bằng chứng</a:t>
            </a:r>
            <a:endParaRPr lang="vi-VN" sz="3200" b="1">
              <a:solidFill>
                <a:srgbClr val="172F3C"/>
              </a:solidFill>
              <a:latin typeface="Segoe UI" panose="020B0502040204020203" charset="0"/>
              <a:cs typeface="Segoe UI" panose="020B0502040204020203" charset="0"/>
            </a:endParaRPr>
          </a:p>
        </p:txBody>
      </p:sp>
      <p:sp>
        <p:nvSpPr>
          <p:cNvPr id="4" name="Text Box 3"/>
          <p:cNvSpPr txBox="1"/>
          <p:nvPr/>
        </p:nvSpPr>
        <p:spPr>
          <a:xfrm>
            <a:off x="11404600" y="6477000"/>
            <a:ext cx="330200" cy="276860"/>
          </a:xfrm>
          <a:prstGeom prst="rect">
            <a:avLst/>
          </a:prstGeom>
          <a:noFill/>
        </p:spPr>
        <p:txBody>
          <a:bodyPr wrap="square" lIns="0" tIns="0" rIns="0" bIns="0" rtlCol="0" anchor="t">
            <a:noAutofit/>
          </a:bodyPr>
          <a:p>
            <a:pPr indent="0">
              <a:spcAft>
                <a:spcPts val="700"/>
              </a:spcAft>
              <a:buNone/>
            </a:pPr>
            <a:r>
              <a:rPr lang="vi-VN" sz="1000">
                <a:solidFill>
                  <a:srgbClr val="526673"/>
                </a:solidFill>
                <a:latin typeface="Segoe UI" panose="020B0502040204020203" charset="0"/>
                <a:cs typeface="Segoe UI" panose="020B0502040204020203" charset="0"/>
              </a:rPr>
              <a:t>33</a:t>
            </a:r>
            <a:endParaRPr lang="vi-VN" sz="1000">
              <a:solidFill>
                <a:srgbClr val="526673"/>
              </a:solidFill>
              <a:latin typeface="Segoe UI" panose="020B0502040204020203" charset="0"/>
              <a:cs typeface="Segoe UI" panose="020B0502040204020203" charset="0"/>
            </a:endParaRPr>
          </a:p>
        </p:txBody>
      </p:sp>
      <p:sp>
        <p:nvSpPr>
          <p:cNvPr id="5" name="Text Box 4"/>
          <p:cNvSpPr txBox="1"/>
          <p:nvPr/>
        </p:nvSpPr>
        <p:spPr>
          <a:xfrm>
            <a:off x="584200" y="6121400"/>
            <a:ext cx="10541000" cy="276860"/>
          </a:xfrm>
          <a:prstGeom prst="rect">
            <a:avLst/>
          </a:prstGeom>
          <a:noFill/>
        </p:spPr>
        <p:txBody>
          <a:bodyPr wrap="square" lIns="0" tIns="0" rIns="0" bIns="0" rtlCol="0" anchor="t">
            <a:noAutofit/>
          </a:bodyPr>
          <a:p>
            <a:pPr indent="0">
              <a:spcAft>
                <a:spcPts val="700"/>
              </a:spcAft>
              <a:buNone/>
            </a:pPr>
            <a:r>
              <a:rPr lang="vi-VN" sz="1200">
                <a:solidFill>
                  <a:srgbClr val="526673"/>
                </a:solidFill>
                <a:latin typeface="Segoe UI" panose="020B0502040204020203" charset="0"/>
                <a:cs typeface="Segoe UI" panose="020B0502040204020203" charset="0"/>
              </a:rPr>
              <a:t>Câu chuyện mở đầu là tình huống giả định. Không sử dụng số liệu tỷ lệ cheating chưa có nguồn</a:t>
            </a:r>
            <a:endParaRPr lang="vi-VN" sz="1200">
              <a:solidFill>
                <a:srgbClr val="526673"/>
              </a:solidFill>
              <a:latin typeface="Segoe UI" panose="020B0502040204020203" charset="0"/>
              <a:cs typeface="Segoe UI" panose="020B0502040204020203" charset="0"/>
            </a:endParaRPr>
          </a:p>
        </p:txBody>
      </p:sp>
      <p:sp>
        <p:nvSpPr>
          <p:cNvPr id="6" name="Text Box 5"/>
          <p:cNvSpPr txBox="1"/>
          <p:nvPr/>
        </p:nvSpPr>
        <p:spPr>
          <a:xfrm>
            <a:off x="584200" y="1917700"/>
            <a:ext cx="11023600" cy="276860"/>
          </a:xfrm>
          <a:prstGeom prst="rect">
            <a:avLst/>
          </a:prstGeom>
          <a:noFill/>
        </p:spPr>
        <p:txBody>
          <a:bodyPr wrap="square" lIns="0" tIns="0" rIns="0" bIns="0" rtlCol="0" anchor="t">
            <a:noAutofit/>
          </a:bodyPr>
          <a:p>
            <a:pPr indent="0">
              <a:spcAft>
                <a:spcPts val="700"/>
              </a:spcAft>
              <a:buNone/>
            </a:pPr>
            <a:r>
              <a:rPr lang="vi-VN" sz="2300">
                <a:solidFill>
                  <a:srgbClr val="172F3C"/>
                </a:solidFill>
                <a:latin typeface="Segoe UI" panose="020B0502040204020203" charset="0"/>
                <a:cs typeface="Segoe UI" panose="020B0502040204020203" charset="0"/>
              </a:rPr>
              <a:t>Repo: FSB-MSA36HN/DDM501-face-voice-proctoring</a:t>
            </a:r>
            <a:endParaRPr lang="vi-VN" sz="2300">
              <a:solidFill>
                <a:srgbClr val="172F3C"/>
              </a:solidFill>
              <a:latin typeface="Segoe UI" panose="020B0502040204020203" charset="0"/>
              <a:cs typeface="Segoe UI" panose="020B0502040204020203" charset="0"/>
            </a:endParaRPr>
          </a:p>
        </p:txBody>
      </p:sp>
      <p:sp>
        <p:nvSpPr>
          <p:cNvPr id="7" name="Text Box 6"/>
          <p:cNvSpPr txBox="1"/>
          <p:nvPr/>
        </p:nvSpPr>
        <p:spPr>
          <a:xfrm>
            <a:off x="584200" y="2692400"/>
            <a:ext cx="11023600" cy="276860"/>
          </a:xfrm>
          <a:prstGeom prst="rect">
            <a:avLst/>
          </a:prstGeom>
          <a:noFill/>
        </p:spPr>
        <p:txBody>
          <a:bodyPr wrap="square" lIns="0" tIns="0" rIns="0" bIns="0" rtlCol="0" anchor="t">
            <a:noAutofit/>
          </a:bodyPr>
          <a:p>
            <a:pPr indent="0">
              <a:spcAft>
                <a:spcPts val="700"/>
              </a:spcAft>
              <a:buNone/>
            </a:pPr>
            <a:r>
              <a:rPr lang="vi-VN" sz="2300">
                <a:solidFill>
                  <a:srgbClr val="172F3C"/>
                </a:solidFill>
                <a:latin typeface="Segoe UI" panose="020B0502040204020203" charset="0"/>
                <a:cs typeface="Segoe UI" panose="020B0502040204020203" charset="0"/>
              </a:rPr>
              <a:t>README.md, ARCHITECTURE.md, CONTRIBUTING.md</a:t>
            </a:r>
            <a:endParaRPr lang="vi-VN" sz="2300">
              <a:solidFill>
                <a:srgbClr val="172F3C"/>
              </a:solidFill>
              <a:latin typeface="Segoe UI" panose="020B0502040204020203" charset="0"/>
              <a:cs typeface="Segoe UI" panose="020B0502040204020203" charset="0"/>
            </a:endParaRPr>
          </a:p>
        </p:txBody>
      </p:sp>
      <p:sp>
        <p:nvSpPr>
          <p:cNvPr id="8" name="Text Box 7"/>
          <p:cNvSpPr txBox="1"/>
          <p:nvPr/>
        </p:nvSpPr>
        <p:spPr>
          <a:xfrm>
            <a:off x="584200" y="3467100"/>
            <a:ext cx="11023600" cy="276860"/>
          </a:xfrm>
          <a:prstGeom prst="rect">
            <a:avLst/>
          </a:prstGeom>
          <a:noFill/>
        </p:spPr>
        <p:txBody>
          <a:bodyPr wrap="square" lIns="0" tIns="0" rIns="0" bIns="0" rtlCol="0" anchor="t">
            <a:noAutofit/>
          </a:bodyPr>
          <a:p>
            <a:pPr indent="0">
              <a:spcAft>
                <a:spcPts val="700"/>
              </a:spcAft>
              <a:buNone/>
            </a:pPr>
            <a:r>
              <a:rPr lang="vi-VN" sz="2300">
                <a:solidFill>
                  <a:srgbClr val="172F3C"/>
                </a:solidFill>
                <a:latin typeface="Segoe UI" panose="020B0502040204020203" charset="0"/>
                <a:cs typeface="Segoe UI" panose="020B0502040204020203" charset="0"/>
              </a:rPr>
              <a:t>docs/MODALITY_LIFECYCLE.md và docs/SIMULATION.md</a:t>
            </a:r>
            <a:endParaRPr lang="vi-VN" sz="2300">
              <a:solidFill>
                <a:srgbClr val="172F3C"/>
              </a:solidFill>
              <a:latin typeface="Segoe UI" panose="020B0502040204020203" charset="0"/>
              <a:cs typeface="Segoe UI" panose="020B0502040204020203" charset="0"/>
            </a:endParaRPr>
          </a:p>
        </p:txBody>
      </p:sp>
      <p:sp>
        <p:nvSpPr>
          <p:cNvPr id="9" name="Text Box 8"/>
          <p:cNvSpPr txBox="1"/>
          <p:nvPr/>
        </p:nvSpPr>
        <p:spPr>
          <a:xfrm>
            <a:off x="584200" y="4241800"/>
            <a:ext cx="11023600" cy="276860"/>
          </a:xfrm>
          <a:prstGeom prst="rect">
            <a:avLst/>
          </a:prstGeom>
          <a:noFill/>
        </p:spPr>
        <p:txBody>
          <a:bodyPr wrap="square" lIns="0" tIns="0" rIns="0" bIns="0" rtlCol="0" anchor="t">
            <a:noAutofit/>
          </a:bodyPr>
          <a:p>
            <a:pPr indent="0">
              <a:spcAft>
                <a:spcPts val="700"/>
              </a:spcAft>
              <a:buNone/>
            </a:pPr>
            <a:r>
              <a:rPr lang="vi-VN" sz="2300">
                <a:solidFill>
                  <a:srgbClr val="172F3C"/>
                </a:solidFill>
                <a:latin typeface="Segoe UI" panose="020B0502040204020203" charset="0"/>
                <a:cs typeface="Segoe UI" panose="020B0502040204020203" charset="0"/>
              </a:rPr>
              <a:t>VERIFICATION.md: mốc kiểm chứng local ngày 03/10/2026</a:t>
            </a:r>
            <a:endParaRPr lang="vi-VN" sz="2300">
              <a:solidFill>
                <a:srgbClr val="172F3C"/>
              </a:solidFill>
              <a:latin typeface="Segoe UI" panose="020B0502040204020203" charset="0"/>
              <a:cs typeface="Segoe UI" panose="020B0502040204020203" charset="0"/>
            </a:endParaRPr>
          </a:p>
        </p:txBody>
      </p:sp>
      <p:sp>
        <p:nvSpPr>
          <p:cNvPr id="10" name="Text Box 9"/>
          <p:cNvSpPr txBox="1"/>
          <p:nvPr/>
        </p:nvSpPr>
        <p:spPr>
          <a:xfrm>
            <a:off x="584200" y="5016500"/>
            <a:ext cx="11023600" cy="276860"/>
          </a:xfrm>
          <a:prstGeom prst="rect">
            <a:avLst/>
          </a:prstGeom>
          <a:noFill/>
        </p:spPr>
        <p:txBody>
          <a:bodyPr wrap="square" lIns="0" tIns="0" rIns="0" bIns="0" rtlCol="0" anchor="t">
            <a:noAutofit/>
          </a:bodyPr>
          <a:p>
            <a:pPr indent="0">
              <a:spcAft>
                <a:spcPts val="700"/>
              </a:spcAft>
              <a:buNone/>
            </a:pPr>
            <a:r>
              <a:rPr lang="vi-VN" sz="2300">
                <a:solidFill>
                  <a:srgbClr val="172F3C"/>
                </a:solidFill>
                <a:latin typeface="Segoe UI" panose="020B0502040204020203" charset="0"/>
                <a:cs typeface="Segoe UI" panose="020B0502040204020203" charset="0"/>
              </a:rPr>
              <a:t>Source cụ thể và lời thoại nằm trong Notes của từng slide</a:t>
            </a:r>
            <a:endParaRPr lang="vi-VN" sz="2300">
              <a:solidFill>
                <a:srgbClr val="172F3C"/>
              </a:solidFill>
              <a:latin typeface="Segoe UI" panose="020B0502040204020203" charset="0"/>
              <a:cs typeface="Segoe UI" panose="020B0502040204020203" charset="0"/>
            </a:endParaRPr>
          </a:p>
        </p:txBody>
      </p:sp>
    </p:spTree>
  </p:cSld>
  <p:clrMapOvr>
    <a:masterClrMapping/>
  </p:clrMapOvr>
  <p:transition/>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2.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10923</Words>
  <Application>WPS Presentation</Application>
  <PresentationFormat>Widescreen</PresentationFormat>
  <Paragraphs>816</Paragraphs>
  <Slides>33</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33</vt:i4>
      </vt:variant>
    </vt:vector>
  </HeadingPairs>
  <TitlesOfParts>
    <vt:vector size="39" baseType="lpstr">
      <vt:lpstr>Arial</vt:lpstr>
      <vt:lpstr>SimSun</vt:lpstr>
      <vt:lpstr>Wingdings</vt:lpstr>
      <vt:lpstr>Wingdings</vt:lpstr>
      <vt:lpstr>Segoe UI</vt:lpstr>
      <vt:lpstr>WPS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Blank Presentation</dc:title>
  <dc:creator>tdd23</dc:creator>
  <cp:lastModifiedBy>tdd23</cp:lastModifiedBy>
  <cp:revision>1</cp:revision>
  <dcterms:created xsi:type="dcterms:W3CDTF">2026-10-03T11:18:36Z</dcterms:created>
  <dcterms:modified xsi:type="dcterms:W3CDTF">2026-10-03T11:18:36Z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6CAD6F27E87F49A7BD33CE836F1397A1_11</vt:lpwstr>
  </property>
</Properties>
</file>